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0" y="457200"/>
            <a:ext cx="31623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125" b="0" i="0">
                <a:solidFill>
                  <a:srgbClr val="9FC2CE"/>
                </a:solidFill>
                <a:latin typeface="Arial"/>
              </a:rPr>
              <a:t>Prepared for the President
of the Republic of Azerbaijan
Baku,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002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FD0DF"/>
                </a:solidFill>
                <a:latin typeface="Arial"/>
              </a:rPr>
              <a:t>ARTIFICIAL INTELLIGENCE IN GOVERNMENT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62200"/>
            <a:ext cx="85725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Arial"/>
              </a:rPr>
              <a:t>AI in the service of </a:t>
            </a:r>
            <a:r>
              <a:rPr sz="4200" b="1" i="0">
                <a:solidFill>
                  <a:srgbClr val="BFE6F0"/>
                </a:solidFill>
                <a:latin typeface="Arial"/>
              </a:rPr>
              <a:t>government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543300"/>
            <a:ext cx="38100" cy="590550"/>
          </a:xfrm>
          <a:prstGeom prst="rect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6300" y="3562350"/>
            <a:ext cx="6667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D3E5EC"/>
                </a:solidFill>
                <a:latin typeface="Arial"/>
              </a:rPr>
              <a:t>Where AI creates value for the Administration today, how to protect official information, and how to build a fully secure national capability for Azerbaijan.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rgbClr val="0C4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096000"/>
            <a:ext cx="381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8FD0DF"/>
                </a:solidFill>
                <a:latin typeface="Arial"/>
              </a:rPr>
              <a:t>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6134100"/>
            <a:ext cx="3143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75" b="1" i="0">
                <a:solidFill>
                  <a:srgbClr val="FFFFFF"/>
                </a:solidFill>
                <a:latin typeface="Arial"/>
              </a:rPr>
              <a:t>Use it safely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0550" y="6096000"/>
            <a:ext cx="381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8FD0DF"/>
                </a:solidFill>
                <a:latin typeface="Arial"/>
              </a:rPr>
              <a:t>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1550" y="6134100"/>
            <a:ext cx="3143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75" b="1" i="0">
                <a:solidFill>
                  <a:srgbClr val="FFFFFF"/>
                </a:solidFill>
                <a:latin typeface="Arial"/>
              </a:rPr>
              <a:t>Match data to the right environment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5300" y="6096000"/>
            <a:ext cx="381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8FD0DF"/>
                </a:solidFill>
                <a:latin typeface="Arial"/>
              </a:rPr>
              <a:t>III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96300" y="6134100"/>
            <a:ext cx="3143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75" b="1" i="0">
                <a:solidFill>
                  <a:srgbClr val="FFFFFF"/>
                </a:solidFill>
                <a:latin typeface="Arial"/>
              </a:rPr>
              <a:t>Build the sovereign capability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3850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A67C3D"/>
                </a:solidFill>
                <a:latin typeface="Arial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3400"/>
            <a:ext cx="8572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 i="0">
                <a:solidFill>
                  <a:srgbClr val="152530"/>
                </a:solidFill>
                <a:latin typeface="Arial"/>
              </a:rPr>
              <a:t>Seven questions, answered in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52500"/>
            <a:ext cx="514350" cy="28575"/>
          </a:xfrm>
          <a:prstGeom prst="rect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57300"/>
            <a:ext cx="11277600" cy="9525"/>
          </a:xfrm>
          <a:prstGeom prst="rect">
            <a:avLst/>
          </a:prstGeom>
          <a:solidFill>
            <a:srgbClr val="E0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6850"/>
            <a:ext cx="476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A67C3D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1466850"/>
            <a:ext cx="323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2530"/>
                </a:solidFill>
                <a:latin typeface="Arial"/>
              </a:rPr>
              <a:t>Understanding AI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1500" y="1485900"/>
            <a:ext cx="666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What it does well, and where judgment stays human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24050"/>
            <a:ext cx="11277600" cy="9525"/>
          </a:xfrm>
          <a:prstGeom prst="rect">
            <a:avLst/>
          </a:prstGeom>
          <a:solidFill>
            <a:srgbClr val="E0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133600"/>
            <a:ext cx="476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A67C3D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2133600"/>
            <a:ext cx="323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2530"/>
                </a:solidFill>
                <a:latin typeface="Arial"/>
              </a:rPr>
              <a:t>Three ways to use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2152650"/>
            <a:ext cx="666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Personal, enterprise, and fully secure on premise compared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90800"/>
            <a:ext cx="11277600" cy="9525"/>
          </a:xfrm>
          <a:prstGeom prst="rect">
            <a:avLst/>
          </a:prstGeom>
          <a:solidFill>
            <a:srgbClr val="E0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800350"/>
            <a:ext cx="476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A67C3D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600" y="2800350"/>
            <a:ext cx="323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2530"/>
                </a:solidFill>
                <a:latin typeface="Arial"/>
              </a:rPr>
              <a:t>Matching data to the environment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1500" y="2819400"/>
            <a:ext cx="666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Azerbaijani government data against the two governed options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57550"/>
            <a:ext cx="11277600" cy="9525"/>
          </a:xfrm>
          <a:prstGeom prst="rect">
            <a:avLst/>
          </a:prstGeom>
          <a:solidFill>
            <a:srgbClr val="E0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467100"/>
            <a:ext cx="476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A67C3D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" y="3467100"/>
            <a:ext cx="323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2530"/>
                </a:solidFill>
                <a:latin typeface="Arial"/>
              </a:rPr>
              <a:t>Deep dive: enterprise account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1500" y="3486150"/>
            <a:ext cx="666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Common use cases, example prompts, and proven impact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24300"/>
            <a:ext cx="11277600" cy="9525"/>
          </a:xfrm>
          <a:prstGeom prst="rect">
            <a:avLst/>
          </a:prstGeom>
          <a:solidFill>
            <a:srgbClr val="E0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133850"/>
            <a:ext cx="476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A67C3D"/>
                </a:solidFill>
                <a:latin typeface="Arial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0600" y="4133850"/>
            <a:ext cx="323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2530"/>
                </a:solidFill>
                <a:latin typeface="Arial"/>
              </a:rPr>
              <a:t>Deep dive: fully secure environment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1500" y="4152900"/>
            <a:ext cx="666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What it unlocks, with case studies from around the world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591050"/>
            <a:ext cx="11277600" cy="9525"/>
          </a:xfrm>
          <a:prstGeom prst="rect">
            <a:avLst/>
          </a:prstGeom>
          <a:solidFill>
            <a:srgbClr val="E0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800600"/>
            <a:ext cx="476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A67C3D"/>
                </a:solidFill>
                <a:latin typeface="Arial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600" y="4800600"/>
            <a:ext cx="323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2530"/>
                </a:solidFill>
                <a:latin typeface="Arial"/>
              </a:rPr>
              <a:t>Building the sovereign capability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500" y="4819650"/>
            <a:ext cx="666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The stack and the enablers a secure environment requires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57800"/>
            <a:ext cx="11277600" cy="9525"/>
          </a:xfrm>
          <a:prstGeom prst="rect">
            <a:avLst/>
          </a:prstGeom>
          <a:solidFill>
            <a:srgbClr val="E0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467350"/>
            <a:ext cx="476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A67C3D"/>
                </a:solidFill>
                <a:latin typeface="Arial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0600" y="5467350"/>
            <a:ext cx="323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2530"/>
                </a:solidFill>
                <a:latin typeface="Arial"/>
              </a:rPr>
              <a:t>Where to start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1500" y="5486400"/>
            <a:ext cx="666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A sequenced path from first use to full sovereignty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924550"/>
            <a:ext cx="11277600" cy="9525"/>
          </a:xfrm>
          <a:prstGeom prst="rect">
            <a:avLst/>
          </a:prstGeom>
          <a:solidFill>
            <a:srgbClr val="E0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6324600"/>
            <a:ext cx="11277600" cy="9525"/>
          </a:xfrm>
          <a:prstGeom prst="rect">
            <a:avLst/>
          </a:prstGeom>
          <a:solidFill>
            <a:srgbClr val="E0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400800"/>
            <a:ext cx="857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88892"/>
                </a:solidFill>
                <a:latin typeface="Arial"/>
              </a:rPr>
              <a:t>Sources OECD 2026, UK GDS 2025, deployment case studies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25000" y="6400800"/>
            <a:ext cx="2209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788892"/>
                </a:solidFill>
                <a:latin typeface="Arial"/>
              </a:rPr>
              <a:t>Prepared for the President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385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A67C3D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23850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93F52"/>
                </a:solidFill>
                <a:latin typeface="Arial"/>
              </a:rPr>
              <a:t>UNDERSTANDING AI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3400"/>
            <a:ext cx="8572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 i="0">
                <a:solidFill>
                  <a:srgbClr val="152530"/>
                </a:solidFill>
                <a:latin typeface="Arial"/>
              </a:rPr>
              <a:t>A capable assistant for drafting, analysis and visuals, not a decision maker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52500"/>
            <a:ext cx="514350" cy="28575"/>
          </a:xfrm>
          <a:prstGeom prst="rect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143000"/>
            <a:ext cx="5410200" cy="4038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5410200" cy="38100"/>
          </a:xfrm>
          <a:prstGeom prst="rect">
            <a:avLst/>
          </a:prstGeom>
          <a:solidFill>
            <a:srgbClr val="2F7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725" y="1181100"/>
            <a:ext cx="5391150" cy="495300"/>
          </a:xfrm>
          <a:prstGeom prst="rect">
            <a:avLst/>
          </a:prstGeom>
          <a:solidFill>
            <a:srgbClr val="E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750" y="1276350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52530"/>
                </a:solidFill>
                <a:latin typeface="Arial"/>
              </a:rPr>
              <a:t>Where it is strong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" y="1485900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788892"/>
                </a:solidFill>
                <a:latin typeface="Arial"/>
              </a:rPr>
              <a:t>Drafting, analysis, visuals, coordination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" y="179070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52530"/>
                </a:solidFill>
                <a:latin typeface="Arial"/>
              </a:rPr>
              <a:t>Draft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76450" y="1800225"/>
            <a:ext cx="3619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Speeches, congratulatory letters, press statements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6750" y="2228850"/>
            <a:ext cx="4991100" cy="9525"/>
          </a:xfrm>
          <a:prstGeom prst="rect">
            <a:avLst/>
          </a:prstGeom>
          <a:solidFill>
            <a:srgbClr val="E0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6750" y="234315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52530"/>
                </a:solidFill>
                <a:latin typeface="Arial"/>
              </a:rPr>
              <a:t>Summarize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76450" y="2352675"/>
            <a:ext cx="3619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A 50 page ministry report into one page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6750" y="2781300"/>
            <a:ext cx="4991100" cy="9525"/>
          </a:xfrm>
          <a:prstGeom prst="rect">
            <a:avLst/>
          </a:prstGeom>
          <a:solidFill>
            <a:srgbClr val="E0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6750" y="289560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52530"/>
                </a:solidFill>
                <a:latin typeface="Arial"/>
              </a:rPr>
              <a:t>Translate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76450" y="2905125"/>
            <a:ext cx="3619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Azerbaijani, English, Russian, Turkish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6750" y="3333750"/>
            <a:ext cx="4991100" cy="9525"/>
          </a:xfrm>
          <a:prstGeom prst="rect">
            <a:avLst/>
          </a:prstGeom>
          <a:solidFill>
            <a:srgbClr val="E0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6750" y="344805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52530"/>
                </a:solidFill>
                <a:latin typeface="Arial"/>
              </a:rPr>
              <a:t>Analyze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76450" y="3457575"/>
            <a:ext cx="3619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Trends and figures across ministry 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6750" y="3886200"/>
            <a:ext cx="4991100" cy="9525"/>
          </a:xfrm>
          <a:prstGeom prst="rect">
            <a:avLst/>
          </a:prstGeom>
          <a:solidFill>
            <a:srgbClr val="E0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6750" y="400050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52530"/>
                </a:solidFill>
                <a:latin typeface="Arial"/>
              </a:rPr>
              <a:t>Visualize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76450" y="4010025"/>
            <a:ext cx="3619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Charts, dashboards, one page reports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6750" y="4438650"/>
            <a:ext cx="4991100" cy="9525"/>
          </a:xfrm>
          <a:prstGeom prst="rect">
            <a:avLst/>
          </a:prstGeom>
          <a:solidFill>
            <a:srgbClr val="E0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6750" y="455295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52530"/>
                </a:solidFill>
                <a:latin typeface="Arial"/>
              </a:rPr>
              <a:t>Assist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76450" y="4562475"/>
            <a:ext cx="3619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Agendas, directives, briefing packs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6750" y="4991100"/>
            <a:ext cx="4991100" cy="9525"/>
          </a:xfrm>
          <a:prstGeom prst="rect">
            <a:avLst/>
          </a:prstGeom>
          <a:solidFill>
            <a:srgbClr val="E0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24600" y="1143000"/>
            <a:ext cx="5410200" cy="4038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24600" y="1143000"/>
            <a:ext cx="5410200" cy="38100"/>
          </a:xfrm>
          <a:prstGeom prst="rect">
            <a:avLst/>
          </a:prstGeom>
          <a:solidFill>
            <a:srgbClr val="9C4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34125" y="1181100"/>
            <a:ext cx="5391150" cy="495300"/>
          </a:xfrm>
          <a:prstGeom prst="rect">
            <a:avLst/>
          </a:prstGeom>
          <a:solidFill>
            <a:srgbClr val="F4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4150" y="1276350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52530"/>
                </a:solidFill>
                <a:latin typeface="Arial"/>
              </a:rPr>
              <a:t>Where judgment stays human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4150" y="1485900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788892"/>
                </a:solidFill>
                <a:latin typeface="Arial"/>
              </a:rPr>
              <a:t>It assists, it does not decide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4150" y="179070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52530"/>
                </a:solidFill>
                <a:latin typeface="Arial"/>
              </a:rPr>
              <a:t>Truth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43850" y="1800225"/>
            <a:ext cx="3619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Confident, and sometimes simply wrong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34150" y="2228850"/>
            <a:ext cx="4991100" cy="9525"/>
          </a:xfrm>
          <a:prstGeom prst="rect">
            <a:avLst/>
          </a:prstGeom>
          <a:solidFill>
            <a:srgbClr val="E0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4150" y="234315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52530"/>
                </a:solidFill>
                <a:latin typeface="Arial"/>
              </a:rPr>
              <a:t>Accountability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43850" y="2352675"/>
            <a:ext cx="3619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Holds no authority, carries no responsibility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34150" y="2781300"/>
            <a:ext cx="4991100" cy="9525"/>
          </a:xfrm>
          <a:prstGeom prst="rect">
            <a:avLst/>
          </a:prstGeom>
          <a:solidFill>
            <a:srgbClr val="E0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4150" y="289560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52530"/>
                </a:solidFill>
                <a:latin typeface="Arial"/>
              </a:rPr>
              <a:t>Verification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43850" y="2905125"/>
            <a:ext cx="3619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Every output checked against a trusted source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34150" y="3333750"/>
            <a:ext cx="4991100" cy="9525"/>
          </a:xfrm>
          <a:prstGeom prst="rect">
            <a:avLst/>
          </a:prstGeom>
          <a:solidFill>
            <a:srgbClr val="E0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4150" y="344805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52530"/>
                </a:solidFill>
                <a:latin typeface="Arial"/>
              </a:rPr>
              <a:t>Sensitivity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43850" y="3457575"/>
            <a:ext cx="3619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Weak on policy nuance and hard cases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34150" y="3886200"/>
            <a:ext cx="4991100" cy="9525"/>
          </a:xfrm>
          <a:prstGeom prst="rect">
            <a:avLst/>
          </a:prstGeom>
          <a:solidFill>
            <a:srgbClr val="E0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4150" y="400050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52530"/>
                </a:solidFill>
                <a:latin typeface="Arial"/>
              </a:rPr>
              <a:t>Disclosure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43850" y="4010025"/>
            <a:ext cx="3619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Flag where AI shaped a public output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34150" y="4438650"/>
            <a:ext cx="4991100" cy="9525"/>
          </a:xfrm>
          <a:prstGeom prst="rect">
            <a:avLst/>
          </a:prstGeom>
          <a:solidFill>
            <a:srgbClr val="E0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4150" y="455295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52530"/>
                </a:solidFill>
                <a:latin typeface="Arial"/>
              </a:rPr>
              <a:t>Decision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43850" y="4562475"/>
            <a:ext cx="3619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Leadership signs the decision, not the model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34150" y="4991100"/>
            <a:ext cx="4991100" cy="9525"/>
          </a:xfrm>
          <a:prstGeom prst="rect">
            <a:avLst/>
          </a:prstGeom>
          <a:solidFill>
            <a:srgbClr val="E0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57200" y="5334000"/>
            <a:ext cx="11277600" cy="438150"/>
          </a:xfrm>
          <a:prstGeom prst="roundRect">
            <a:avLst>
              <a:gd name="adj" fmla="val 6000"/>
            </a:avLst>
          </a:prstGeom>
          <a:solidFill>
            <a:srgbClr val="09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6750" y="54673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C79A55"/>
                </a:solidFill>
                <a:latin typeface="Arial"/>
              </a:rPr>
              <a:t>Rule of thumb. </a:t>
            </a:r>
            <a:r>
              <a:rPr sz="1275" b="0" i="0">
                <a:solidFill>
                  <a:srgbClr val="FFFFFF"/>
                </a:solidFill>
                <a:latin typeface="Arial"/>
              </a:rPr>
              <a:t>Let AI produce the first draft. People own the check, the decision, and the record.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6324600"/>
            <a:ext cx="11277600" cy="9525"/>
          </a:xfrm>
          <a:prstGeom prst="rect">
            <a:avLst/>
          </a:prstGeom>
          <a:solidFill>
            <a:srgbClr val="E0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57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88892"/>
                </a:solidFill>
                <a:latin typeface="Arial"/>
              </a:rPr>
              <a:t>Capture the speed of language work, protect the judgment, verification and accountability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25000" y="6400800"/>
            <a:ext cx="2209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788892"/>
                </a:solidFill>
                <a:latin typeface="Arial"/>
              </a:rPr>
              <a:t>Section 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385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A67C3D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23850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93F52"/>
                </a:solidFill>
                <a:latin typeface="Arial"/>
              </a:rPr>
              <a:t>THREE WAYS TO USE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3400"/>
            <a:ext cx="8572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 i="0">
                <a:solidFill>
                  <a:srgbClr val="152530"/>
                </a:solidFill>
                <a:latin typeface="Arial"/>
              </a:rPr>
              <a:t>The door you choose decides which data you may 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52500"/>
            <a:ext cx="514350" cy="28575"/>
          </a:xfrm>
          <a:prstGeom prst="rect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11277600" cy="419100"/>
          </a:xfrm>
          <a:prstGeom prst="rect">
            <a:avLst/>
          </a:prstGeom>
          <a:solidFill>
            <a:srgbClr val="09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2857500" cy="419100"/>
          </a:xfrm>
          <a:prstGeom prst="rect">
            <a:avLst/>
          </a:prstGeom>
          <a:solidFill>
            <a:srgbClr val="15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1276350"/>
            <a:ext cx="2628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7100" y="1276350"/>
            <a:ext cx="12001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Official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5850" y="1276350"/>
            <a:ext cx="15811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Trains on your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600" y="1276350"/>
            <a:ext cx="15811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Control &amp; 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15350" y="1276350"/>
            <a:ext cx="15811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Where data sits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25100" y="1276350"/>
            <a:ext cx="1333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Best used for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562100"/>
            <a:ext cx="11277600" cy="129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1562100"/>
            <a:ext cx="2857500" cy="1295400"/>
          </a:xfrm>
          <a:prstGeom prst="rect">
            <a:avLst/>
          </a:prstGeom>
          <a:solidFill>
            <a:srgbClr val="E9F1F4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700" y="1962150"/>
            <a:ext cx="2476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 i="0">
                <a:solidFill>
                  <a:srgbClr val="152530"/>
                </a:solidFill>
                <a:latin typeface="Arial"/>
              </a:rPr>
              <a:t>Personal account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" y="2209800"/>
            <a:ext cx="2476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88892"/>
                </a:solidFill>
                <a:latin typeface="Arial"/>
              </a:rPr>
              <a:t>Public tool, private login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7100" y="1962150"/>
            <a:ext cx="11811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9C4A3C"/>
                </a:solidFill>
                <a:latin typeface="Arial"/>
              </a:rPr>
              <a:t>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5850" y="1962150"/>
            <a:ext cx="15621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Possibly, to train the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5600" y="1962150"/>
            <a:ext cx="15621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None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15350" y="1962150"/>
            <a:ext cx="15621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Public cloud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050" b="0" i="0">
                <a:solidFill>
                  <a:srgbClr val="788892"/>
                </a:solidFill>
                <a:latin typeface="Arial"/>
              </a:rPr>
              <a:t>Outside national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25100" y="1962150"/>
            <a:ext cx="1314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Public information only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050" b="0" i="0">
                <a:solidFill>
                  <a:srgbClr val="788892"/>
                </a:solidFill>
                <a:latin typeface="Arial"/>
              </a:rPr>
              <a:t>General reference, no official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857500"/>
            <a:ext cx="11277600" cy="129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857500"/>
            <a:ext cx="2857500" cy="1295400"/>
          </a:xfrm>
          <a:prstGeom prst="rect">
            <a:avLst/>
          </a:prstGeom>
          <a:solidFill>
            <a:srgbClr val="E9F1F4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700" y="3257550"/>
            <a:ext cx="2476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 i="0">
                <a:solidFill>
                  <a:srgbClr val="152530"/>
                </a:solidFill>
                <a:latin typeface="Arial"/>
              </a:rPr>
              <a:t>Enterprise account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700" y="3505200"/>
            <a:ext cx="2476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88892"/>
                </a:solidFill>
                <a:latin typeface="Arial"/>
              </a:rPr>
              <a:t>Contracted, administered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67100" y="3257550"/>
            <a:ext cx="11811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9A7326"/>
                </a:solidFill>
                <a:latin typeface="Arial"/>
              </a:rPr>
              <a:t>With controls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5850" y="3257550"/>
            <a:ext cx="15621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05600" y="3257550"/>
            <a:ext cx="15621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Central, full audit trail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15350" y="3257550"/>
            <a:ext cx="15621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Vendor cloud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050" b="0" i="0">
                <a:solidFill>
                  <a:srgbClr val="788892"/>
                </a:solidFill>
                <a:latin typeface="Arial"/>
              </a:rPr>
              <a:t>Under contract terms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25100" y="3257550"/>
            <a:ext cx="1314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Public and internal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050" b="0" i="0">
                <a:solidFill>
                  <a:srgbClr val="788892"/>
                </a:solidFill>
                <a:latin typeface="Arial"/>
              </a:rPr>
              <a:t>Speeches, strategies, open data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152900"/>
            <a:ext cx="11277600" cy="129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4152900"/>
            <a:ext cx="2857500" cy="1295400"/>
          </a:xfrm>
          <a:prstGeom prst="rect">
            <a:avLst/>
          </a:prstGeom>
          <a:solidFill>
            <a:srgbClr val="E9F1F4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7700" y="4552950"/>
            <a:ext cx="2476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 i="0">
                <a:solidFill>
                  <a:srgbClr val="152530"/>
                </a:solidFill>
                <a:latin typeface="Arial"/>
              </a:rPr>
              <a:t>Fully secure, on premise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700" y="4800600"/>
            <a:ext cx="2476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88892"/>
                </a:solidFill>
                <a:latin typeface="Arial"/>
              </a:rPr>
              <a:t>Closed state platform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67100" y="4552950"/>
            <a:ext cx="11811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F7A5B"/>
                </a:solidFill>
                <a:latin typeface="Arial"/>
              </a:rPr>
              <a:t>Yes, fully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95850" y="4552950"/>
            <a:ext cx="15621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No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05600" y="4552950"/>
            <a:ext cx="15621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State owned, accredited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15350" y="4552950"/>
            <a:ext cx="15621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State premises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050" b="0" i="0">
                <a:solidFill>
                  <a:srgbClr val="788892"/>
                </a:solidFill>
                <a:latin typeface="Arial"/>
              </a:rPr>
              <a:t>Never leaves Azerbaijan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25100" y="4552950"/>
            <a:ext cx="1314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Sensitive and restricted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050" b="0" i="0">
                <a:solidFill>
                  <a:srgbClr val="788892"/>
                </a:solidFill>
                <a:latin typeface="Arial"/>
              </a:rPr>
              <a:t>Citizen appeals, cabinet briefings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543550"/>
            <a:ext cx="11277600" cy="514350"/>
          </a:xfrm>
          <a:prstGeom prst="roundRect">
            <a:avLst>
              <a:gd name="adj" fmla="val 6000"/>
            </a:avLst>
          </a:prstGeom>
          <a:solidFill>
            <a:srgbClr val="09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6750" y="5648325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79A55"/>
                </a:solidFill>
                <a:latin typeface="Arial"/>
              </a:rPr>
              <a:t>Where to begin. </a:t>
            </a:r>
            <a:r>
              <a:rPr sz="1200" b="0" i="0">
                <a:solidFill>
                  <a:srgbClr val="FFFFFF"/>
                </a:solidFill>
                <a:latin typeface="Arial"/>
              </a:rPr>
              <a:t>The enterprise account delivers most of the value now, at a fraction of the cost of a secure build. Start there, and plan the secure platform in parallel.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6324600"/>
            <a:ext cx="11277600" cy="9525"/>
          </a:xfrm>
          <a:prstGeom prst="rect">
            <a:avLst/>
          </a:prstGeom>
          <a:solidFill>
            <a:srgbClr val="E0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6400800"/>
            <a:ext cx="857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88892"/>
                </a:solidFill>
                <a:latin typeface="Arial"/>
              </a:rPr>
              <a:t>Adoption begins with a governed enterprise account, not a consumer chatbot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25000" y="6400800"/>
            <a:ext cx="2209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788892"/>
                </a:solidFill>
                <a:latin typeface="Arial"/>
              </a:rPr>
              <a:t>Section 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385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A67C3D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23850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93F52"/>
                </a:solidFill>
                <a:latin typeface="Arial"/>
              </a:rPr>
              <a:t>MATCHING DATA TO THE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3400"/>
            <a:ext cx="8572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 i="0">
                <a:solidFill>
                  <a:srgbClr val="152530"/>
                </a:solidFill>
                <a:latin typeface="Arial"/>
              </a:rPr>
              <a:t>Classification decides which environment fits each task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52500"/>
            <a:ext cx="514350" cy="28575"/>
          </a:xfrm>
          <a:prstGeom prst="rect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11277600" cy="419100"/>
          </a:xfrm>
          <a:prstGeom prst="rect">
            <a:avLst/>
          </a:prstGeom>
          <a:solidFill>
            <a:srgbClr val="09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3143250" cy="419100"/>
          </a:xfrm>
          <a:prstGeom prst="rect">
            <a:avLst/>
          </a:prstGeom>
          <a:solidFill>
            <a:srgbClr val="15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" y="1276350"/>
            <a:ext cx="285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Government data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1900" y="1219200"/>
            <a:ext cx="3619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Enterprise account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BCD8E1"/>
                </a:solidFill>
                <a:latin typeface="Arial"/>
              </a:rPr>
              <a:t>Vendor cloud, governed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9075" y="1219200"/>
            <a:ext cx="3619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Fully secure, on premise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BCD8E1"/>
                </a:solidFill>
                <a:latin typeface="Arial"/>
              </a:rPr>
              <a:t>Closed, national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62100"/>
            <a:ext cx="112776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562100"/>
            <a:ext cx="3143250" cy="990600"/>
          </a:xfrm>
          <a:prstGeom prst="rect">
            <a:avLst/>
          </a:prstGeom>
          <a:solidFill>
            <a:srgbClr val="E9F1F4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700" y="1695450"/>
            <a:ext cx="2762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 i="0">
                <a:solidFill>
                  <a:srgbClr val="152530"/>
                </a:solidFill>
                <a:latin typeface="Arial"/>
              </a:rPr>
              <a:t>Public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7700" y="1981200"/>
            <a:ext cx="1223010" cy="21907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C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425" y="2028825"/>
            <a:ext cx="105156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93F52"/>
                </a:solidFill>
                <a:latin typeface="Arial"/>
              </a:rPr>
              <a:t>State Statistics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27860" y="1981200"/>
            <a:ext cx="1157287" cy="21907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C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3585" y="2028825"/>
            <a:ext cx="9858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93F52"/>
                </a:solidFill>
                <a:latin typeface="Arial"/>
              </a:rPr>
              <a:t>Azerbaijan 2030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7700" y="2238375"/>
            <a:ext cx="1091565" cy="21907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C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3425" y="2286000"/>
            <a:ext cx="92011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93F52"/>
                </a:solidFill>
                <a:latin typeface="Arial"/>
              </a:rPr>
              <a:t>COP29 speeches</a:t>
            </a:r>
          </a:p>
        </p:txBody>
      </p:sp>
      <p:sp>
        <p:nvSpPr>
          <p:cNvPr id="22" name="Oval 21"/>
          <p:cNvSpPr/>
          <p:nvPr/>
        </p:nvSpPr>
        <p:spPr>
          <a:xfrm>
            <a:off x="3771900" y="1743075"/>
            <a:ext cx="76200" cy="76200"/>
          </a:xfrm>
          <a:prstGeom prst="ellipse">
            <a:avLst/>
          </a:prstGeom>
          <a:solidFill>
            <a:srgbClr val="2F7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05250" y="1695450"/>
            <a:ext cx="2857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7A5B"/>
                </a:solidFill>
                <a:latin typeface="Arial"/>
              </a:rPr>
              <a:t>Safe</a:t>
            </a:r>
          </a:p>
        </p:txBody>
      </p:sp>
      <p:sp>
        <p:nvSpPr>
          <p:cNvPr id="24" name="Oval 23"/>
          <p:cNvSpPr/>
          <p:nvPr/>
        </p:nvSpPr>
        <p:spPr>
          <a:xfrm>
            <a:off x="3771900" y="202406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76675" y="1981200"/>
            <a:ext cx="37052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Translate a COP29 address for the world</a:t>
            </a:r>
          </a:p>
        </p:txBody>
      </p:sp>
      <p:sp>
        <p:nvSpPr>
          <p:cNvPr id="26" name="Oval 25"/>
          <p:cNvSpPr/>
          <p:nvPr/>
        </p:nvSpPr>
        <p:spPr>
          <a:xfrm>
            <a:off x="3771900" y="223361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76675" y="2190750"/>
            <a:ext cx="37052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Compare Azerbaijan 2030 to OECD practice</a:t>
            </a:r>
          </a:p>
        </p:txBody>
      </p:sp>
      <p:sp>
        <p:nvSpPr>
          <p:cNvPr id="28" name="Oval 27"/>
          <p:cNvSpPr/>
          <p:nvPr/>
        </p:nvSpPr>
        <p:spPr>
          <a:xfrm>
            <a:off x="7839075" y="1743075"/>
            <a:ext cx="76200" cy="76200"/>
          </a:xfrm>
          <a:prstGeom prst="ellipse">
            <a:avLst/>
          </a:prstGeom>
          <a:solidFill>
            <a:srgbClr val="2F7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72425" y="1695450"/>
            <a:ext cx="2857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7A5B"/>
                </a:solidFill>
                <a:latin typeface="Arial"/>
              </a:rPr>
              <a:t>Safe</a:t>
            </a:r>
          </a:p>
        </p:txBody>
      </p:sp>
      <p:sp>
        <p:nvSpPr>
          <p:cNvPr id="30" name="Oval 29"/>
          <p:cNvSpPr/>
          <p:nvPr/>
        </p:nvSpPr>
        <p:spPr>
          <a:xfrm>
            <a:off x="7839075" y="202406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43850" y="1981200"/>
            <a:ext cx="37052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Available, rarely needed here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2552700"/>
            <a:ext cx="112776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2552700"/>
            <a:ext cx="3143250" cy="990600"/>
          </a:xfrm>
          <a:prstGeom prst="rect">
            <a:avLst/>
          </a:prstGeom>
          <a:solidFill>
            <a:srgbClr val="E9F1F4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700" y="2686050"/>
            <a:ext cx="2762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 i="0">
                <a:solidFill>
                  <a:srgbClr val="152530"/>
                </a:solidFill>
                <a:latin typeface="Arial"/>
              </a:rPr>
              <a:t>Internal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7700" y="2971800"/>
            <a:ext cx="1223010" cy="21907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C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3425" y="3019425"/>
            <a:ext cx="105156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93F52"/>
                </a:solidFill>
                <a:latin typeface="Arial"/>
              </a:rPr>
              <a:t>Ministry reports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27860" y="2971800"/>
            <a:ext cx="960120" cy="21907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C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13585" y="3019425"/>
            <a:ext cx="78867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93F52"/>
                </a:solidFill>
                <a:latin typeface="Arial"/>
              </a:rPr>
              <a:t>Draft policy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7700" y="3228975"/>
            <a:ext cx="1025842" cy="21907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C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3425" y="3276600"/>
            <a:ext cx="85439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93F52"/>
                </a:solidFill>
                <a:latin typeface="Arial"/>
              </a:rPr>
              <a:t>Process notes</a:t>
            </a:r>
          </a:p>
        </p:txBody>
      </p:sp>
      <p:sp>
        <p:nvSpPr>
          <p:cNvPr id="41" name="Oval 40"/>
          <p:cNvSpPr/>
          <p:nvPr/>
        </p:nvSpPr>
        <p:spPr>
          <a:xfrm>
            <a:off x="3771900" y="2733675"/>
            <a:ext cx="76200" cy="76200"/>
          </a:xfrm>
          <a:prstGeom prst="ellipse">
            <a:avLst/>
          </a:prstGeom>
          <a:solidFill>
            <a:srgbClr val="9A7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05250" y="2686050"/>
            <a:ext cx="2857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A7326"/>
                </a:solidFill>
                <a:latin typeface="Arial"/>
              </a:rPr>
              <a:t>With controls</a:t>
            </a:r>
          </a:p>
        </p:txBody>
      </p:sp>
      <p:sp>
        <p:nvSpPr>
          <p:cNvPr id="43" name="Oval 42"/>
          <p:cNvSpPr/>
          <p:nvPr/>
        </p:nvSpPr>
        <p:spPr>
          <a:xfrm>
            <a:off x="3771900" y="301466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76675" y="2971800"/>
            <a:ext cx="37052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Summarize ministry reports, draft policy</a:t>
            </a:r>
          </a:p>
        </p:txBody>
      </p:sp>
      <p:sp>
        <p:nvSpPr>
          <p:cNvPr id="45" name="Oval 44"/>
          <p:cNvSpPr/>
          <p:nvPr/>
        </p:nvSpPr>
        <p:spPr>
          <a:xfrm>
            <a:off x="3771900" y="322421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76675" y="3181350"/>
            <a:ext cx="37052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Design cross agency trackers</a:t>
            </a:r>
          </a:p>
        </p:txBody>
      </p:sp>
      <p:sp>
        <p:nvSpPr>
          <p:cNvPr id="47" name="Oval 46"/>
          <p:cNvSpPr/>
          <p:nvPr/>
        </p:nvSpPr>
        <p:spPr>
          <a:xfrm>
            <a:off x="7839075" y="2733675"/>
            <a:ext cx="76200" cy="76200"/>
          </a:xfrm>
          <a:prstGeom prst="ellipse">
            <a:avLst/>
          </a:prstGeom>
          <a:solidFill>
            <a:srgbClr val="2F7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72425" y="2686050"/>
            <a:ext cx="2857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7A5B"/>
                </a:solidFill>
                <a:latin typeface="Arial"/>
              </a:rPr>
              <a:t>Safe</a:t>
            </a:r>
          </a:p>
        </p:txBody>
      </p:sp>
      <p:sp>
        <p:nvSpPr>
          <p:cNvPr id="49" name="Oval 48"/>
          <p:cNvSpPr/>
          <p:nvPr/>
        </p:nvSpPr>
        <p:spPr>
          <a:xfrm>
            <a:off x="7839075" y="301466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43850" y="2971800"/>
            <a:ext cx="37052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The natural home, no external processing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3543300"/>
            <a:ext cx="112776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7200" y="3543300"/>
            <a:ext cx="3143250" cy="990600"/>
          </a:xfrm>
          <a:prstGeom prst="rect">
            <a:avLst/>
          </a:prstGeom>
          <a:solidFill>
            <a:srgbClr val="E9F1F4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7700" y="3676650"/>
            <a:ext cx="2762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 i="0">
                <a:solidFill>
                  <a:srgbClr val="152530"/>
                </a:solidFill>
                <a:latin typeface="Arial"/>
              </a:rPr>
              <a:t>Limited access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7700" y="3962400"/>
            <a:ext cx="1157287" cy="21907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C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3425" y="4010025"/>
            <a:ext cx="9858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93F52"/>
                </a:solidFill>
                <a:latin typeface="Arial"/>
              </a:rPr>
              <a:t>Citizen appeals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862137" y="3962400"/>
            <a:ext cx="1223010" cy="21907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C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947862" y="4010025"/>
            <a:ext cx="105156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93F52"/>
                </a:solidFill>
                <a:latin typeface="Arial"/>
              </a:rPr>
              <a:t>Personal records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7700" y="4219575"/>
            <a:ext cx="960120" cy="21907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C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3425" y="4267200"/>
            <a:ext cx="78867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93F52"/>
                </a:solidFill>
                <a:latin typeface="Arial"/>
              </a:rPr>
              <a:t>Draft orders</a:t>
            </a:r>
          </a:p>
        </p:txBody>
      </p:sp>
      <p:sp>
        <p:nvSpPr>
          <p:cNvPr id="60" name="Oval 59"/>
          <p:cNvSpPr/>
          <p:nvPr/>
        </p:nvSpPr>
        <p:spPr>
          <a:xfrm>
            <a:off x="3771900" y="3724275"/>
            <a:ext cx="76200" cy="76200"/>
          </a:xfrm>
          <a:prstGeom prst="ellipse">
            <a:avLst/>
          </a:prstGeom>
          <a:solidFill>
            <a:srgbClr val="9C4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905250" y="3676650"/>
            <a:ext cx="2857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C4A3C"/>
                </a:solidFill>
                <a:latin typeface="Arial"/>
              </a:rPr>
              <a:t>Not permitted</a:t>
            </a:r>
          </a:p>
        </p:txBody>
      </p:sp>
      <p:sp>
        <p:nvSpPr>
          <p:cNvPr id="62" name="Oval 61"/>
          <p:cNvSpPr/>
          <p:nvPr/>
        </p:nvSpPr>
        <p:spPr>
          <a:xfrm>
            <a:off x="3771900" y="400526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876675" y="3962400"/>
            <a:ext cx="37052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Personal data must stay in national control</a:t>
            </a:r>
          </a:p>
        </p:txBody>
      </p:sp>
      <p:sp>
        <p:nvSpPr>
          <p:cNvPr id="64" name="Oval 63"/>
          <p:cNvSpPr/>
          <p:nvPr/>
        </p:nvSpPr>
        <p:spPr>
          <a:xfrm>
            <a:off x="7839075" y="3724275"/>
            <a:ext cx="76200" cy="76200"/>
          </a:xfrm>
          <a:prstGeom prst="ellipse">
            <a:avLst/>
          </a:prstGeom>
          <a:solidFill>
            <a:srgbClr val="2F7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972425" y="3676650"/>
            <a:ext cx="2857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7A5B"/>
                </a:solidFill>
                <a:latin typeface="Arial"/>
              </a:rPr>
              <a:t>Safe</a:t>
            </a:r>
          </a:p>
        </p:txBody>
      </p:sp>
      <p:sp>
        <p:nvSpPr>
          <p:cNvPr id="66" name="Oval 65"/>
          <p:cNvSpPr/>
          <p:nvPr/>
        </p:nvSpPr>
        <p:spPr>
          <a:xfrm>
            <a:off x="7839075" y="400526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943850" y="3962400"/>
            <a:ext cx="37052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Summarize citizen appeals, route to ministries</a:t>
            </a:r>
          </a:p>
        </p:txBody>
      </p:sp>
      <p:sp>
        <p:nvSpPr>
          <p:cNvPr id="68" name="Oval 67"/>
          <p:cNvSpPr/>
          <p:nvPr/>
        </p:nvSpPr>
        <p:spPr>
          <a:xfrm>
            <a:off x="7839075" y="421481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943850" y="4171950"/>
            <a:ext cx="37052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Draft replies citing the relevant law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4533900"/>
            <a:ext cx="112776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57200" y="4533900"/>
            <a:ext cx="3143250" cy="990600"/>
          </a:xfrm>
          <a:prstGeom prst="rect">
            <a:avLst/>
          </a:prstGeom>
          <a:solidFill>
            <a:srgbClr val="E9F1F4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7700" y="4667250"/>
            <a:ext cx="2762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 i="0">
                <a:solidFill>
                  <a:srgbClr val="152530"/>
                </a:solidFill>
                <a:latin typeface="Arial"/>
              </a:rPr>
              <a:t>Restricted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47700" y="4953000"/>
            <a:ext cx="1485900" cy="21907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C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3425" y="5000625"/>
            <a:ext cx="13144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93F52"/>
                </a:solidFill>
                <a:latin typeface="Arial"/>
              </a:rPr>
              <a:t>Security assessments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47700" y="5210175"/>
            <a:ext cx="1748790" cy="21907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C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33425" y="5257800"/>
            <a:ext cx="157734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93F52"/>
                </a:solidFill>
                <a:latin typeface="Arial"/>
              </a:rPr>
              <a:t>Security Council minutes</a:t>
            </a:r>
          </a:p>
        </p:txBody>
      </p:sp>
      <p:sp>
        <p:nvSpPr>
          <p:cNvPr id="77" name="Oval 76"/>
          <p:cNvSpPr/>
          <p:nvPr/>
        </p:nvSpPr>
        <p:spPr>
          <a:xfrm>
            <a:off x="3771900" y="4714875"/>
            <a:ext cx="76200" cy="76200"/>
          </a:xfrm>
          <a:prstGeom prst="ellipse">
            <a:avLst/>
          </a:prstGeom>
          <a:solidFill>
            <a:srgbClr val="9C4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905250" y="4667250"/>
            <a:ext cx="2857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C4A3C"/>
                </a:solidFill>
                <a:latin typeface="Arial"/>
              </a:rPr>
              <a:t>Not permitted</a:t>
            </a:r>
          </a:p>
        </p:txBody>
      </p:sp>
      <p:sp>
        <p:nvSpPr>
          <p:cNvPr id="79" name="Oval 78"/>
          <p:cNvSpPr/>
          <p:nvPr/>
        </p:nvSpPr>
        <p:spPr>
          <a:xfrm>
            <a:off x="3771900" y="499586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876675" y="4953000"/>
            <a:ext cx="37052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Never outside an accredited environment</a:t>
            </a:r>
          </a:p>
        </p:txBody>
      </p:sp>
      <p:sp>
        <p:nvSpPr>
          <p:cNvPr id="81" name="Oval 80"/>
          <p:cNvSpPr/>
          <p:nvPr/>
        </p:nvSpPr>
        <p:spPr>
          <a:xfrm>
            <a:off x="7839075" y="4714875"/>
            <a:ext cx="76200" cy="76200"/>
          </a:xfrm>
          <a:prstGeom prst="ellipse">
            <a:avLst/>
          </a:prstGeom>
          <a:solidFill>
            <a:srgbClr val="2F7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972425" y="4667250"/>
            <a:ext cx="2857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7A5B"/>
                </a:solidFill>
                <a:latin typeface="Arial"/>
              </a:rPr>
              <a:t>Safe</a:t>
            </a:r>
          </a:p>
        </p:txBody>
      </p:sp>
      <p:sp>
        <p:nvSpPr>
          <p:cNvPr id="83" name="Oval 82"/>
          <p:cNvSpPr/>
          <p:nvPr/>
        </p:nvSpPr>
        <p:spPr>
          <a:xfrm>
            <a:off x="7839075" y="499586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943850" y="4953000"/>
            <a:ext cx="37052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Cross domain analysis for the Security Council</a:t>
            </a:r>
          </a:p>
        </p:txBody>
      </p:sp>
      <p:sp>
        <p:nvSpPr>
          <p:cNvPr id="85" name="Oval 84"/>
          <p:cNvSpPr/>
          <p:nvPr/>
        </p:nvSpPr>
        <p:spPr>
          <a:xfrm>
            <a:off x="7839075" y="520541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943850" y="5162550"/>
            <a:ext cx="37052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Leadership dashboards and briefing packs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57200" y="5600700"/>
            <a:ext cx="11277600" cy="514350"/>
          </a:xfrm>
          <a:prstGeom prst="roundRect">
            <a:avLst>
              <a:gd name="adj" fmla="val 6000"/>
            </a:avLst>
          </a:prstGeom>
          <a:solidFill>
            <a:srgbClr val="09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66750" y="57150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79A55"/>
                </a:solidFill>
                <a:latin typeface="Arial"/>
              </a:rPr>
              <a:t>Read it this way. </a:t>
            </a:r>
            <a:r>
              <a:rPr sz="1200" b="0" i="0">
                <a:solidFill>
                  <a:srgbClr val="FFFFFF"/>
                </a:solidFill>
                <a:latin typeface="Arial"/>
              </a:rPr>
              <a:t>Most everyday work is Public or Internal, so adoption can begin now. The sensitive tiers, where the largest gains sit, wait for the secure platform.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" y="6324600"/>
            <a:ext cx="11277600" cy="9525"/>
          </a:xfrm>
          <a:prstGeom prst="rect">
            <a:avLst/>
          </a:prstGeom>
          <a:solidFill>
            <a:srgbClr val="E0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57200" y="6400800"/>
            <a:ext cx="857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88892"/>
                </a:solidFill>
                <a:latin typeface="Arial"/>
              </a:rPr>
              <a:t>Where a task mixes tiers, the highest tier present governs the environment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525000" y="6400800"/>
            <a:ext cx="2209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788892"/>
                </a:solidFill>
                <a:latin typeface="Arial"/>
              </a:rPr>
              <a:t>Section 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385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A67C3D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23850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93F52"/>
                </a:solidFill>
                <a:latin typeface="Arial"/>
              </a:rPr>
              <a:t>DEEP DIVE, ENTERPRISE ACCOUNT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3400"/>
            <a:ext cx="8572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 i="0">
                <a:solidFill>
                  <a:srgbClr val="152530"/>
                </a:solidFill>
                <a:latin typeface="Arial"/>
              </a:rPr>
              <a:t>Public and internal work: use cases, each with a 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52500"/>
            <a:ext cx="514350" cy="28575"/>
          </a:xfrm>
          <a:prstGeom prst="rect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162050"/>
            <a:ext cx="5524500" cy="2095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62050"/>
            <a:ext cx="5524500" cy="28575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650" y="1295400"/>
            <a:ext cx="5143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52530"/>
                </a:solidFill>
                <a:latin typeface="Arial"/>
              </a:rPr>
              <a:t>Draft &amp; translate</a:t>
            </a:r>
          </a:p>
        </p:txBody>
      </p:sp>
      <p:sp>
        <p:nvSpPr>
          <p:cNvPr id="11" name="Oval 10"/>
          <p:cNvSpPr/>
          <p:nvPr/>
        </p:nvSpPr>
        <p:spPr>
          <a:xfrm>
            <a:off x="628650" y="162401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425" y="1581150"/>
            <a:ext cx="5038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Speeches, remarks and toasts</a:t>
            </a:r>
          </a:p>
        </p:txBody>
      </p:sp>
      <p:sp>
        <p:nvSpPr>
          <p:cNvPr id="13" name="Oval 12"/>
          <p:cNvSpPr/>
          <p:nvPr/>
        </p:nvSpPr>
        <p:spPr>
          <a:xfrm>
            <a:off x="628650" y="179546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3425" y="1752600"/>
            <a:ext cx="5038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Congratulatory and condolence letters</a:t>
            </a:r>
          </a:p>
        </p:txBody>
      </p:sp>
      <p:sp>
        <p:nvSpPr>
          <p:cNvPr id="15" name="Oval 14"/>
          <p:cNvSpPr/>
          <p:nvPr/>
        </p:nvSpPr>
        <p:spPr>
          <a:xfrm>
            <a:off x="628650" y="196691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3425" y="1924050"/>
            <a:ext cx="5038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Press statements and talking points</a:t>
            </a:r>
          </a:p>
        </p:txBody>
      </p:sp>
      <p:sp>
        <p:nvSpPr>
          <p:cNvPr id="17" name="Oval 16"/>
          <p:cNvSpPr/>
          <p:nvPr/>
        </p:nvSpPr>
        <p:spPr>
          <a:xfrm>
            <a:off x="628650" y="213836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3425" y="2095500"/>
            <a:ext cx="5038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Translate to English, Russian, Turkish</a:t>
            </a:r>
          </a:p>
        </p:txBody>
      </p:sp>
      <p:sp>
        <p:nvSpPr>
          <p:cNvPr id="19" name="Oval 18"/>
          <p:cNvSpPr/>
          <p:nvPr/>
        </p:nvSpPr>
        <p:spPr>
          <a:xfrm>
            <a:off x="628650" y="230981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3425" y="2266950"/>
            <a:ext cx="5038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Polish tone and register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0550" y="2495550"/>
            <a:ext cx="5257800" cy="666750"/>
          </a:xfrm>
          <a:prstGeom prst="roundRect">
            <a:avLst>
              <a:gd name="adj" fmla="val 6000"/>
            </a:avLst>
          </a:prstGeom>
          <a:solidFill>
            <a:srgbClr val="E9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850" y="2581275"/>
            <a:ext cx="50482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93F52"/>
                </a:solidFill>
                <a:latin typeface="Arial"/>
              </a:rPr>
              <a:t>EXAMPLE PROMPT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850" y="2752725"/>
            <a:ext cx="5029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1">
                <a:solidFill>
                  <a:srgbClr val="41535D"/>
                </a:solidFill>
                <a:latin typeface="Arial"/>
              </a:rPr>
              <a:t>Translate this cleared statement into formal English. Keep official titles exact.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300" y="1162050"/>
            <a:ext cx="5524500" cy="2095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300" y="1162050"/>
            <a:ext cx="5524500" cy="28575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1750" y="1295400"/>
            <a:ext cx="5143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52530"/>
                </a:solidFill>
                <a:latin typeface="Arial"/>
              </a:rPr>
              <a:t>Summarize &amp; analyze</a:t>
            </a:r>
          </a:p>
        </p:txBody>
      </p:sp>
      <p:sp>
        <p:nvSpPr>
          <p:cNvPr id="27" name="Oval 26"/>
          <p:cNvSpPr/>
          <p:nvPr/>
        </p:nvSpPr>
        <p:spPr>
          <a:xfrm>
            <a:off x="6381750" y="162401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86525" y="1581150"/>
            <a:ext cx="5038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Condense 50 page reports to one page</a:t>
            </a:r>
          </a:p>
        </p:txBody>
      </p:sp>
      <p:sp>
        <p:nvSpPr>
          <p:cNvPr id="29" name="Oval 28"/>
          <p:cNvSpPr/>
          <p:nvPr/>
        </p:nvSpPr>
        <p:spPr>
          <a:xfrm>
            <a:off x="6381750" y="179546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86525" y="1752600"/>
            <a:ext cx="5038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Compare policy to OECD and EU practice</a:t>
            </a:r>
          </a:p>
        </p:txBody>
      </p:sp>
      <p:sp>
        <p:nvSpPr>
          <p:cNvPr id="31" name="Oval 30"/>
          <p:cNvSpPr/>
          <p:nvPr/>
        </p:nvSpPr>
        <p:spPr>
          <a:xfrm>
            <a:off x="6381750" y="196691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6525" y="1924050"/>
            <a:ext cx="5038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Spot trends across ministry data</a:t>
            </a:r>
          </a:p>
        </p:txBody>
      </p:sp>
      <p:sp>
        <p:nvSpPr>
          <p:cNvPr id="33" name="Oval 32"/>
          <p:cNvSpPr/>
          <p:nvPr/>
        </p:nvSpPr>
        <p:spPr>
          <a:xfrm>
            <a:off x="6381750" y="213836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6525" y="2095500"/>
            <a:ext cx="5038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Benchmark against peer states</a:t>
            </a:r>
          </a:p>
        </p:txBody>
      </p:sp>
      <p:sp>
        <p:nvSpPr>
          <p:cNvPr id="35" name="Oval 34"/>
          <p:cNvSpPr/>
          <p:nvPr/>
        </p:nvSpPr>
        <p:spPr>
          <a:xfrm>
            <a:off x="6381750" y="230981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86525" y="2266950"/>
            <a:ext cx="5038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Extract action points from long files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43650" y="2495550"/>
            <a:ext cx="5257800" cy="666750"/>
          </a:xfrm>
          <a:prstGeom prst="roundRect">
            <a:avLst>
              <a:gd name="adj" fmla="val 6000"/>
            </a:avLst>
          </a:prstGeom>
          <a:solidFill>
            <a:srgbClr val="E9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57950" y="2581275"/>
            <a:ext cx="50482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93F52"/>
                </a:solidFill>
                <a:latin typeface="Arial"/>
              </a:rPr>
              <a:t>EXAMPLE PROMPT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57950" y="2752725"/>
            <a:ext cx="5029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1">
                <a:solidFill>
                  <a:srgbClr val="41535D"/>
                </a:solidFill>
                <a:latin typeface="Arial"/>
              </a:rPr>
              <a:t>Compare Azerbaijan 2030 to OECD practice. Return a table: our approach, theirs, the gap.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3390900"/>
            <a:ext cx="5524500" cy="2095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3390900"/>
            <a:ext cx="5524500" cy="28575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8650" y="3524250"/>
            <a:ext cx="5143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52530"/>
                </a:solidFill>
                <a:latin typeface="Arial"/>
              </a:rPr>
              <a:t>Visualize &amp; report</a:t>
            </a:r>
          </a:p>
        </p:txBody>
      </p:sp>
      <p:sp>
        <p:nvSpPr>
          <p:cNvPr id="43" name="Oval 42"/>
          <p:cNvSpPr/>
          <p:nvPr/>
        </p:nvSpPr>
        <p:spPr>
          <a:xfrm>
            <a:off x="628650" y="385286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3425" y="3810000"/>
            <a:ext cx="5038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Charts and graphs from spreadsheets</a:t>
            </a:r>
          </a:p>
        </p:txBody>
      </p:sp>
      <p:sp>
        <p:nvSpPr>
          <p:cNvPr id="45" name="Oval 44"/>
          <p:cNvSpPr/>
          <p:nvPr/>
        </p:nvSpPr>
        <p:spPr>
          <a:xfrm>
            <a:off x="628650" y="402431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3425" y="3981450"/>
            <a:ext cx="5038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One page visual reports</a:t>
            </a:r>
          </a:p>
        </p:txBody>
      </p:sp>
      <p:sp>
        <p:nvSpPr>
          <p:cNvPr id="47" name="Oval 46"/>
          <p:cNvSpPr/>
          <p:nvPr/>
        </p:nvSpPr>
        <p:spPr>
          <a:xfrm>
            <a:off x="628650" y="419576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3425" y="4152900"/>
            <a:ext cx="5038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Slide packs from State Statistics data</a:t>
            </a:r>
          </a:p>
        </p:txBody>
      </p:sp>
      <p:sp>
        <p:nvSpPr>
          <p:cNvPr id="49" name="Oval 48"/>
          <p:cNvSpPr/>
          <p:nvPr/>
        </p:nvSpPr>
        <p:spPr>
          <a:xfrm>
            <a:off x="628650" y="436721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3425" y="4324350"/>
            <a:ext cx="5038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Simple decision dashboards</a:t>
            </a:r>
          </a:p>
        </p:txBody>
      </p:sp>
      <p:sp>
        <p:nvSpPr>
          <p:cNvPr id="51" name="Oval 50"/>
          <p:cNvSpPr/>
          <p:nvPr/>
        </p:nvSpPr>
        <p:spPr>
          <a:xfrm>
            <a:off x="628650" y="453866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3425" y="4495800"/>
            <a:ext cx="5038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Infographics for the public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90550" y="4724400"/>
            <a:ext cx="5257800" cy="666750"/>
          </a:xfrm>
          <a:prstGeom prst="roundRect">
            <a:avLst>
              <a:gd name="adj" fmla="val 6000"/>
            </a:avLst>
          </a:prstGeom>
          <a:solidFill>
            <a:srgbClr val="E9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4850" y="4810125"/>
            <a:ext cx="50482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93F52"/>
                </a:solidFill>
                <a:latin typeface="Arial"/>
              </a:rPr>
              <a:t>EXAMPLE PROMPT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4850" y="4981575"/>
            <a:ext cx="5029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1">
                <a:solidFill>
                  <a:srgbClr val="41535D"/>
                </a:solidFill>
                <a:latin typeface="Arial"/>
              </a:rPr>
              <a:t>Turn this budget spreadsheet into a one page visual: a chart per program, three takeaways.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0300" y="3390900"/>
            <a:ext cx="5524500" cy="2095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10300" y="3390900"/>
            <a:ext cx="5524500" cy="28575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81750" y="3524250"/>
            <a:ext cx="5143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52530"/>
                </a:solidFill>
                <a:latin typeface="Arial"/>
              </a:rPr>
              <a:t>Assist &amp; coordinate</a:t>
            </a:r>
          </a:p>
        </p:txBody>
      </p:sp>
      <p:sp>
        <p:nvSpPr>
          <p:cNvPr id="59" name="Oval 58"/>
          <p:cNvSpPr/>
          <p:nvPr/>
        </p:nvSpPr>
        <p:spPr>
          <a:xfrm>
            <a:off x="6381750" y="385286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86525" y="3810000"/>
            <a:ext cx="5038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Draft agendas and minutes</a:t>
            </a:r>
          </a:p>
        </p:txBody>
      </p:sp>
      <p:sp>
        <p:nvSpPr>
          <p:cNvPr id="61" name="Oval 60"/>
          <p:cNvSpPr/>
          <p:nvPr/>
        </p:nvSpPr>
        <p:spPr>
          <a:xfrm>
            <a:off x="6381750" y="402431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86525" y="3981450"/>
            <a:ext cx="5038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Assemble briefing packs</a:t>
            </a:r>
          </a:p>
        </p:txBody>
      </p:sp>
      <p:sp>
        <p:nvSpPr>
          <p:cNvPr id="63" name="Oval 62"/>
          <p:cNvSpPr/>
          <p:nvPr/>
        </p:nvSpPr>
        <p:spPr>
          <a:xfrm>
            <a:off x="6381750" y="419576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86525" y="4152900"/>
            <a:ext cx="5038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Track directives and actions</a:t>
            </a:r>
          </a:p>
        </p:txBody>
      </p:sp>
      <p:sp>
        <p:nvSpPr>
          <p:cNvPr id="65" name="Oval 64"/>
          <p:cNvSpPr/>
          <p:nvPr/>
        </p:nvSpPr>
        <p:spPr>
          <a:xfrm>
            <a:off x="6381750" y="436721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86525" y="4324350"/>
            <a:ext cx="5038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Prepare meeting questions</a:t>
            </a:r>
          </a:p>
        </p:txBody>
      </p:sp>
      <p:sp>
        <p:nvSpPr>
          <p:cNvPr id="67" name="Oval 66"/>
          <p:cNvSpPr/>
          <p:nvPr/>
        </p:nvSpPr>
        <p:spPr>
          <a:xfrm>
            <a:off x="6381750" y="453866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86525" y="4495800"/>
            <a:ext cx="5038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Reminders and follow ups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343650" y="4724400"/>
            <a:ext cx="5257800" cy="666750"/>
          </a:xfrm>
          <a:prstGeom prst="roundRect">
            <a:avLst>
              <a:gd name="adj" fmla="val 6000"/>
            </a:avLst>
          </a:prstGeom>
          <a:solidFill>
            <a:srgbClr val="E9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57950" y="4810125"/>
            <a:ext cx="50482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93F52"/>
                </a:solidFill>
                <a:latin typeface="Arial"/>
              </a:rPr>
              <a:t>EXAMPLE PROMPT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57950" y="4981575"/>
            <a:ext cx="5029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1">
                <a:solidFill>
                  <a:srgbClr val="41535D"/>
                </a:solidFill>
                <a:latin typeface="Arial"/>
              </a:rPr>
              <a:t>From these papers, draft a chair note: the decision needed and one question per item.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57200" y="5619750"/>
            <a:ext cx="11277600" cy="571500"/>
          </a:xfrm>
          <a:prstGeom prst="roundRect">
            <a:avLst>
              <a:gd name="adj" fmla="val 6000"/>
            </a:avLst>
          </a:prstGeom>
          <a:solidFill>
            <a:srgbClr val="E9F1F4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7700" y="5743575"/>
            <a:ext cx="3619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93F52"/>
                </a:solidFill>
                <a:latin typeface="Arial"/>
              </a:rPr>
              <a:t>Proven, United Kingdom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41535D"/>
                </a:solidFill>
                <a:latin typeface="Arial"/>
              </a:rPr>
              <a:t>M365 Copilot, 20,000 officials, 12 departments, 3 months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05300" y="5791200"/>
            <a:ext cx="8763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93F52"/>
                </a:solidFill>
                <a:latin typeface="Arial"/>
              </a:rPr>
              <a:t>26 min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86350" y="5848350"/>
            <a:ext cx="1047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saved daily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15050" y="5791200"/>
            <a:ext cx="8763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93F52"/>
                </a:solidFill>
                <a:latin typeface="Arial"/>
              </a:rPr>
              <a:t>85%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96100" y="5848350"/>
            <a:ext cx="1047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good value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924800" y="5791200"/>
            <a:ext cx="8763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93F52"/>
                </a:solidFill>
                <a:latin typeface="Arial"/>
              </a:rPr>
              <a:t>82%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05850" y="5848350"/>
            <a:ext cx="1047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would keep it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734550" y="5791200"/>
            <a:ext cx="8763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93F52"/>
                </a:solidFill>
                <a:latin typeface="Arial"/>
              </a:rPr>
              <a:t>80%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515600" y="5848350"/>
            <a:ext cx="1047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sustained use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7200" y="6324600"/>
            <a:ext cx="11277600" cy="9525"/>
          </a:xfrm>
          <a:prstGeom prst="rect">
            <a:avLst/>
          </a:prstGeom>
          <a:solidFill>
            <a:srgbClr val="E0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7200" y="6400800"/>
            <a:ext cx="857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88892"/>
                </a:solidFill>
                <a:latin typeface="Arial"/>
              </a:rPr>
              <a:t>Departments included tax, welfare and justice; governance and data access came first. Source UK GDS 2025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525000" y="6400800"/>
            <a:ext cx="2209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788892"/>
                </a:solidFill>
                <a:latin typeface="Arial"/>
              </a:rPr>
              <a:t>Section 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385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A67C3D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23850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93F52"/>
                </a:solidFill>
                <a:latin typeface="Arial"/>
              </a:rPr>
              <a:t>DEEP DIVE, FULLY SECURE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3400"/>
            <a:ext cx="8572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 i="0">
                <a:solidFill>
                  <a:srgbClr val="152530"/>
                </a:solidFill>
                <a:latin typeface="Arial"/>
              </a:rPr>
              <a:t>On sensitive data: use cases, each with a 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52500"/>
            <a:ext cx="514350" cy="28575"/>
          </a:xfrm>
          <a:prstGeom prst="rect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162050"/>
            <a:ext cx="55245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62050"/>
            <a:ext cx="5524500" cy="28575"/>
          </a:xfrm>
          <a:prstGeom prst="rect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650" y="1295400"/>
            <a:ext cx="5143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52530"/>
                </a:solidFill>
                <a:latin typeface="Arial"/>
              </a:rPr>
              <a:t>Citizen appeals &amp; correspondence</a:t>
            </a:r>
          </a:p>
        </p:txBody>
      </p:sp>
      <p:sp>
        <p:nvSpPr>
          <p:cNvPr id="11" name="Oval 10"/>
          <p:cNvSpPr/>
          <p:nvPr/>
        </p:nvSpPr>
        <p:spPr>
          <a:xfrm>
            <a:off x="628650" y="162401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425" y="1581150"/>
            <a:ext cx="5038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Triage and summarize appeals</a:t>
            </a:r>
          </a:p>
        </p:txBody>
      </p:sp>
      <p:sp>
        <p:nvSpPr>
          <p:cNvPr id="13" name="Oval 12"/>
          <p:cNvSpPr/>
          <p:nvPr/>
        </p:nvSpPr>
        <p:spPr>
          <a:xfrm>
            <a:off x="628650" y="179546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3425" y="1752600"/>
            <a:ext cx="5038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Route to the responsible ministry</a:t>
            </a:r>
          </a:p>
        </p:txBody>
      </p:sp>
      <p:sp>
        <p:nvSpPr>
          <p:cNvPr id="15" name="Oval 14"/>
          <p:cNvSpPr/>
          <p:nvPr/>
        </p:nvSpPr>
        <p:spPr>
          <a:xfrm>
            <a:off x="628650" y="196691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3425" y="1924050"/>
            <a:ext cx="5038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Draft replies citing the relevant law</a:t>
            </a:r>
          </a:p>
        </p:txBody>
      </p:sp>
      <p:sp>
        <p:nvSpPr>
          <p:cNvPr id="17" name="Oval 16"/>
          <p:cNvSpPr/>
          <p:nvPr/>
        </p:nvSpPr>
        <p:spPr>
          <a:xfrm>
            <a:off x="628650" y="213836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3425" y="2095500"/>
            <a:ext cx="5038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Detect duplicates and patterns</a:t>
            </a:r>
          </a:p>
        </p:txBody>
      </p:sp>
      <p:sp>
        <p:nvSpPr>
          <p:cNvPr id="19" name="Oval 18"/>
          <p:cNvSpPr/>
          <p:nvPr/>
        </p:nvSpPr>
        <p:spPr>
          <a:xfrm>
            <a:off x="628650" y="230981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3425" y="2266950"/>
            <a:ext cx="5038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Track status through to closure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0550" y="2686050"/>
            <a:ext cx="5257800" cy="666750"/>
          </a:xfrm>
          <a:prstGeom prst="roundRect">
            <a:avLst>
              <a:gd name="adj" fmla="val 6000"/>
            </a:avLst>
          </a:prstGeom>
          <a:solidFill>
            <a:srgbClr val="F6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850" y="2771775"/>
            <a:ext cx="50482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A67C3D"/>
                </a:solidFill>
                <a:latin typeface="Arial"/>
              </a:rPr>
              <a:t>EXAMPLE PROMPT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850" y="2943225"/>
            <a:ext cx="5029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1">
                <a:solidFill>
                  <a:srgbClr val="41535D"/>
                </a:solidFill>
                <a:latin typeface="Arial"/>
              </a:rPr>
              <a:t>Summarize this appeal, name the responsible ministry, draft a reply citing the articles of law.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300" y="1162050"/>
            <a:ext cx="55245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300" y="1162050"/>
            <a:ext cx="5524500" cy="28575"/>
          </a:xfrm>
          <a:prstGeom prst="rect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1750" y="1295400"/>
            <a:ext cx="5143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52530"/>
                </a:solidFill>
                <a:latin typeface="Arial"/>
              </a:rPr>
              <a:t>Leadership briefings &amp; dashboards</a:t>
            </a:r>
          </a:p>
        </p:txBody>
      </p:sp>
      <p:sp>
        <p:nvSpPr>
          <p:cNvPr id="27" name="Oval 26"/>
          <p:cNvSpPr/>
          <p:nvPr/>
        </p:nvSpPr>
        <p:spPr>
          <a:xfrm>
            <a:off x="6381750" y="162401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86525" y="1581150"/>
            <a:ext cx="5038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Cross ministry briefing packs</a:t>
            </a:r>
          </a:p>
        </p:txBody>
      </p:sp>
      <p:sp>
        <p:nvSpPr>
          <p:cNvPr id="29" name="Oval 28"/>
          <p:cNvSpPr/>
          <p:nvPr/>
        </p:nvSpPr>
        <p:spPr>
          <a:xfrm>
            <a:off x="6381750" y="179546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86525" y="1752600"/>
            <a:ext cx="5038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Live decision dashboards</a:t>
            </a:r>
          </a:p>
        </p:txBody>
      </p:sp>
      <p:sp>
        <p:nvSpPr>
          <p:cNvPr id="31" name="Oval 30"/>
          <p:cNvSpPr/>
          <p:nvPr/>
        </p:nvSpPr>
        <p:spPr>
          <a:xfrm>
            <a:off x="6381750" y="196691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6525" y="1924050"/>
            <a:ext cx="5038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Daily situation updates</a:t>
            </a:r>
          </a:p>
        </p:txBody>
      </p:sp>
      <p:sp>
        <p:nvSpPr>
          <p:cNvPr id="33" name="Oval 32"/>
          <p:cNvSpPr/>
          <p:nvPr/>
        </p:nvSpPr>
        <p:spPr>
          <a:xfrm>
            <a:off x="6381750" y="213836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6525" y="2095500"/>
            <a:ext cx="5038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Track KPIs across domains</a:t>
            </a:r>
          </a:p>
        </p:txBody>
      </p:sp>
      <p:sp>
        <p:nvSpPr>
          <p:cNvPr id="35" name="Oval 34"/>
          <p:cNvSpPr/>
          <p:nvPr/>
        </p:nvSpPr>
        <p:spPr>
          <a:xfrm>
            <a:off x="6381750" y="230981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86525" y="2266950"/>
            <a:ext cx="5038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Visual summaries for the President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43650" y="2686050"/>
            <a:ext cx="5257800" cy="666750"/>
          </a:xfrm>
          <a:prstGeom prst="roundRect">
            <a:avLst>
              <a:gd name="adj" fmla="val 6000"/>
            </a:avLst>
          </a:prstGeom>
          <a:solidFill>
            <a:srgbClr val="F6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57950" y="2771775"/>
            <a:ext cx="50482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A67C3D"/>
                </a:solidFill>
                <a:latin typeface="Arial"/>
              </a:rPr>
              <a:t>EXAMPLE PROMPT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57950" y="2943225"/>
            <a:ext cx="5029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1">
                <a:solidFill>
                  <a:srgbClr val="41535D"/>
                </a:solidFill>
                <a:latin typeface="Arial"/>
              </a:rPr>
              <a:t>Build a dashboard from these inputs: one chart per priority, status and top risk for each.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3581400"/>
            <a:ext cx="55245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3581400"/>
            <a:ext cx="5524500" cy="28575"/>
          </a:xfrm>
          <a:prstGeom prst="rect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8650" y="3714750"/>
            <a:ext cx="5143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52530"/>
                </a:solidFill>
                <a:latin typeface="Arial"/>
              </a:rPr>
              <a:t>Security &amp; defense</a:t>
            </a:r>
          </a:p>
        </p:txBody>
      </p:sp>
      <p:sp>
        <p:nvSpPr>
          <p:cNvPr id="43" name="Oval 42"/>
          <p:cNvSpPr/>
          <p:nvPr/>
        </p:nvSpPr>
        <p:spPr>
          <a:xfrm>
            <a:off x="628650" y="404336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3425" y="4000500"/>
            <a:ext cx="5038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Cross domain analysis for the Council</a:t>
            </a:r>
          </a:p>
        </p:txBody>
      </p:sp>
      <p:sp>
        <p:nvSpPr>
          <p:cNvPr id="45" name="Oval 44"/>
          <p:cNvSpPr/>
          <p:nvPr/>
        </p:nvSpPr>
        <p:spPr>
          <a:xfrm>
            <a:off x="628650" y="421481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3425" y="4171950"/>
            <a:ext cx="5038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Risk maps by region</a:t>
            </a:r>
          </a:p>
        </p:txBody>
      </p:sp>
      <p:sp>
        <p:nvSpPr>
          <p:cNvPr id="47" name="Oval 46"/>
          <p:cNvSpPr/>
          <p:nvPr/>
        </p:nvSpPr>
        <p:spPr>
          <a:xfrm>
            <a:off x="628650" y="438626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3425" y="4343400"/>
            <a:ext cx="5038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Scenario and readiness planning</a:t>
            </a:r>
          </a:p>
        </p:txBody>
      </p:sp>
      <p:sp>
        <p:nvSpPr>
          <p:cNvPr id="49" name="Oval 48"/>
          <p:cNvSpPr/>
          <p:nvPr/>
        </p:nvSpPr>
        <p:spPr>
          <a:xfrm>
            <a:off x="628650" y="455771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3425" y="4514850"/>
            <a:ext cx="5038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Synthesize classified reports</a:t>
            </a:r>
          </a:p>
        </p:txBody>
      </p:sp>
      <p:sp>
        <p:nvSpPr>
          <p:cNvPr id="51" name="Oval 50"/>
          <p:cNvSpPr/>
          <p:nvPr/>
        </p:nvSpPr>
        <p:spPr>
          <a:xfrm>
            <a:off x="628650" y="472916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3425" y="4686300"/>
            <a:ext cx="5038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Recommended actions with evidence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90550" y="5105400"/>
            <a:ext cx="5257800" cy="666750"/>
          </a:xfrm>
          <a:prstGeom prst="roundRect">
            <a:avLst>
              <a:gd name="adj" fmla="val 6000"/>
            </a:avLst>
          </a:prstGeom>
          <a:solidFill>
            <a:srgbClr val="F6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4850" y="5191125"/>
            <a:ext cx="50482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A67C3D"/>
                </a:solidFill>
                <a:latin typeface="Arial"/>
              </a:rPr>
              <a:t>EXAMPLE PROMPT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4850" y="5362575"/>
            <a:ext cx="5029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1">
                <a:solidFill>
                  <a:srgbClr val="41535D"/>
                </a:solidFill>
                <a:latin typeface="Arial"/>
              </a:rPr>
              <a:t>Across these reports, produce a risk map by region with evidence and one action each.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0300" y="3581400"/>
            <a:ext cx="55245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10300" y="3581400"/>
            <a:ext cx="5524500" cy="28575"/>
          </a:xfrm>
          <a:prstGeom prst="rect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81750" y="3714750"/>
            <a:ext cx="5143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52530"/>
                </a:solidFill>
                <a:latin typeface="Arial"/>
              </a:rPr>
              <a:t>Reconstruction, Great Return</a:t>
            </a:r>
          </a:p>
        </p:txBody>
      </p:sp>
      <p:sp>
        <p:nvSpPr>
          <p:cNvPr id="59" name="Oval 58"/>
          <p:cNvSpPr/>
          <p:nvPr/>
        </p:nvSpPr>
        <p:spPr>
          <a:xfrm>
            <a:off x="6381750" y="404336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86525" y="4000500"/>
            <a:ext cx="5038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Delivery dashboards by district</a:t>
            </a:r>
          </a:p>
        </p:txBody>
      </p:sp>
      <p:sp>
        <p:nvSpPr>
          <p:cNvPr id="61" name="Oval 60"/>
          <p:cNvSpPr/>
          <p:nvPr/>
        </p:nvSpPr>
        <p:spPr>
          <a:xfrm>
            <a:off x="6381750" y="421481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86525" y="4171950"/>
            <a:ext cx="5038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Budget and progress tracking</a:t>
            </a:r>
          </a:p>
        </p:txBody>
      </p:sp>
      <p:sp>
        <p:nvSpPr>
          <p:cNvPr id="63" name="Oval 62"/>
          <p:cNvSpPr/>
          <p:nvPr/>
        </p:nvSpPr>
        <p:spPr>
          <a:xfrm>
            <a:off x="6381750" y="438626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86525" y="4343400"/>
            <a:ext cx="5038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Blocker and delay detection</a:t>
            </a:r>
          </a:p>
        </p:txBody>
      </p:sp>
      <p:sp>
        <p:nvSpPr>
          <p:cNvPr id="65" name="Oval 64"/>
          <p:cNvSpPr/>
          <p:nvPr/>
        </p:nvSpPr>
        <p:spPr>
          <a:xfrm>
            <a:off x="6381750" y="455771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86525" y="4514850"/>
            <a:ext cx="5038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Contractor and milestone monitoring</a:t>
            </a:r>
          </a:p>
        </p:txBody>
      </p:sp>
      <p:sp>
        <p:nvSpPr>
          <p:cNvPr id="67" name="Oval 66"/>
          <p:cNvSpPr/>
          <p:nvPr/>
        </p:nvSpPr>
        <p:spPr>
          <a:xfrm>
            <a:off x="6381750" y="4729162"/>
            <a:ext cx="42862" cy="42862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86525" y="4686300"/>
            <a:ext cx="5038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Status reports for leadership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343650" y="5105400"/>
            <a:ext cx="5257800" cy="666750"/>
          </a:xfrm>
          <a:prstGeom prst="roundRect">
            <a:avLst>
              <a:gd name="adj" fmla="val 6000"/>
            </a:avLst>
          </a:prstGeom>
          <a:solidFill>
            <a:srgbClr val="F6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57950" y="5191125"/>
            <a:ext cx="50482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A67C3D"/>
                </a:solidFill>
                <a:latin typeface="Arial"/>
              </a:rPr>
              <a:t>EXAMPLE PROMPT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57950" y="5362575"/>
            <a:ext cx="5029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1">
                <a:solidFill>
                  <a:srgbClr val="41535D"/>
                </a:solidFill>
                <a:latin typeface="Arial"/>
              </a:rPr>
              <a:t>Build a status dashboard by district: budget, progress, blockers, next milestone.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7200" y="6324600"/>
            <a:ext cx="11277600" cy="9525"/>
          </a:xfrm>
          <a:prstGeom prst="rect">
            <a:avLst/>
          </a:prstGeom>
          <a:solidFill>
            <a:srgbClr val="E0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6400800"/>
            <a:ext cx="857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88892"/>
                </a:solidFill>
                <a:latin typeface="Arial"/>
              </a:rPr>
              <a:t>All processing stays inside the accredited platform, in national control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525000" y="6400800"/>
            <a:ext cx="2209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788892"/>
                </a:solidFill>
                <a:latin typeface="Arial"/>
              </a:rPr>
              <a:t>Section 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385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A67C3D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23850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93F52"/>
                </a:solidFill>
                <a:latin typeface="Arial"/>
              </a:rPr>
              <a:t>DEEP DIVE, FULLY SECURE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3400"/>
            <a:ext cx="8572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 i="0">
                <a:solidFill>
                  <a:srgbClr val="152530"/>
                </a:solidFill>
                <a:latin typeface="Arial"/>
              </a:rPr>
              <a:t>The measured impact of these cases, proven worldwide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52500"/>
            <a:ext cx="514350" cy="28575"/>
          </a:xfrm>
          <a:prstGeom prst="rect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162050"/>
            <a:ext cx="11277600" cy="6286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62050"/>
            <a:ext cx="2381250" cy="628650"/>
          </a:xfrm>
          <a:prstGeom prst="rect">
            <a:avLst/>
          </a:prstGeom>
          <a:solidFill>
            <a:srgbClr val="E9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" y="1314450"/>
            <a:ext cx="2095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52530"/>
                </a:solidFill>
                <a:latin typeface="Arial"/>
              </a:rPr>
              <a:t>Defense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1524000"/>
            <a:ext cx="2095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88892"/>
                </a:solidFill>
                <a:latin typeface="Arial"/>
              </a:rPr>
              <a:t>National force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8950" y="1333500"/>
            <a:ext cx="14287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93F52"/>
                </a:solidFill>
                <a:latin typeface="Arial"/>
              </a:rPr>
              <a:t>10x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6750" y="1371600"/>
            <a:ext cx="7048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Digital twin makes force gaps transparent. 2x faster mission planning, 5x budget rationalization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866900"/>
            <a:ext cx="11277600" cy="6286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1866900"/>
            <a:ext cx="2381250" cy="628650"/>
          </a:xfrm>
          <a:prstGeom prst="rect">
            <a:avLst/>
          </a:prstGeom>
          <a:solidFill>
            <a:srgbClr val="E9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700" y="2019300"/>
            <a:ext cx="2095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52530"/>
                </a:solidFill>
                <a:latin typeface="Arial"/>
              </a:rPr>
              <a:t>Public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2228850"/>
            <a:ext cx="2095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88892"/>
                </a:solidFill>
                <a:latin typeface="Arial"/>
              </a:rPr>
              <a:t>ASAN style 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28950" y="2038350"/>
            <a:ext cx="14287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93F52"/>
                </a:solidFill>
                <a:latin typeface="Arial"/>
              </a:rPr>
              <a:t>1,300h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6750" y="2076450"/>
            <a:ext cx="7048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Regulatory synthesizer saves hours each month. Assessments cut from 40 to 20 minutes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571750"/>
            <a:ext cx="11277600" cy="6286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571750"/>
            <a:ext cx="2381250" cy="628650"/>
          </a:xfrm>
          <a:prstGeom prst="rect">
            <a:avLst/>
          </a:prstGeom>
          <a:solidFill>
            <a:srgbClr val="E9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700" y="2724150"/>
            <a:ext cx="2095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52530"/>
                </a:solidFill>
                <a:latin typeface="Arial"/>
              </a:rPr>
              <a:t>Major ministry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" y="2933700"/>
            <a:ext cx="2095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88892"/>
                </a:solidFill>
                <a:latin typeface="Arial"/>
              </a:rPr>
              <a:t>30,000+ staff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28950" y="2743200"/>
            <a:ext cx="14287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93F52"/>
                </a:solidFill>
                <a:latin typeface="Arial"/>
              </a:rPr>
              <a:t>1.4mn 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6750" y="2781300"/>
            <a:ext cx="7048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Initiative tracker saves hours a year, and lifts citizen satisfaction by 9%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276600"/>
            <a:ext cx="11277600" cy="6286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276600"/>
            <a:ext cx="2381250" cy="628650"/>
          </a:xfrm>
          <a:prstGeom prst="rect">
            <a:avLst/>
          </a:prstGeom>
          <a:solidFill>
            <a:srgbClr val="E9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700" y="3429000"/>
            <a:ext cx="2095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52530"/>
                </a:solidFill>
                <a:latin typeface="Arial"/>
              </a:rPr>
              <a:t>Citizen appeals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" y="3638550"/>
            <a:ext cx="2095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88892"/>
                </a:solidFill>
                <a:latin typeface="Arial"/>
              </a:rPr>
              <a:t>Replies to the President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28950" y="3448050"/>
            <a:ext cx="14287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93F52"/>
                </a:solidFill>
                <a:latin typeface="Arial"/>
              </a:rPr>
              <a:t>75%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76750" y="3486150"/>
            <a:ext cx="7048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Drafting time cut. 95% of drafts need no edit, 100% of relevant laws identified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981450"/>
            <a:ext cx="11277600" cy="6286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981450"/>
            <a:ext cx="2381250" cy="628650"/>
          </a:xfrm>
          <a:prstGeom prst="rect">
            <a:avLst/>
          </a:prstGeom>
          <a:solidFill>
            <a:srgbClr val="E9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700" y="4133850"/>
            <a:ext cx="2095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52530"/>
                </a:solidFill>
                <a:latin typeface="Arial"/>
              </a:rPr>
              <a:t>President's Office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700" y="4343400"/>
            <a:ext cx="2095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88892"/>
                </a:solidFill>
                <a:latin typeface="Arial"/>
              </a:rPr>
              <a:t>Executive assistant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28950" y="4152900"/>
            <a:ext cx="14287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93F52"/>
                </a:solidFill>
                <a:latin typeface="Arial"/>
              </a:rPr>
              <a:t>40%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76750" y="4191000"/>
            <a:ext cx="7048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Fewer meetings. Briefing packs and directive tracking, up to 2 hours a day saved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686300"/>
            <a:ext cx="11277600" cy="6286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4686300"/>
            <a:ext cx="2381250" cy="628650"/>
          </a:xfrm>
          <a:prstGeom prst="rect">
            <a:avLst/>
          </a:prstGeom>
          <a:solidFill>
            <a:srgbClr val="E9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7700" y="4838700"/>
            <a:ext cx="2095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52530"/>
                </a:solidFill>
                <a:latin typeface="Arial"/>
              </a:rPr>
              <a:t>Leadership analytics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700" y="5048250"/>
            <a:ext cx="2095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88892"/>
                </a:solidFill>
                <a:latin typeface="Arial"/>
              </a:rPr>
              <a:t>Dashboards for the President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28950" y="4857750"/>
            <a:ext cx="14287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93F52"/>
                </a:solidFill>
                <a:latin typeface="Arial"/>
              </a:rPr>
              <a:t>Minutes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76750" y="4895850"/>
            <a:ext cx="7048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One set of numbers across ministries, answered on demand at the point of decision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410200"/>
            <a:ext cx="11277600" cy="514350"/>
          </a:xfrm>
          <a:prstGeom prst="roundRect">
            <a:avLst>
              <a:gd name="adj" fmla="val 6000"/>
            </a:avLst>
          </a:prstGeom>
          <a:solidFill>
            <a:srgbClr val="09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6750" y="5514975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79A55"/>
                </a:solidFill>
                <a:latin typeface="Arial"/>
              </a:rPr>
              <a:t>The common thread. </a:t>
            </a:r>
            <a:r>
              <a:rPr sz="1200" b="0" i="0">
                <a:solidFill>
                  <a:srgbClr val="FFFFFF"/>
                </a:solidFill>
                <a:latin typeface="Arial"/>
              </a:rPr>
              <a:t>Every case runs on data that cannot leave Azerbaijan. This is precisely what a sovereign, on premise platform makes possible, and an enterprise account cannot.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6324600"/>
            <a:ext cx="11277600" cy="9525"/>
          </a:xfrm>
          <a:prstGeom prst="rect">
            <a:avLst/>
          </a:prstGeom>
          <a:solidFill>
            <a:srgbClr val="E0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400800"/>
            <a:ext cx="857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88892"/>
                </a:solidFill>
                <a:latin typeface="Arial"/>
              </a:rPr>
              <a:t>Real deployments and their measured impact, adapted to national context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25000" y="6400800"/>
            <a:ext cx="2209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788892"/>
                </a:solidFill>
                <a:latin typeface="Arial"/>
              </a:rPr>
              <a:t>Section 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385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A67C3D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23850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93F52"/>
                </a:solidFill>
                <a:latin typeface="Arial"/>
              </a:rPr>
              <a:t>BUILDING THE SOVEREIGN CAPABILITY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3400"/>
            <a:ext cx="8572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 i="0">
                <a:solidFill>
                  <a:srgbClr val="152530"/>
                </a:solidFill>
                <a:latin typeface="Arial"/>
              </a:rPr>
              <a:t>A sovereign capability is a full stack under national control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52500"/>
            <a:ext cx="514350" cy="28575"/>
          </a:xfrm>
          <a:prstGeom prst="rect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23950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093F52"/>
                </a:solidFill>
                <a:latin typeface="Arial"/>
              </a:rPr>
              <a:t>THE SOVEREIGN STACK, ENERGY TO POLICY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52550"/>
            <a:ext cx="7239000" cy="476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52550"/>
            <a:ext cx="476250" cy="476250"/>
          </a:xfrm>
          <a:prstGeom prst="rect">
            <a:avLst/>
          </a:prstGeom>
          <a:solidFill>
            <a:srgbClr val="09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04950"/>
            <a:ext cx="476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1504950"/>
            <a:ext cx="1809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152530"/>
                </a:solidFill>
                <a:latin typeface="Arial"/>
              </a:rPr>
              <a:t>AI applications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2750" y="1514475"/>
            <a:ext cx="4572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Use cases for ministries and the Administration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885950"/>
            <a:ext cx="7239000" cy="476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1885950"/>
            <a:ext cx="476250" cy="47625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38350"/>
            <a:ext cx="476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6800" y="2038350"/>
            <a:ext cx="1809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152530"/>
                </a:solidFill>
                <a:latin typeface="Arial"/>
              </a:rPr>
              <a:t>Cloud &amp; platforms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2750" y="2047875"/>
            <a:ext cx="4572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Sovereign compute, storage and integration services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419350"/>
            <a:ext cx="7239000" cy="476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419350"/>
            <a:ext cx="476250" cy="47625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571750"/>
            <a:ext cx="476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6800" y="2571750"/>
            <a:ext cx="1809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152530"/>
                </a:solidFill>
                <a:latin typeface="Arial"/>
              </a:rPr>
              <a:t>Models &amp;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52750" y="2581275"/>
            <a:ext cx="4572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Models adapted on sovereign platforms, localized 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952750"/>
            <a:ext cx="7239000" cy="476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2952750"/>
            <a:ext cx="476250" cy="47625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105150"/>
            <a:ext cx="476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6800" y="3105150"/>
            <a:ext cx="1809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152530"/>
                </a:solidFill>
                <a:latin typeface="Arial"/>
              </a:rPr>
              <a:t>Data centers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52750" y="3114675"/>
            <a:ext cx="4572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High efficiency data centers and GPU clusters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486150"/>
            <a:ext cx="7239000" cy="476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486150"/>
            <a:ext cx="476250" cy="47625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638550"/>
            <a:ext cx="476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6800" y="3638550"/>
            <a:ext cx="1809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152530"/>
                </a:solidFill>
                <a:latin typeface="Arial"/>
              </a:rPr>
              <a:t>Connectivity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52750" y="3648075"/>
            <a:ext cx="4572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Fast sovereign networks with redundant links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019550"/>
            <a:ext cx="7239000" cy="476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4019550"/>
            <a:ext cx="476250" cy="47625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171950"/>
            <a:ext cx="476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6800" y="4171950"/>
            <a:ext cx="1809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152530"/>
                </a:solidFill>
                <a:latin typeface="Arial"/>
              </a:rPr>
              <a:t>Hardware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52750" y="4181475"/>
            <a:ext cx="4572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Locally trusted AI hardware, cooled racks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552950"/>
            <a:ext cx="7239000" cy="476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4552950"/>
            <a:ext cx="476250" cy="47625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705350"/>
            <a:ext cx="476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6800" y="4705350"/>
            <a:ext cx="1809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152530"/>
                </a:solidFill>
                <a:latin typeface="Arial"/>
              </a:rPr>
              <a:t>Energy &amp; grid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52750" y="4714875"/>
            <a:ext cx="4572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Local energy resources, a national advantage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086350"/>
            <a:ext cx="7239000" cy="476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5086350"/>
            <a:ext cx="476250" cy="476250"/>
          </a:xfrm>
          <a:prstGeom prst="rect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238750"/>
            <a:ext cx="476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6800" y="5238750"/>
            <a:ext cx="1809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152530"/>
                </a:solidFill>
                <a:latin typeface="Arial"/>
              </a:rPr>
              <a:t>Responsible 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52750" y="5248275"/>
            <a:ext cx="4572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1535D"/>
                </a:solidFill>
                <a:latin typeface="Arial"/>
              </a:rPr>
              <a:t>Policy and oversight across every layer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81950" y="112395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093F52"/>
                </a:solidFill>
                <a:latin typeface="Arial"/>
              </a:rPr>
              <a:t>FOUR ENABLERS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81950" y="1352550"/>
            <a:ext cx="3752850" cy="99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981950" y="1352550"/>
            <a:ext cx="38100" cy="990600"/>
          </a:xfrm>
          <a:prstGeom prst="rect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91500" y="1504950"/>
            <a:ext cx="571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67C3D"/>
                </a:solidFill>
                <a:latin typeface="Arial"/>
              </a:rPr>
              <a:t>01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72500" y="1524000"/>
            <a:ext cx="2952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152530"/>
                </a:solidFill>
                <a:latin typeface="Arial"/>
              </a:rPr>
              <a:t>Talent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91500" y="1809750"/>
            <a:ext cx="3333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Recruit AI and operations skills; pair vendors with civil servants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981950" y="2419350"/>
            <a:ext cx="3752850" cy="99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981950" y="2419350"/>
            <a:ext cx="38100" cy="990600"/>
          </a:xfrm>
          <a:prstGeom prst="rect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91500" y="2571750"/>
            <a:ext cx="571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67C3D"/>
                </a:solidFill>
                <a:latin typeface="Arial"/>
              </a:rPr>
              <a:t>02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72500" y="2590800"/>
            <a:ext cx="2952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152530"/>
                </a:solidFill>
                <a:latin typeface="Arial"/>
              </a:rPr>
              <a:t>Data &amp; technology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1500" y="2876550"/>
            <a:ext cx="3333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Consolidate siloed systems; label and clean data; segment networks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981950" y="3486150"/>
            <a:ext cx="3752850" cy="99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981950" y="3486150"/>
            <a:ext cx="38100" cy="990600"/>
          </a:xfrm>
          <a:prstGeom prst="rect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91500" y="3638550"/>
            <a:ext cx="571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67C3D"/>
                </a:solidFill>
                <a:latin typeface="Arial"/>
              </a:rPr>
              <a:t>03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72500" y="3657600"/>
            <a:ext cx="2952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152530"/>
                </a:solidFill>
                <a:latin typeface="Arial"/>
              </a:rPr>
              <a:t>Governance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91500" y="3943350"/>
            <a:ext cx="3333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Validate inputs and outputs; access by role; quarterly review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981950" y="4552950"/>
            <a:ext cx="3752850" cy="99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981950" y="4552950"/>
            <a:ext cx="38100" cy="990600"/>
          </a:xfrm>
          <a:prstGeom prst="rect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191500" y="4705350"/>
            <a:ext cx="571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67C3D"/>
                </a:solidFill>
                <a:latin typeface="Arial"/>
              </a:rPr>
              <a:t>04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72500" y="4724400"/>
            <a:ext cx="2952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152530"/>
                </a:solidFill>
                <a:latin typeface="Arial"/>
              </a:rPr>
              <a:t>Cost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91500" y="5010150"/>
            <a:ext cx="3333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Forecast demand; pool compute; retire cases that do not pay their way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6324600"/>
            <a:ext cx="11277600" cy="9525"/>
          </a:xfrm>
          <a:prstGeom prst="rect">
            <a:avLst/>
          </a:prstGeom>
          <a:solidFill>
            <a:srgbClr val="E0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6400800"/>
            <a:ext cx="857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88892"/>
                </a:solidFill>
                <a:latin typeface="Arial"/>
              </a:rPr>
              <a:t>Each layer depends on the one beneath it, and the whole stack stays under national control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525000" y="6400800"/>
            <a:ext cx="2209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788892"/>
                </a:solidFill>
                <a:latin typeface="Arial"/>
              </a:rPr>
              <a:t>Section 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385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A67C3D"/>
                </a:solidFill>
                <a:latin typeface="Arial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23850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93F52"/>
                </a:solidFill>
                <a:latin typeface="Arial"/>
              </a:rPr>
              <a:t>WHERE TO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3400"/>
            <a:ext cx="8572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 i="0">
                <a:solidFill>
                  <a:srgbClr val="152530"/>
                </a:solidFill>
                <a:latin typeface="Arial"/>
              </a:rPr>
              <a:t>Safe value now, a sovereign secure environment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52500"/>
            <a:ext cx="514350" cy="28575"/>
          </a:xfrm>
          <a:prstGeom prst="rect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250" y="1352550"/>
            <a:ext cx="10096500" cy="28575"/>
          </a:xfrm>
          <a:prstGeom prst="rect">
            <a:avLst/>
          </a:prstGeom>
          <a:solidFill>
            <a:srgbClr val="CFC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6750" y="1219200"/>
            <a:ext cx="323850" cy="323850"/>
          </a:xfrm>
          <a:prstGeom prst="ellipse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6750" y="1304925"/>
            <a:ext cx="3238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" y="1733550"/>
            <a:ext cx="20002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A67C3D"/>
                </a:solidFill>
                <a:latin typeface="Arial"/>
              </a:rPr>
              <a:t>WEEKS 1 TO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" y="1924050"/>
            <a:ext cx="2000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52530"/>
                </a:solidFill>
                <a:latin typeface="Arial"/>
              </a:rPr>
              <a:t>Enterprise account 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" y="2362200"/>
            <a:ext cx="19050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Contract it, fix data access, issue guidance on the three principles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6750" y="3105150"/>
            <a:ext cx="1809750" cy="9525"/>
          </a:xfrm>
          <a:prstGeom prst="rect">
            <a:avLst/>
          </a:prstGeom>
          <a:solidFill>
            <a:srgbClr val="E0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6750" y="3200400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25" b="1" i="0">
                <a:solidFill>
                  <a:srgbClr val="093F52"/>
                </a:solidFill>
                <a:latin typeface="Arial"/>
              </a:rPr>
              <a:t>You get. </a:t>
            </a:r>
            <a:r>
              <a:rPr sz="1125" b="0" i="0">
                <a:solidFill>
                  <a:srgbClr val="41535D"/>
                </a:solidFill>
                <a:latin typeface="Arial"/>
              </a:rPr>
              <a:t>Safe drafting at scale</a:t>
            </a:r>
          </a:p>
        </p:txBody>
      </p:sp>
      <p:sp>
        <p:nvSpPr>
          <p:cNvPr id="16" name="Oval 15"/>
          <p:cNvSpPr/>
          <p:nvPr/>
        </p:nvSpPr>
        <p:spPr>
          <a:xfrm>
            <a:off x="2952750" y="1219200"/>
            <a:ext cx="323850" cy="323850"/>
          </a:xfrm>
          <a:prstGeom prst="ellipse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52750" y="1304925"/>
            <a:ext cx="3238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2750" y="1733550"/>
            <a:ext cx="20002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A67C3D"/>
                </a:solidFill>
                <a:latin typeface="Arial"/>
              </a:rPr>
              <a:t>QUARTER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52750" y="1924050"/>
            <a:ext cx="2000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52530"/>
                </a:solidFill>
                <a:latin typeface="Arial"/>
              </a:rPr>
              <a:t>Capture early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52750" y="2362200"/>
            <a:ext cx="19050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Draft, translate, summarize on public and internal data. Train widely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52750" y="3105150"/>
            <a:ext cx="1809750" cy="9525"/>
          </a:xfrm>
          <a:prstGeom prst="rect">
            <a:avLst/>
          </a:prstGeom>
          <a:solidFill>
            <a:srgbClr val="E0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52750" y="3200400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25" b="1" i="0">
                <a:solidFill>
                  <a:srgbClr val="093F52"/>
                </a:solidFill>
                <a:latin typeface="Arial"/>
              </a:rPr>
              <a:t>You get. </a:t>
            </a:r>
            <a:r>
              <a:rPr sz="1125" b="0" i="0">
                <a:solidFill>
                  <a:srgbClr val="41535D"/>
                </a:solidFill>
                <a:latin typeface="Arial"/>
              </a:rPr>
              <a:t>Minutes saved, measured</a:t>
            </a:r>
          </a:p>
        </p:txBody>
      </p:sp>
      <p:sp>
        <p:nvSpPr>
          <p:cNvPr id="23" name="Oval 22"/>
          <p:cNvSpPr/>
          <p:nvPr/>
        </p:nvSpPr>
        <p:spPr>
          <a:xfrm>
            <a:off x="5238750" y="1219200"/>
            <a:ext cx="323850" cy="323850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38750" y="1304925"/>
            <a:ext cx="3238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8750" y="1733550"/>
            <a:ext cx="20002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A67C3D"/>
                </a:solidFill>
                <a:latin typeface="Arial"/>
              </a:rPr>
              <a:t>QUARTERS 1 &amp;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8750" y="1924050"/>
            <a:ext cx="2000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52530"/>
                </a:solidFill>
                <a:latin typeface="Arial"/>
              </a:rPr>
              <a:t>Accredit a secure room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8750" y="2362200"/>
            <a:ext cx="19050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A secure room in a state data center, the fastest route to production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38750" y="3105150"/>
            <a:ext cx="1809750" cy="9525"/>
          </a:xfrm>
          <a:prstGeom prst="rect">
            <a:avLst/>
          </a:prstGeom>
          <a:solidFill>
            <a:srgbClr val="E0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38750" y="3200400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25" b="1" i="0">
                <a:solidFill>
                  <a:srgbClr val="093F52"/>
                </a:solidFill>
                <a:latin typeface="Arial"/>
              </a:rPr>
              <a:t>You get. </a:t>
            </a:r>
            <a:r>
              <a:rPr sz="1125" b="0" i="0">
                <a:solidFill>
                  <a:srgbClr val="41535D"/>
                </a:solidFill>
                <a:latin typeface="Arial"/>
              </a:rPr>
              <a:t>Sensitive data enabled</a:t>
            </a:r>
          </a:p>
        </p:txBody>
      </p:sp>
      <p:sp>
        <p:nvSpPr>
          <p:cNvPr id="30" name="Oval 29"/>
          <p:cNvSpPr/>
          <p:nvPr/>
        </p:nvSpPr>
        <p:spPr>
          <a:xfrm>
            <a:off x="7524750" y="1219200"/>
            <a:ext cx="323850" cy="323850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24750" y="1304925"/>
            <a:ext cx="3238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24750" y="1733550"/>
            <a:ext cx="20002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A67C3D"/>
                </a:solidFill>
                <a:latin typeface="Arial"/>
              </a:rPr>
              <a:t>QUARTERS 2 TO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4750" y="1924050"/>
            <a:ext cx="2000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52530"/>
                </a:solidFill>
                <a:latin typeface="Arial"/>
              </a:rPr>
              <a:t>Prove sensitive cases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4750" y="2362200"/>
            <a:ext cx="19050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Citizen appeals, Security Council analysis, leadership dashboards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24750" y="3105150"/>
            <a:ext cx="1809750" cy="9525"/>
          </a:xfrm>
          <a:prstGeom prst="rect">
            <a:avLst/>
          </a:prstGeom>
          <a:solidFill>
            <a:srgbClr val="E0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4750" y="3200400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25" b="1" i="0">
                <a:solidFill>
                  <a:srgbClr val="093F52"/>
                </a:solidFill>
                <a:latin typeface="Arial"/>
              </a:rPr>
              <a:t>You get. </a:t>
            </a:r>
            <a:r>
              <a:rPr sz="1125" b="0" i="0">
                <a:solidFill>
                  <a:srgbClr val="41535D"/>
                </a:solidFill>
                <a:latin typeface="Arial"/>
              </a:rPr>
              <a:t>Leadership value shown</a:t>
            </a:r>
          </a:p>
        </p:txBody>
      </p:sp>
      <p:sp>
        <p:nvSpPr>
          <p:cNvPr id="37" name="Oval 36"/>
          <p:cNvSpPr/>
          <p:nvPr/>
        </p:nvSpPr>
        <p:spPr>
          <a:xfrm>
            <a:off x="9810750" y="1219200"/>
            <a:ext cx="323850" cy="323850"/>
          </a:xfrm>
          <a:prstGeom prst="ellipse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10750" y="1304925"/>
            <a:ext cx="3238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10750" y="1733550"/>
            <a:ext cx="20002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A67C3D"/>
                </a:solidFill>
                <a:latin typeface="Arial"/>
              </a:rPr>
              <a:t>YEAR 2 ONWARD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10750" y="1924050"/>
            <a:ext cx="2000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52530"/>
                </a:solidFill>
                <a:latin typeface="Arial"/>
              </a:rPr>
              <a:t>Scale to sovereignty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10750" y="2362200"/>
            <a:ext cx="19050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Dedicated classified facility and the wider sovereign stack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810750" y="3105150"/>
            <a:ext cx="1809750" cy="9525"/>
          </a:xfrm>
          <a:prstGeom prst="rect">
            <a:avLst/>
          </a:prstGeom>
          <a:solidFill>
            <a:srgbClr val="E0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10750" y="3200400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25" b="1" i="0">
                <a:solidFill>
                  <a:srgbClr val="093F52"/>
                </a:solidFill>
                <a:latin typeface="Arial"/>
              </a:rPr>
              <a:t>You get. </a:t>
            </a:r>
            <a:r>
              <a:rPr sz="1125" b="0" i="0">
                <a:solidFill>
                  <a:srgbClr val="41535D"/>
                </a:solidFill>
                <a:latin typeface="Arial"/>
              </a:rPr>
              <a:t>Full national capability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3771900"/>
            <a:ext cx="571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093F52"/>
                </a:solidFill>
                <a:latin typeface="Arial"/>
              </a:rPr>
              <a:t>PREREQUISITES TO ENABLE THIS ROADMAP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000500"/>
            <a:ext cx="2705100" cy="1714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4000500"/>
            <a:ext cx="2705100" cy="28575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7700" y="4191000"/>
            <a:ext cx="2381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093F52"/>
                </a:solidFill>
                <a:latin typeface="Arial"/>
              </a:rPr>
              <a:t>Leadership mandate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7700" y="4495800"/>
            <a:ext cx="23812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52530"/>
                </a:solidFill>
                <a:latin typeface="Arial"/>
              </a:rPr>
              <a:t>A Presidential order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700" y="4991100"/>
            <a:ext cx="2381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One accountable owner named by Sərəncam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314700" y="4000500"/>
            <a:ext cx="2705100" cy="1714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314700" y="4000500"/>
            <a:ext cx="2705100" cy="28575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05200" y="4191000"/>
            <a:ext cx="2381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093F52"/>
                </a:solidFill>
                <a:latin typeface="Arial"/>
              </a:rPr>
              <a:t>Data classification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05200" y="4495800"/>
            <a:ext cx="23812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52530"/>
                </a:solidFill>
                <a:latin typeface="Arial"/>
              </a:rPr>
              <a:t>State tiers applied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05200" y="4991100"/>
            <a:ext cx="2381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So every task maps to the right environment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72200" y="4000500"/>
            <a:ext cx="2705100" cy="1714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172200" y="4000500"/>
            <a:ext cx="2705100" cy="28575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62700" y="4191000"/>
            <a:ext cx="2381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093F52"/>
                </a:solidFill>
                <a:latin typeface="Arial"/>
              </a:rPr>
              <a:t>Enterprise agreement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62700" y="4495800"/>
            <a:ext cx="23812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52530"/>
                </a:solidFill>
                <a:latin typeface="Arial"/>
              </a:rPr>
              <a:t>Contract in place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62700" y="4991100"/>
            <a:ext cx="2381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No training on data, central control, full audit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029700" y="4000500"/>
            <a:ext cx="2705100" cy="1714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029700" y="4000500"/>
            <a:ext cx="2705100" cy="28575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20200" y="4191000"/>
            <a:ext cx="2381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093F52"/>
                </a:solidFill>
                <a:latin typeface="Arial"/>
              </a:rPr>
              <a:t>Funding &amp; security path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20200" y="4495800"/>
            <a:ext cx="23812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52530"/>
                </a:solidFill>
                <a:latin typeface="Arial"/>
              </a:rPr>
              <a:t>Budget and sign off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20200" y="4991100"/>
            <a:ext cx="2381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 b="0" i="0">
                <a:solidFill>
                  <a:srgbClr val="41535D"/>
                </a:solidFill>
                <a:latin typeface="Arial"/>
              </a:rPr>
              <a:t>Funding committed and state security accreditation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6324600"/>
            <a:ext cx="11277600" cy="9525"/>
          </a:xfrm>
          <a:prstGeom prst="rect">
            <a:avLst/>
          </a:prstGeom>
          <a:solidFill>
            <a:srgbClr val="E0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6400800"/>
            <a:ext cx="857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88892"/>
                </a:solidFill>
                <a:latin typeface="Arial"/>
              </a:rPr>
              <a:t>Classification decides everything, value arrives early and compounds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25000" y="6400800"/>
            <a:ext cx="2209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788892"/>
                </a:solidFill>
                <a:latin typeface="Arial"/>
              </a:rPr>
              <a:t>Section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