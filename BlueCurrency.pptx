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1 — Introduction. Blue Currency is the first agentic AI platform that runs the entire construction lifecycle, end to end. Modules: orchestration, unified BoQ, dynamic CAPEX, tender evaluation, procurement and progress tracking, plus optional Value Optimizer. Built on existing McKinsey assets.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2 — The problem. Even market leaders still run these workflows manually. Severity is shown separately for leaders and developing players. Developing players consistently hurt more. Consequence of each gap is in the third column; Blue Currency response in the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3 — Competitive landscape as four archetypes. Axes: AI-native reasoning (up) and breadth of lifecycle coverage (right). Blue Currency sits in the middle of the matrix, not in the top-right corner. Top-right (agentic + end to end) is empty — no one is there yet. AI specialists: Kreo, Buildots, Costify, Zebel, ConWize, Ediphi, Doxel, OpenSpace, ALICE, nPlan. Point tools: Bluebeam, PlanSwift, RIB CostX, RIB Candy, Sage Estimating, Causeway, Excel. Enterprise suites: Oracle, Procore, RIB iTWO, Cleopatra, SAP Ariba, Autodesk ACC, InEight, Trimble, Jaggaer.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4 — Competitive deep dive. Box colour is the group's coverage of that module, not each vendor.</a:t>
            </a:r>
          </a:p>
          <a:p/>
          <a:p>
            <a:r>
              <a:t>VENDOR EVIDENCE (from the HTML hover notes)</a:t>
            </a:r>
          </a:p>
          <a:p/>
          <a:p>
            <a:r>
              <a:t>End to End Agentic Orchestration</a:t>
            </a:r>
          </a:p>
          <a:p>
            <a:r>
              <a:t>• RIB iTWO — Connects estimating and controls inside one suite. Integration between modules, not an agentic learning model.</a:t>
            </a:r>
          </a:p>
          <a:p>
            <a:r>
              <a:t>• Oracle — Spans schedule, cost and capital planning. Broad, but configured by experts rather than reasoned by agents.</a:t>
            </a:r>
          </a:p>
          <a:p>
            <a:r>
              <a:t>• InEight — Estimating through to field execution in one platform, driven by workflow and rules rather than agents.</a:t>
            </a:r>
          </a:p>
          <a:p>
            <a:r>
              <a:t>• Kreo — Takeoff and estimating only. Nothing carries forward into tendering, procurement or site control.</a:t>
            </a:r>
          </a:p>
          <a:p>
            <a:r>
              <a:t>• Buildots — Site progress only. No link back to the BoQ, the budget or the procurement pipeline.</a:t>
            </a:r>
          </a:p>
          <a:p>
            <a:r>
              <a:t>• ConWize — Tendering only. The model stops once the contract is awarded.</a:t>
            </a:r>
          </a:p>
          <a:p/>
          <a:p>
            <a:r>
              <a:t>AI Generated Unified BoQ</a:t>
            </a:r>
          </a:p>
          <a:p>
            <a:r>
              <a:t>• Cleopatra — Configurable cost-breakdown structures. Mapping items into it stays expert-led.</a:t>
            </a:r>
          </a:p>
          <a:p>
            <a:r>
              <a:t>• RIB CostX — Measured takeoff and BoQs from drawings. No automatic coding of any incoming format.</a:t>
            </a:r>
          </a:p>
          <a:p>
            <a:r>
              <a:t>• Trimble — Maintains cost libraries. Mapping third-party formats remains manual.</a:t>
            </a:r>
          </a:p>
          <a:p>
            <a:r>
              <a:t>• Costify — Turns BoQs into a classified private database. Data, not a live BoQ engine.</a:t>
            </a:r>
          </a:p>
          <a:p>
            <a:r>
              <a:t>• Zebel — Standardizes historical spreadsheets into a cost database, not one unified BoQ.</a:t>
            </a:r>
          </a:p>
          <a:p>
            <a:r>
              <a:t>• ConWize — Imports and manages BoQs for tendering, limited automatic standardization.</a:t>
            </a:r>
          </a:p>
          <a:p/>
          <a:p>
            <a:r>
              <a:t>Dynamic Bottom Up CAPEX</a:t>
            </a:r>
          </a:p>
          <a:p>
            <a:r>
              <a:t>• RIB CostX — Bottom-up estimating from measured quantities, using maintained rates rather than live market drivers.</a:t>
            </a:r>
          </a:p>
          <a:p>
            <a:r>
              <a:t>• Cleopatra — Estimating and benchmarking driven by rules and cost libraries.</a:t>
            </a:r>
          </a:p>
          <a:p>
            <a:r>
              <a:t>• InEight — Cost estimating and project controls. Capable engine, still planner-driven.</a:t>
            </a:r>
          </a:p>
          <a:p>
            <a:r>
              <a:t>• Zebel — Conceptual estimates from a firm's own history. Preconstruction focus.</a:t>
            </a:r>
          </a:p>
          <a:p>
            <a:r>
              <a:t>• Kreo — AI takeoff from drawings through to quantities and estimates. One step, done well.</a:t>
            </a:r>
          </a:p>
          <a:p>
            <a:r>
              <a:t>• Ediphi — Preconstruction estimating and early bid leveling, not live bottom-up CAPEX.</a:t>
            </a:r>
          </a:p>
          <a:p/>
          <a:p>
            <a:r>
              <a:t>Smart Tender Bid Evaluation</a:t>
            </a:r>
          </a:p>
          <a:p>
            <a:r>
              <a:t>• Cleopatra — Standardized bid comparison once data is already structured. Setup is expert-heavy.</a:t>
            </a:r>
          </a:p>
          <a:p>
            <a:r>
              <a:t>• SAP Ariba — Sourcing and bid workflow. Generic, not construction-BoQ native.</a:t>
            </a:r>
          </a:p>
          <a:p>
            <a:r>
              <a:t>• Jaggaer — Generic sourcing and scoring. Not built to normalize construction BoQs line by line.</a:t>
            </a:r>
          </a:p>
          <a:p>
            <a:r>
              <a:t>• ConWize — Line-by-line BoQ bid comparison that flags anomalies. Strong at tendering only.</a:t>
            </a:r>
          </a:p>
          <a:p>
            <a:r>
              <a:t>• Zebel — Bid leveling against historical unit prices. A preconstruction worksheet.</a:t>
            </a:r>
          </a:p>
          <a:p>
            <a:r>
              <a:t>• Ediphi — Early-stage bid leveling, not full tender evaluation through to award.</a:t>
            </a:r>
          </a:p>
          <a:p/>
          <a:p>
            <a:r>
              <a:t>Procurement and Progress Tracking</a:t>
            </a:r>
          </a:p>
          <a:p>
            <a:r>
              <a:t>• Procore — Project and field management. Manual site reporting still feeds it.</a:t>
            </a:r>
          </a:p>
          <a:p>
            <a:r>
              <a:t>• Oracle Primavera — Schedule and earned-value controls. Strong on plan, weak as a quantity gatekeeper.</a:t>
            </a:r>
          </a:p>
          <a:p>
            <a:r>
              <a:t>• Autodesk ACC — Construction cloud for models, issues and field data. Coordination, not agentic cost control.</a:t>
            </a:r>
          </a:p>
          <a:p>
            <a:r>
              <a:t>• Buildots — AI compares site captures against BIM and schedule. Best-in-class for that step alone.</a:t>
            </a:r>
          </a:p>
          <a:p>
            <a:r>
              <a:t>• Doxel — Reality capture versus plan. Progress evidence, not procurement control.</a:t>
            </a:r>
          </a:p>
          <a:p>
            <a:r>
              <a:t>• OpenSpace — 360 capture and visual progress documentation. No agentic check on quantities.</a:t>
            </a:r>
          </a:p>
          <a:p/>
          <a:p>
            <a:r>
              <a:t>Value Optimizer</a:t>
            </a:r>
          </a:p>
          <a:p>
            <a:r>
              <a:t>• Cleopatra — Static what-if analysis on an estimate. Not a continuous savings loop.</a:t>
            </a:r>
          </a:p>
          <a:p>
            <a:r>
              <a:t>• RIB iTWO — Scenario comparison inside the estimate. No always-on value-engineering loop.</a:t>
            </a:r>
          </a:p>
          <a:p>
            <a:r>
              <a:t>• Oracle — Capital planning and portfolio what-ifs, run by analysts at decision points.</a:t>
            </a:r>
          </a:p>
          <a:p>
            <a:r>
              <a:t>• ALICE Technologies — Schedule optioneering. Time, not a cost-value loop.</a:t>
            </a:r>
          </a:p>
          <a:p>
            <a:r>
              <a:t>• nPlan — AI schedule-risk forecasting from past programmes. Time risk, not continuous cost value.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201168"/>
            <a:ext cx="11338560" cy="256032"/>
          </a:xfrm>
          <a:prstGeom prst="rect">
            <a:avLst/>
          </a:prstGeom>
          <a:noFill/>
        </p:spPr>
        <p:txBody>
          <a:bodyPr wrap="square" anchor="t"/>
          <a:lstStyle/>
          <a:p>
            <a:pPr algn="l"/>
            <a:r>
              <a:rPr sz="1400" b="1">
                <a:solidFill>
                  <a:srgbClr val="0B7F77"/>
                </a:solidFill>
                <a:latin typeface="Calibri"/>
              </a:rPr>
              <a:t>BLUE CURRENCY  |  AGENTIC AI FOR REAL ESTATE DEVELOPMENT AND CONSTRUCTION</a:t>
            </a:r>
          </a:p>
        </p:txBody>
      </p:sp>
      <p:sp>
        <p:nvSpPr>
          <p:cNvPr id="4" name="TextBox 3"/>
          <p:cNvSpPr txBox="1"/>
          <p:nvPr/>
        </p:nvSpPr>
        <p:spPr>
          <a:xfrm>
            <a:off x="384048" y="420624"/>
            <a:ext cx="11430000" cy="438912"/>
          </a:xfrm>
          <a:prstGeom prst="rect">
            <a:avLst/>
          </a:prstGeom>
          <a:noFill/>
        </p:spPr>
        <p:txBody>
          <a:bodyPr wrap="square">
            <a:spAutoFit/>
          </a:bodyPr>
          <a:lstStyle/>
          <a:p>
            <a:r>
              <a:rPr sz="2500" b="1">
                <a:solidFill>
                  <a:srgbClr val="26303A"/>
                </a:solidFill>
                <a:latin typeface="Calibri"/>
              </a:rPr>
              <a:t>Blue Currency is the </a:t>
            </a:r>
            <a:r>
              <a:rPr sz="2500" b="1">
                <a:solidFill>
                  <a:srgbClr val="0A5F59"/>
                </a:solidFill>
                <a:latin typeface="Calibri"/>
              </a:rPr>
              <a:t>first agentic AI platform</a:t>
            </a:r>
            <a:r>
              <a:rPr sz="2500" b="1">
                <a:solidFill>
                  <a:srgbClr val="26303A"/>
                </a:solidFill>
                <a:latin typeface="Calibri"/>
              </a:rPr>
              <a:t> that runs the entire construction lifecycle, end to end</a:t>
            </a:r>
          </a:p>
        </p:txBody>
      </p:sp>
      <p:sp>
        <p:nvSpPr>
          <p:cNvPr id="5" name="Rounded Rectangle 4"/>
          <p:cNvSpPr/>
          <p:nvPr/>
        </p:nvSpPr>
        <p:spPr>
          <a:xfrm>
            <a:off x="384048" y="987552"/>
            <a:ext cx="6537960" cy="5596128"/>
          </a:xfrm>
          <a:prstGeom prst="roundRect">
            <a:avLst>
              <a:gd name="adj" fmla="val 8000"/>
            </a:avLst>
          </a:prstGeom>
          <a:solidFill>
            <a:srgbClr val="F3FAF9"/>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115568"/>
            <a:ext cx="6172200" cy="530352"/>
          </a:xfrm>
          <a:prstGeom prst="roundRect">
            <a:avLst>
              <a:gd name="adj" fmla="val 12000"/>
            </a:avLst>
          </a:prstGeom>
          <a:solidFill>
            <a:srgbClr val="0A5F59"/>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a:solidFill>
                  <a:srgbClr val="FFFFFF"/>
                </a:solidFill>
                <a:latin typeface="Calibri"/>
              </a:rPr>
              <a:t>1     End to End Agentic Orchestration for Construction Lifecycle Management</a:t>
            </a:r>
          </a:p>
        </p:txBody>
      </p:sp>
      <p:sp>
        <p:nvSpPr>
          <p:cNvPr id="7" name="Rounded Rectangle 6"/>
          <p:cNvSpPr/>
          <p:nvPr/>
        </p:nvSpPr>
        <p:spPr>
          <a:xfrm>
            <a:off x="566928" y="1792224"/>
            <a:ext cx="1444752" cy="1078992"/>
          </a:xfrm>
          <a:prstGeom prst="roundRect">
            <a:avLst>
              <a:gd name="adj" fmla="val 1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97280" y="1883664"/>
            <a:ext cx="347472" cy="347472"/>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Calibri"/>
              </a:rPr>
              <a:t>2</a:t>
            </a:r>
          </a:p>
        </p:txBody>
      </p:sp>
      <p:sp>
        <p:nvSpPr>
          <p:cNvPr id="9" name="TextBox 8"/>
          <p:cNvSpPr txBox="1"/>
          <p:nvPr/>
        </p:nvSpPr>
        <p:spPr>
          <a:xfrm>
            <a:off x="621792" y="2267712"/>
            <a:ext cx="1335024" cy="548640"/>
          </a:xfrm>
          <a:prstGeom prst="rect">
            <a:avLst/>
          </a:prstGeom>
          <a:noFill/>
        </p:spPr>
        <p:txBody>
          <a:bodyPr wrap="square" anchor="t"/>
          <a:lstStyle/>
          <a:p>
            <a:pPr algn="ctr"/>
            <a:r>
              <a:rPr sz="1400" b="1">
                <a:solidFill>
                  <a:srgbClr val="26303A"/>
                </a:solidFill>
                <a:latin typeface="Calibri"/>
              </a:rPr>
              <a:t>AI Generated Unified BoQ</a:t>
            </a:r>
          </a:p>
        </p:txBody>
      </p:sp>
      <p:sp>
        <p:nvSpPr>
          <p:cNvPr id="10" name="Rounded Rectangle 9"/>
          <p:cNvSpPr/>
          <p:nvPr/>
        </p:nvSpPr>
        <p:spPr>
          <a:xfrm>
            <a:off x="2121408" y="1792224"/>
            <a:ext cx="1444752" cy="1078992"/>
          </a:xfrm>
          <a:prstGeom prst="roundRect">
            <a:avLst>
              <a:gd name="adj" fmla="val 1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51760" y="1883664"/>
            <a:ext cx="347472" cy="347472"/>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Calibri"/>
              </a:rPr>
              <a:t>3</a:t>
            </a:r>
          </a:p>
        </p:txBody>
      </p:sp>
      <p:sp>
        <p:nvSpPr>
          <p:cNvPr id="12" name="TextBox 11"/>
          <p:cNvSpPr txBox="1"/>
          <p:nvPr/>
        </p:nvSpPr>
        <p:spPr>
          <a:xfrm>
            <a:off x="2176272" y="2267712"/>
            <a:ext cx="1335024" cy="548640"/>
          </a:xfrm>
          <a:prstGeom prst="rect">
            <a:avLst/>
          </a:prstGeom>
          <a:noFill/>
        </p:spPr>
        <p:txBody>
          <a:bodyPr wrap="square" anchor="t"/>
          <a:lstStyle/>
          <a:p>
            <a:pPr algn="ctr"/>
            <a:r>
              <a:rPr sz="1400" b="1">
                <a:solidFill>
                  <a:srgbClr val="26303A"/>
                </a:solidFill>
                <a:latin typeface="Calibri"/>
              </a:rPr>
              <a:t>Dynamic Bottom Up CAPEX Estimation</a:t>
            </a:r>
          </a:p>
        </p:txBody>
      </p:sp>
      <p:sp>
        <p:nvSpPr>
          <p:cNvPr id="13" name="Rounded Rectangle 12"/>
          <p:cNvSpPr/>
          <p:nvPr/>
        </p:nvSpPr>
        <p:spPr>
          <a:xfrm>
            <a:off x="3675888" y="1792224"/>
            <a:ext cx="1444752" cy="1078992"/>
          </a:xfrm>
          <a:prstGeom prst="roundRect">
            <a:avLst>
              <a:gd name="adj" fmla="val 1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206240" y="1883664"/>
            <a:ext cx="347472" cy="347472"/>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Calibri"/>
              </a:rPr>
              <a:t>4</a:t>
            </a:r>
          </a:p>
        </p:txBody>
      </p:sp>
      <p:sp>
        <p:nvSpPr>
          <p:cNvPr id="15" name="TextBox 14"/>
          <p:cNvSpPr txBox="1"/>
          <p:nvPr/>
        </p:nvSpPr>
        <p:spPr>
          <a:xfrm>
            <a:off x="3730752" y="2267712"/>
            <a:ext cx="1335024" cy="548640"/>
          </a:xfrm>
          <a:prstGeom prst="rect">
            <a:avLst/>
          </a:prstGeom>
          <a:noFill/>
        </p:spPr>
        <p:txBody>
          <a:bodyPr wrap="square" anchor="t"/>
          <a:lstStyle/>
          <a:p>
            <a:pPr algn="ctr"/>
            <a:r>
              <a:rPr sz="1400" b="1">
                <a:solidFill>
                  <a:srgbClr val="26303A"/>
                </a:solidFill>
                <a:latin typeface="Calibri"/>
              </a:rPr>
              <a:t>Smart Tender Bid Evaluation</a:t>
            </a:r>
          </a:p>
        </p:txBody>
      </p:sp>
      <p:sp>
        <p:nvSpPr>
          <p:cNvPr id="16" name="Rounded Rectangle 15"/>
          <p:cNvSpPr/>
          <p:nvPr/>
        </p:nvSpPr>
        <p:spPr>
          <a:xfrm>
            <a:off x="5230368" y="1792224"/>
            <a:ext cx="1444752" cy="1078992"/>
          </a:xfrm>
          <a:prstGeom prst="roundRect">
            <a:avLst>
              <a:gd name="adj" fmla="val 1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760720" y="1883664"/>
            <a:ext cx="347472" cy="347472"/>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Calibri"/>
              </a:rPr>
              <a:t>5</a:t>
            </a:r>
          </a:p>
        </p:txBody>
      </p:sp>
      <p:sp>
        <p:nvSpPr>
          <p:cNvPr id="18" name="TextBox 17"/>
          <p:cNvSpPr txBox="1"/>
          <p:nvPr/>
        </p:nvSpPr>
        <p:spPr>
          <a:xfrm>
            <a:off x="5285232" y="2267712"/>
            <a:ext cx="1335024" cy="548640"/>
          </a:xfrm>
          <a:prstGeom prst="rect">
            <a:avLst/>
          </a:prstGeom>
          <a:noFill/>
        </p:spPr>
        <p:txBody>
          <a:bodyPr wrap="square" anchor="t"/>
          <a:lstStyle/>
          <a:p>
            <a:pPr algn="ctr"/>
            <a:r>
              <a:rPr sz="1400" b="1">
                <a:solidFill>
                  <a:srgbClr val="26303A"/>
                </a:solidFill>
                <a:latin typeface="Calibri"/>
              </a:rPr>
              <a:t>Agentic Cost Realization Tracking</a:t>
            </a:r>
          </a:p>
        </p:txBody>
      </p:sp>
      <p:sp>
        <p:nvSpPr>
          <p:cNvPr id="19" name="Rounded Rectangle 18"/>
          <p:cNvSpPr/>
          <p:nvPr/>
        </p:nvSpPr>
        <p:spPr>
          <a:xfrm>
            <a:off x="566928" y="3017520"/>
            <a:ext cx="6172200" cy="457200"/>
          </a:xfrm>
          <a:prstGeom prst="roundRect">
            <a:avLst>
              <a:gd name="adj" fmla="val 10000"/>
            </a:avLst>
          </a:prstGeom>
          <a:solidFill>
            <a:srgbClr val="FFFFFF"/>
          </a:solidFill>
          <a:ln w="15875">
            <a:solidFill>
              <a:srgbClr val="B97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697480" y="3090672"/>
            <a:ext cx="310896" cy="310896"/>
          </a:xfrm>
          <a:prstGeom prst="ellipse">
            <a:avLst/>
          </a:prstGeom>
          <a:solidFill>
            <a:srgbClr val="B97D1E"/>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Calibri"/>
              </a:rPr>
              <a:t>6</a:t>
            </a:r>
          </a:p>
        </p:txBody>
      </p:sp>
      <p:sp>
        <p:nvSpPr>
          <p:cNvPr id="21" name="TextBox 20"/>
          <p:cNvSpPr txBox="1"/>
          <p:nvPr/>
        </p:nvSpPr>
        <p:spPr>
          <a:xfrm>
            <a:off x="3063240" y="3090672"/>
            <a:ext cx="2651760" cy="310896"/>
          </a:xfrm>
          <a:prstGeom prst="rect">
            <a:avLst/>
          </a:prstGeom>
          <a:noFill/>
        </p:spPr>
        <p:txBody>
          <a:bodyPr wrap="square" anchor="ctr"/>
          <a:lstStyle/>
          <a:p>
            <a:pPr algn="l"/>
            <a:r>
              <a:rPr sz="1500" b="1">
                <a:solidFill>
                  <a:srgbClr val="B97D1E"/>
                </a:solidFill>
                <a:latin typeface="Calibri"/>
              </a:rPr>
              <a:t>AI-Based Value Optimizer</a:t>
            </a:r>
          </a:p>
        </p:txBody>
      </p:sp>
      <p:sp>
        <p:nvSpPr>
          <p:cNvPr id="22" name="Rounded Rectangle 21"/>
          <p:cNvSpPr/>
          <p:nvPr/>
        </p:nvSpPr>
        <p:spPr>
          <a:xfrm>
            <a:off x="566928" y="3621024"/>
            <a:ext cx="6172200" cy="658368"/>
          </a:xfrm>
          <a:prstGeom prst="roundRect">
            <a:avLst>
              <a:gd name="adj" fmla="val 10000"/>
            </a:avLst>
          </a:prstGeom>
          <a:solidFill>
            <a:srgbClr val="0E2A31"/>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a:solidFill>
                  <a:srgbClr val="FFFFFF"/>
                </a:solidFill>
                <a:latin typeface="Calibri"/>
              </a:rPr>
              <a:t>AGENTIC AI CORE
the reasoning engine that powers end to end orchestration</a:t>
            </a:r>
          </a:p>
        </p:txBody>
      </p:sp>
      <p:sp>
        <p:nvSpPr>
          <p:cNvPr id="23" name="TextBox 22"/>
          <p:cNvSpPr txBox="1"/>
          <p:nvPr/>
        </p:nvSpPr>
        <p:spPr>
          <a:xfrm>
            <a:off x="566928" y="4389120"/>
            <a:ext cx="6172200" cy="237744"/>
          </a:xfrm>
          <a:prstGeom prst="rect">
            <a:avLst/>
          </a:prstGeom>
          <a:noFill/>
        </p:spPr>
        <p:txBody>
          <a:bodyPr wrap="square" anchor="t"/>
          <a:lstStyle/>
          <a:p>
            <a:pPr algn="ctr"/>
            <a:r>
              <a:rPr sz="1200" b="1">
                <a:solidFill>
                  <a:srgbClr val="6B7580"/>
                </a:solidFill>
                <a:latin typeface="Calibri"/>
              </a:rPr>
              <a:t>BUILT ON EXISTING MCKINSEY ASSETS</a:t>
            </a:r>
          </a:p>
        </p:txBody>
      </p:sp>
      <p:sp>
        <p:nvSpPr>
          <p:cNvPr id="24" name="Rectangle 23"/>
          <p:cNvSpPr/>
          <p:nvPr/>
        </p:nvSpPr>
        <p:spPr>
          <a:xfrm>
            <a:off x="1280160" y="4645152"/>
            <a:ext cx="4754880" cy="13716"/>
          </a:xfrm>
          <a:prstGeom prst="rect">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66928" y="4828032"/>
            <a:ext cx="960120" cy="621792"/>
          </a:xfrm>
          <a:prstGeom prst="roundRect">
            <a:avLst>
              <a:gd name="adj" fmla="val 50000"/>
            </a:avLst>
          </a:prstGeom>
          <a:solidFill>
            <a:srgbClr val="FFFFFF"/>
          </a:solidFill>
          <a:ln w="12700">
            <a:solidFill>
              <a:srgbClr val="0A5F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0A5F59"/>
                </a:solidFill>
                <a:latin typeface="Calibri"/>
              </a:rPr>
              <a:t>SourceAI</a:t>
            </a:r>
          </a:p>
        </p:txBody>
      </p:sp>
      <p:sp>
        <p:nvSpPr>
          <p:cNvPr id="26" name="Rounded Rectangle 25"/>
          <p:cNvSpPr/>
          <p:nvPr/>
        </p:nvSpPr>
        <p:spPr>
          <a:xfrm>
            <a:off x="1600200" y="4828032"/>
            <a:ext cx="960120" cy="621792"/>
          </a:xfrm>
          <a:prstGeom prst="roundRect">
            <a:avLst>
              <a:gd name="adj" fmla="val 50000"/>
            </a:avLst>
          </a:prstGeom>
          <a:solidFill>
            <a:srgbClr val="FFFFFF"/>
          </a:solidFill>
          <a:ln w="12700">
            <a:solidFill>
              <a:srgbClr val="0A5F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0A5F59"/>
                </a:solidFill>
                <a:latin typeface="Calibri"/>
              </a:rPr>
              <a:t>ContractAI</a:t>
            </a:r>
          </a:p>
        </p:txBody>
      </p:sp>
      <p:sp>
        <p:nvSpPr>
          <p:cNvPr id="27" name="Rounded Rectangle 26"/>
          <p:cNvSpPr/>
          <p:nvPr/>
        </p:nvSpPr>
        <p:spPr>
          <a:xfrm>
            <a:off x="2633472" y="4828032"/>
            <a:ext cx="960120" cy="621792"/>
          </a:xfrm>
          <a:prstGeom prst="roundRect">
            <a:avLst>
              <a:gd name="adj" fmla="val 50000"/>
            </a:avLst>
          </a:prstGeom>
          <a:solidFill>
            <a:srgbClr val="FFFFFF"/>
          </a:solidFill>
          <a:ln w="12700">
            <a:solidFill>
              <a:srgbClr val="0A5F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0A5F59"/>
                </a:solidFill>
                <a:latin typeface="Calibri"/>
              </a:rPr>
              <a:t>CleanSheetAI</a:t>
            </a:r>
          </a:p>
        </p:txBody>
      </p:sp>
      <p:sp>
        <p:nvSpPr>
          <p:cNvPr id="28" name="Rounded Rectangle 27"/>
          <p:cNvSpPr/>
          <p:nvPr/>
        </p:nvSpPr>
        <p:spPr>
          <a:xfrm>
            <a:off x="3666744" y="4828032"/>
            <a:ext cx="960120" cy="621792"/>
          </a:xfrm>
          <a:prstGeom prst="roundRect">
            <a:avLst>
              <a:gd name="adj" fmla="val 50000"/>
            </a:avLst>
          </a:prstGeom>
          <a:solidFill>
            <a:srgbClr val="FFFFFF"/>
          </a:solidFill>
          <a:ln w="12700">
            <a:solidFill>
              <a:srgbClr val="0A5F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0A5F59"/>
                </a:solidFill>
                <a:latin typeface="Calibri"/>
              </a:rPr>
              <a:t>Procurement Control Tower</a:t>
            </a:r>
          </a:p>
        </p:txBody>
      </p:sp>
      <p:sp>
        <p:nvSpPr>
          <p:cNvPr id="29" name="Rounded Rectangle 28"/>
          <p:cNvSpPr/>
          <p:nvPr/>
        </p:nvSpPr>
        <p:spPr>
          <a:xfrm>
            <a:off x="4700016" y="4828032"/>
            <a:ext cx="960120" cy="621792"/>
          </a:xfrm>
          <a:prstGeom prst="roundRect">
            <a:avLst>
              <a:gd name="adj" fmla="val 50000"/>
            </a:avLst>
          </a:prstGeom>
          <a:solidFill>
            <a:srgbClr val="FFFFFF"/>
          </a:solidFill>
          <a:ln w="12700">
            <a:solidFill>
              <a:srgbClr val="0A5F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0A5F59"/>
                </a:solidFill>
                <a:latin typeface="Calibri"/>
              </a:rPr>
              <a:t>Construction Control Tower</a:t>
            </a:r>
          </a:p>
        </p:txBody>
      </p:sp>
      <p:sp>
        <p:nvSpPr>
          <p:cNvPr id="30" name="Rounded Rectangle 29"/>
          <p:cNvSpPr/>
          <p:nvPr/>
        </p:nvSpPr>
        <p:spPr>
          <a:xfrm>
            <a:off x="5733288" y="4828032"/>
            <a:ext cx="960120" cy="621792"/>
          </a:xfrm>
          <a:prstGeom prst="roundRect">
            <a:avLst>
              <a:gd name="adj" fmla="val 50000"/>
            </a:avLst>
          </a:prstGeom>
          <a:solidFill>
            <a:srgbClr val="FFFFFF"/>
          </a:solidFill>
          <a:ln w="12700">
            <a:solidFill>
              <a:srgbClr val="0A5F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a:solidFill>
                  <a:srgbClr val="0A5F59"/>
                </a:solidFill>
                <a:latin typeface="Calibri"/>
              </a:rPr>
              <a:t>Other assets</a:t>
            </a:r>
          </a:p>
        </p:txBody>
      </p:sp>
      <p:sp>
        <p:nvSpPr>
          <p:cNvPr id="31" name="TextBox 30"/>
          <p:cNvSpPr txBox="1"/>
          <p:nvPr/>
        </p:nvSpPr>
        <p:spPr>
          <a:xfrm>
            <a:off x="7114032" y="987552"/>
            <a:ext cx="4681728" cy="256032"/>
          </a:xfrm>
          <a:prstGeom prst="rect">
            <a:avLst/>
          </a:prstGeom>
          <a:noFill/>
        </p:spPr>
        <p:txBody>
          <a:bodyPr wrap="square" anchor="t"/>
          <a:lstStyle/>
          <a:p>
            <a:pPr algn="l"/>
            <a:r>
              <a:rPr sz="1200" b="1">
                <a:solidFill>
                  <a:srgbClr val="26303A"/>
                </a:solidFill>
                <a:latin typeface="Calibri"/>
              </a:rPr>
              <a:t>WHAT EACH MODULE DOES</a:t>
            </a:r>
          </a:p>
        </p:txBody>
      </p:sp>
      <p:sp>
        <p:nvSpPr>
          <p:cNvPr id="32" name="Rectangle 31"/>
          <p:cNvSpPr/>
          <p:nvPr/>
        </p:nvSpPr>
        <p:spPr>
          <a:xfrm>
            <a:off x="7114032" y="1243584"/>
            <a:ext cx="4681728" cy="18288"/>
          </a:xfrm>
          <a:prstGeom prst="rect">
            <a:avLst/>
          </a:prstGeom>
          <a:solidFill>
            <a:srgbClr val="263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14032" y="1371600"/>
            <a:ext cx="292608" cy="292608"/>
          </a:xfrm>
          <a:prstGeom prst="ellipse">
            <a:avLst/>
          </a:prstGeom>
          <a:solidFill>
            <a:srgbClr val="0A5F59"/>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1</a:t>
            </a:r>
          </a:p>
        </p:txBody>
      </p:sp>
      <p:sp>
        <p:nvSpPr>
          <p:cNvPr id="34" name="TextBox 33"/>
          <p:cNvSpPr txBox="1"/>
          <p:nvPr/>
        </p:nvSpPr>
        <p:spPr>
          <a:xfrm>
            <a:off x="7479792" y="1335024"/>
            <a:ext cx="4315968" cy="219456"/>
          </a:xfrm>
          <a:prstGeom prst="rect">
            <a:avLst/>
          </a:prstGeom>
          <a:noFill/>
        </p:spPr>
        <p:txBody>
          <a:bodyPr wrap="square" anchor="t"/>
          <a:lstStyle/>
          <a:p>
            <a:pPr algn="l"/>
            <a:r>
              <a:rPr sz="1400" b="1">
                <a:solidFill>
                  <a:srgbClr val="26303A"/>
                </a:solidFill>
                <a:latin typeface="Calibri"/>
              </a:rPr>
              <a:t>End to End Agentic Orchestration</a:t>
            </a:r>
          </a:p>
        </p:txBody>
      </p:sp>
      <p:sp>
        <p:nvSpPr>
          <p:cNvPr id="35" name="TextBox 34"/>
          <p:cNvSpPr txBox="1"/>
          <p:nvPr/>
        </p:nvSpPr>
        <p:spPr>
          <a:xfrm>
            <a:off x="7479792" y="1536192"/>
            <a:ext cx="4315968" cy="256032"/>
          </a:xfrm>
          <a:prstGeom prst="rect">
            <a:avLst/>
          </a:prstGeom>
          <a:noFill/>
        </p:spPr>
        <p:txBody>
          <a:bodyPr wrap="square" anchor="t"/>
          <a:lstStyle/>
          <a:p>
            <a:pPr algn="l"/>
            <a:r>
              <a:rPr sz="1400" b="0">
                <a:solidFill>
                  <a:srgbClr val="6B7580"/>
                </a:solidFill>
                <a:latin typeface="Calibri"/>
              </a:rPr>
              <a:t>Single platform view to manage projects from project brief to end of construction</a:t>
            </a:r>
          </a:p>
        </p:txBody>
      </p:sp>
      <p:sp>
        <p:nvSpPr>
          <p:cNvPr id="36" name="Rectangle 35"/>
          <p:cNvSpPr/>
          <p:nvPr/>
        </p:nvSpPr>
        <p:spPr>
          <a:xfrm>
            <a:off x="7479792" y="1792224"/>
            <a:ext cx="4315968" cy="9144"/>
          </a:xfrm>
          <a:prstGeom prst="rect">
            <a:avLst/>
          </a:prstGeom>
          <a:solidFill>
            <a:srgbClr val="E3E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14032" y="1883664"/>
            <a:ext cx="292608" cy="292608"/>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2</a:t>
            </a:r>
          </a:p>
        </p:txBody>
      </p:sp>
      <p:sp>
        <p:nvSpPr>
          <p:cNvPr id="38" name="TextBox 37"/>
          <p:cNvSpPr txBox="1"/>
          <p:nvPr/>
        </p:nvSpPr>
        <p:spPr>
          <a:xfrm>
            <a:off x="7479792" y="1847088"/>
            <a:ext cx="4315968" cy="219456"/>
          </a:xfrm>
          <a:prstGeom prst="rect">
            <a:avLst/>
          </a:prstGeom>
          <a:noFill/>
        </p:spPr>
        <p:txBody>
          <a:bodyPr wrap="square" anchor="t"/>
          <a:lstStyle/>
          <a:p>
            <a:pPr algn="l"/>
            <a:r>
              <a:rPr sz="1400" b="1">
                <a:solidFill>
                  <a:srgbClr val="26303A"/>
                </a:solidFill>
                <a:latin typeface="Calibri"/>
              </a:rPr>
              <a:t>AI Generated Unified BoQ</a:t>
            </a:r>
          </a:p>
        </p:txBody>
      </p:sp>
      <p:sp>
        <p:nvSpPr>
          <p:cNvPr id="39" name="TextBox 38"/>
          <p:cNvSpPr txBox="1"/>
          <p:nvPr/>
        </p:nvSpPr>
        <p:spPr>
          <a:xfrm>
            <a:off x="7479792" y="2048256"/>
            <a:ext cx="4315968" cy="256032"/>
          </a:xfrm>
          <a:prstGeom prst="rect">
            <a:avLst/>
          </a:prstGeom>
          <a:noFill/>
        </p:spPr>
        <p:txBody>
          <a:bodyPr wrap="square" anchor="t"/>
          <a:lstStyle/>
          <a:p>
            <a:pPr algn="l"/>
            <a:r>
              <a:rPr sz="1400" b="0">
                <a:solidFill>
                  <a:srgbClr val="6B7580"/>
                </a:solidFill>
                <a:latin typeface="Calibri"/>
              </a:rPr>
              <a:t>AI-based unified BoQ catalog creator and data cleaner at spec level, using the client's dirty historical data</a:t>
            </a:r>
          </a:p>
        </p:txBody>
      </p:sp>
      <p:sp>
        <p:nvSpPr>
          <p:cNvPr id="40" name="Rectangle 39"/>
          <p:cNvSpPr/>
          <p:nvPr/>
        </p:nvSpPr>
        <p:spPr>
          <a:xfrm>
            <a:off x="7479792" y="2304288"/>
            <a:ext cx="4315968" cy="9144"/>
          </a:xfrm>
          <a:prstGeom prst="rect">
            <a:avLst/>
          </a:prstGeom>
          <a:solidFill>
            <a:srgbClr val="E3E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114032" y="2395728"/>
            <a:ext cx="292608" cy="292608"/>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3</a:t>
            </a:r>
          </a:p>
        </p:txBody>
      </p:sp>
      <p:sp>
        <p:nvSpPr>
          <p:cNvPr id="42" name="TextBox 41"/>
          <p:cNvSpPr txBox="1"/>
          <p:nvPr/>
        </p:nvSpPr>
        <p:spPr>
          <a:xfrm>
            <a:off x="7479792" y="2359152"/>
            <a:ext cx="4315968" cy="219456"/>
          </a:xfrm>
          <a:prstGeom prst="rect">
            <a:avLst/>
          </a:prstGeom>
          <a:noFill/>
        </p:spPr>
        <p:txBody>
          <a:bodyPr wrap="square" anchor="t"/>
          <a:lstStyle/>
          <a:p>
            <a:pPr algn="l"/>
            <a:r>
              <a:rPr sz="1400" b="1">
                <a:solidFill>
                  <a:srgbClr val="26303A"/>
                </a:solidFill>
                <a:latin typeface="Calibri"/>
              </a:rPr>
              <a:t>Dynamic Bottom Up CAPEX</a:t>
            </a:r>
          </a:p>
        </p:txBody>
      </p:sp>
      <p:sp>
        <p:nvSpPr>
          <p:cNvPr id="43" name="TextBox 42"/>
          <p:cNvSpPr txBox="1"/>
          <p:nvPr/>
        </p:nvSpPr>
        <p:spPr>
          <a:xfrm>
            <a:off x="7479792" y="2560320"/>
            <a:ext cx="4315968" cy="256032"/>
          </a:xfrm>
          <a:prstGeom prst="rect">
            <a:avLst/>
          </a:prstGeom>
          <a:noFill/>
        </p:spPr>
        <p:txBody>
          <a:bodyPr wrap="square" anchor="t"/>
          <a:lstStyle/>
          <a:p>
            <a:pPr algn="l"/>
            <a:r>
              <a:rPr sz="1400" b="0">
                <a:solidFill>
                  <a:srgbClr val="6B7580"/>
                </a:solidFill>
                <a:latin typeface="Calibri"/>
              </a:rPr>
              <a:t>Item-level cost breakdown structure creator, with live commodity and macro-economic price index integration for forecasting</a:t>
            </a:r>
          </a:p>
        </p:txBody>
      </p:sp>
      <p:sp>
        <p:nvSpPr>
          <p:cNvPr id="44" name="Rectangle 43"/>
          <p:cNvSpPr/>
          <p:nvPr/>
        </p:nvSpPr>
        <p:spPr>
          <a:xfrm>
            <a:off x="7479792" y="2816352"/>
            <a:ext cx="4315968" cy="9144"/>
          </a:xfrm>
          <a:prstGeom prst="rect">
            <a:avLst/>
          </a:prstGeom>
          <a:solidFill>
            <a:srgbClr val="E3E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114032" y="2907792"/>
            <a:ext cx="292608" cy="292608"/>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4</a:t>
            </a:r>
          </a:p>
        </p:txBody>
      </p:sp>
      <p:sp>
        <p:nvSpPr>
          <p:cNvPr id="46" name="TextBox 45"/>
          <p:cNvSpPr txBox="1"/>
          <p:nvPr/>
        </p:nvSpPr>
        <p:spPr>
          <a:xfrm>
            <a:off x="7479792" y="2871216"/>
            <a:ext cx="4315968" cy="219456"/>
          </a:xfrm>
          <a:prstGeom prst="rect">
            <a:avLst/>
          </a:prstGeom>
          <a:noFill/>
        </p:spPr>
        <p:txBody>
          <a:bodyPr wrap="square" anchor="t"/>
          <a:lstStyle/>
          <a:p>
            <a:pPr algn="l"/>
            <a:r>
              <a:rPr sz="1400" b="1">
                <a:solidFill>
                  <a:srgbClr val="26303A"/>
                </a:solidFill>
                <a:latin typeface="Calibri"/>
              </a:rPr>
              <a:t>Smart Tender Bid Evaluation</a:t>
            </a:r>
          </a:p>
        </p:txBody>
      </p:sp>
      <p:sp>
        <p:nvSpPr>
          <p:cNvPr id="47" name="TextBox 46"/>
          <p:cNvSpPr txBox="1"/>
          <p:nvPr/>
        </p:nvSpPr>
        <p:spPr>
          <a:xfrm>
            <a:off x="7479792" y="3072384"/>
            <a:ext cx="4315968" cy="256032"/>
          </a:xfrm>
          <a:prstGeom prst="rect">
            <a:avLst/>
          </a:prstGeom>
          <a:noFill/>
        </p:spPr>
        <p:txBody>
          <a:bodyPr wrap="square" anchor="t"/>
          <a:lstStyle/>
          <a:p>
            <a:pPr algn="l"/>
            <a:r>
              <a:rPr sz="1400" b="0">
                <a:solidFill>
                  <a:srgbClr val="6B7580"/>
                </a:solidFill>
                <a:latin typeface="Calibri"/>
              </a:rPr>
              <a:t>Automatically collects bids, flags outliers and generates an AI-recommended price range to score each bid</a:t>
            </a:r>
          </a:p>
        </p:txBody>
      </p:sp>
      <p:sp>
        <p:nvSpPr>
          <p:cNvPr id="48" name="Rectangle 47"/>
          <p:cNvSpPr/>
          <p:nvPr/>
        </p:nvSpPr>
        <p:spPr>
          <a:xfrm>
            <a:off x="7479792" y="3328416"/>
            <a:ext cx="4315968" cy="9144"/>
          </a:xfrm>
          <a:prstGeom prst="rect">
            <a:avLst/>
          </a:prstGeom>
          <a:solidFill>
            <a:srgbClr val="E3E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7114032" y="3419856"/>
            <a:ext cx="292608" cy="292608"/>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5</a:t>
            </a:r>
          </a:p>
        </p:txBody>
      </p:sp>
      <p:sp>
        <p:nvSpPr>
          <p:cNvPr id="50" name="TextBox 49"/>
          <p:cNvSpPr txBox="1"/>
          <p:nvPr/>
        </p:nvSpPr>
        <p:spPr>
          <a:xfrm>
            <a:off x="7479792" y="3383280"/>
            <a:ext cx="4315968" cy="219456"/>
          </a:xfrm>
          <a:prstGeom prst="rect">
            <a:avLst/>
          </a:prstGeom>
          <a:noFill/>
        </p:spPr>
        <p:txBody>
          <a:bodyPr wrap="square" anchor="t"/>
          <a:lstStyle/>
          <a:p>
            <a:pPr algn="l"/>
            <a:r>
              <a:rPr sz="1400" b="1">
                <a:solidFill>
                  <a:srgbClr val="26303A"/>
                </a:solidFill>
                <a:latin typeface="Calibri"/>
              </a:rPr>
              <a:t>Agentic Cost Realization Tracking</a:t>
            </a:r>
          </a:p>
        </p:txBody>
      </p:sp>
      <p:sp>
        <p:nvSpPr>
          <p:cNvPr id="51" name="TextBox 50"/>
          <p:cNvSpPr txBox="1"/>
          <p:nvPr/>
        </p:nvSpPr>
        <p:spPr>
          <a:xfrm>
            <a:off x="7479792" y="3584448"/>
            <a:ext cx="4315968" cy="256032"/>
          </a:xfrm>
          <a:prstGeom prst="rect">
            <a:avLst/>
          </a:prstGeom>
          <a:noFill/>
        </p:spPr>
        <p:txBody>
          <a:bodyPr wrap="square" anchor="t"/>
          <a:lstStyle/>
          <a:p>
            <a:pPr algn="l"/>
            <a:r>
              <a:rPr sz="1400" b="0">
                <a:solidFill>
                  <a:srgbClr val="6B7580"/>
                </a:solidFill>
                <a:latin typeface="Calibri"/>
              </a:rPr>
              <a:t>Agentic contract and IPC collection to track cost realization and project progress in real time</a:t>
            </a:r>
          </a:p>
        </p:txBody>
      </p:sp>
      <p:sp>
        <p:nvSpPr>
          <p:cNvPr id="52" name="Rectangle 51"/>
          <p:cNvSpPr/>
          <p:nvPr/>
        </p:nvSpPr>
        <p:spPr>
          <a:xfrm>
            <a:off x="7479792" y="3840480"/>
            <a:ext cx="4315968" cy="9144"/>
          </a:xfrm>
          <a:prstGeom prst="rect">
            <a:avLst/>
          </a:prstGeom>
          <a:solidFill>
            <a:srgbClr val="E3E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7114032" y="3931920"/>
            <a:ext cx="292608" cy="292608"/>
          </a:xfrm>
          <a:prstGeom prst="ellipse">
            <a:avLst/>
          </a:prstGeom>
          <a:solidFill>
            <a:srgbClr val="B97D1E"/>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6</a:t>
            </a:r>
          </a:p>
        </p:txBody>
      </p:sp>
      <p:sp>
        <p:nvSpPr>
          <p:cNvPr id="54" name="TextBox 53"/>
          <p:cNvSpPr txBox="1"/>
          <p:nvPr/>
        </p:nvSpPr>
        <p:spPr>
          <a:xfrm>
            <a:off x="7479792" y="3895344"/>
            <a:ext cx="4315968" cy="219456"/>
          </a:xfrm>
          <a:prstGeom prst="rect">
            <a:avLst/>
          </a:prstGeom>
          <a:noFill/>
        </p:spPr>
        <p:txBody>
          <a:bodyPr wrap="square" anchor="t"/>
          <a:lstStyle/>
          <a:p>
            <a:pPr algn="l"/>
            <a:r>
              <a:rPr sz="1400" b="1">
                <a:solidFill>
                  <a:srgbClr val="26303A"/>
                </a:solidFill>
                <a:latin typeface="Calibri"/>
              </a:rPr>
              <a:t>AI-Based Value Optimizer</a:t>
            </a:r>
          </a:p>
        </p:txBody>
      </p:sp>
      <p:sp>
        <p:nvSpPr>
          <p:cNvPr id="55" name="TextBox 54"/>
          <p:cNvSpPr txBox="1"/>
          <p:nvPr/>
        </p:nvSpPr>
        <p:spPr>
          <a:xfrm>
            <a:off x="7479792" y="4096512"/>
            <a:ext cx="4315968" cy="256032"/>
          </a:xfrm>
          <a:prstGeom prst="rect">
            <a:avLst/>
          </a:prstGeom>
          <a:noFill/>
        </p:spPr>
        <p:txBody>
          <a:bodyPr wrap="square" anchor="t"/>
          <a:lstStyle/>
          <a:p>
            <a:pPr algn="l"/>
            <a:r>
              <a:rPr sz="1400" b="0">
                <a:solidFill>
                  <a:srgbClr val="6B7580"/>
                </a:solidFill>
                <a:latin typeface="Calibri"/>
              </a:rPr>
              <a:t>Agentic workflow to predict risks and procurement value optimization opportunities by learning from historical data</a:t>
            </a:r>
          </a:p>
        </p:txBody>
      </p:sp>
      <p:sp>
        <p:nvSpPr>
          <p:cNvPr id="56" name="Rectangle 55"/>
          <p:cNvSpPr/>
          <p:nvPr/>
        </p:nvSpPr>
        <p:spPr>
          <a:xfrm>
            <a:off x="7479792" y="4352544"/>
            <a:ext cx="4315968" cy="9144"/>
          </a:xfrm>
          <a:prstGeom prst="rect">
            <a:avLst/>
          </a:prstGeom>
          <a:solidFill>
            <a:srgbClr val="E3E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14032" y="4480560"/>
            <a:ext cx="4681728" cy="237744"/>
          </a:xfrm>
          <a:prstGeom prst="rect">
            <a:avLst/>
          </a:prstGeom>
          <a:noFill/>
        </p:spPr>
        <p:txBody>
          <a:bodyPr wrap="square" anchor="t"/>
          <a:lstStyle/>
          <a:p>
            <a:pPr algn="l"/>
            <a:r>
              <a:rPr sz="1200" b="1">
                <a:solidFill>
                  <a:srgbClr val="26303A"/>
                </a:solidFill>
                <a:latin typeface="Calibri"/>
              </a:rPr>
              <a:t>KEY VALUE PROPOSITIONS</a:t>
            </a:r>
          </a:p>
        </p:txBody>
      </p:sp>
      <p:sp>
        <p:nvSpPr>
          <p:cNvPr id="58" name="Rectangle 57"/>
          <p:cNvSpPr/>
          <p:nvPr/>
        </p:nvSpPr>
        <p:spPr>
          <a:xfrm>
            <a:off x="7114032" y="4718304"/>
            <a:ext cx="4681728" cy="18288"/>
          </a:xfrm>
          <a:prstGeom prst="rect">
            <a:avLst/>
          </a:prstGeom>
          <a:solidFill>
            <a:srgbClr val="2630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7114032" y="4846320"/>
            <a:ext cx="2267712" cy="749808"/>
          </a:xfrm>
          <a:prstGeom prst="roundRect">
            <a:avLst>
              <a:gd name="adj" fmla="val 8000"/>
            </a:avLst>
          </a:prstGeom>
          <a:solidFill>
            <a:srgbClr val="E4F1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114032" y="4846320"/>
            <a:ext cx="64008" cy="749808"/>
          </a:xfrm>
          <a:prstGeom prst="rect">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242048" y="4919472"/>
            <a:ext cx="2066544" cy="640080"/>
          </a:xfrm>
          <a:prstGeom prst="rect">
            <a:avLst/>
          </a:prstGeom>
          <a:noFill/>
        </p:spPr>
        <p:txBody>
          <a:bodyPr wrap="square" anchor="t"/>
          <a:lstStyle/>
          <a:p>
            <a:pPr algn="l"/>
            <a:r>
              <a:rPr sz="1400" b="1">
                <a:solidFill>
                  <a:srgbClr val="0A5F59"/>
                </a:solidFill>
                <a:latin typeface="Calibri"/>
              </a:rPr>
              <a:t>More complete than AI point tools, more AI-native than legacy suites</a:t>
            </a:r>
          </a:p>
        </p:txBody>
      </p:sp>
      <p:sp>
        <p:nvSpPr>
          <p:cNvPr id="62" name="Rounded Rectangle 61"/>
          <p:cNvSpPr/>
          <p:nvPr/>
        </p:nvSpPr>
        <p:spPr>
          <a:xfrm>
            <a:off x="9509760" y="4846320"/>
            <a:ext cx="2267712" cy="749808"/>
          </a:xfrm>
          <a:prstGeom prst="roundRect">
            <a:avLst>
              <a:gd name="adj" fmla="val 8000"/>
            </a:avLst>
          </a:prstGeom>
          <a:solidFill>
            <a:srgbClr val="E4F1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09760" y="4846320"/>
            <a:ext cx="64008" cy="749808"/>
          </a:xfrm>
          <a:prstGeom prst="rect">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37776" y="4919472"/>
            <a:ext cx="2066544" cy="640080"/>
          </a:xfrm>
          <a:prstGeom prst="rect">
            <a:avLst/>
          </a:prstGeom>
          <a:noFill/>
        </p:spPr>
        <p:txBody>
          <a:bodyPr wrap="square" anchor="t"/>
          <a:lstStyle/>
          <a:p>
            <a:pPr algn="l"/>
            <a:r>
              <a:rPr sz="1400" b="1">
                <a:solidFill>
                  <a:srgbClr val="0A5F59"/>
                </a:solidFill>
                <a:latin typeface="Calibri"/>
              </a:rPr>
              <a:t>Easy to use — covering all the fundamentals, without suite complexities</a:t>
            </a:r>
          </a:p>
        </p:txBody>
      </p:sp>
      <p:sp>
        <p:nvSpPr>
          <p:cNvPr id="65" name="Rounded Rectangle 64"/>
          <p:cNvSpPr/>
          <p:nvPr/>
        </p:nvSpPr>
        <p:spPr>
          <a:xfrm>
            <a:off x="7114032" y="5687568"/>
            <a:ext cx="2267712" cy="749808"/>
          </a:xfrm>
          <a:prstGeom prst="roundRect">
            <a:avLst>
              <a:gd name="adj" fmla="val 8000"/>
            </a:avLst>
          </a:prstGeom>
          <a:solidFill>
            <a:srgbClr val="E4F1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7114032" y="5687568"/>
            <a:ext cx="64008" cy="749808"/>
          </a:xfrm>
          <a:prstGeom prst="rect">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242048" y="5760720"/>
            <a:ext cx="2066544" cy="640080"/>
          </a:xfrm>
          <a:prstGeom prst="rect">
            <a:avLst/>
          </a:prstGeom>
          <a:noFill/>
        </p:spPr>
        <p:txBody>
          <a:bodyPr wrap="square" anchor="t"/>
          <a:lstStyle/>
          <a:p>
            <a:pPr algn="l"/>
            <a:r>
              <a:rPr sz="1400" b="1">
                <a:solidFill>
                  <a:srgbClr val="0A5F59"/>
                </a:solidFill>
                <a:latin typeface="Calibri"/>
              </a:rPr>
              <a:t>Plug and play: limited data prep or integration need</a:t>
            </a:r>
          </a:p>
        </p:txBody>
      </p:sp>
      <p:sp>
        <p:nvSpPr>
          <p:cNvPr id="68" name="Rounded Rectangle 67"/>
          <p:cNvSpPr/>
          <p:nvPr/>
        </p:nvSpPr>
        <p:spPr>
          <a:xfrm>
            <a:off x="9509760" y="5687568"/>
            <a:ext cx="2267712" cy="749808"/>
          </a:xfrm>
          <a:prstGeom prst="roundRect">
            <a:avLst>
              <a:gd name="adj" fmla="val 8000"/>
            </a:avLst>
          </a:prstGeom>
          <a:solidFill>
            <a:srgbClr val="E4F1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9509760" y="5687568"/>
            <a:ext cx="64008" cy="749808"/>
          </a:xfrm>
          <a:prstGeom prst="rect">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637776" y="5760720"/>
            <a:ext cx="2066544" cy="640080"/>
          </a:xfrm>
          <a:prstGeom prst="rect">
            <a:avLst/>
          </a:prstGeom>
          <a:noFill/>
        </p:spPr>
        <p:txBody>
          <a:bodyPr wrap="square" anchor="t"/>
          <a:lstStyle/>
          <a:p>
            <a:pPr algn="l"/>
            <a:r>
              <a:rPr sz="1400" b="1">
                <a:solidFill>
                  <a:srgbClr val="0A5F59"/>
                </a:solidFill>
                <a:latin typeface="Calibri"/>
              </a:rPr>
              <a:t>Modular, and works with other McKinsey assets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201168"/>
            <a:ext cx="11338560" cy="256032"/>
          </a:xfrm>
          <a:prstGeom prst="rect">
            <a:avLst/>
          </a:prstGeom>
          <a:noFill/>
        </p:spPr>
        <p:txBody>
          <a:bodyPr wrap="square" anchor="t"/>
          <a:lstStyle/>
          <a:p>
            <a:pPr algn="l"/>
            <a:r>
              <a:rPr sz="1400" b="1">
                <a:solidFill>
                  <a:srgbClr val="0B7F77"/>
                </a:solidFill>
                <a:latin typeface="Calibri"/>
              </a:rPr>
              <a:t>BLUE CURRENCY  |  THE PROBLEM WE SOLVE</a:t>
            </a:r>
          </a:p>
        </p:txBody>
      </p:sp>
      <p:sp>
        <p:nvSpPr>
          <p:cNvPr id="4" name="TextBox 3"/>
          <p:cNvSpPr txBox="1"/>
          <p:nvPr/>
        </p:nvSpPr>
        <p:spPr>
          <a:xfrm>
            <a:off x="384048" y="420624"/>
            <a:ext cx="11430000" cy="438912"/>
          </a:xfrm>
          <a:prstGeom prst="rect">
            <a:avLst/>
          </a:prstGeom>
          <a:noFill/>
        </p:spPr>
        <p:txBody>
          <a:bodyPr wrap="square">
            <a:spAutoFit/>
          </a:bodyPr>
          <a:lstStyle/>
          <a:p>
            <a:r>
              <a:rPr sz="2500" b="1">
                <a:solidFill>
                  <a:srgbClr val="26303A"/>
                </a:solidFill>
                <a:latin typeface="Calibri"/>
              </a:rPr>
              <a:t>Even the market leaders still run these workflows manually — at </a:t>
            </a:r>
            <a:r>
              <a:rPr sz="2500" b="1">
                <a:solidFill>
                  <a:srgbClr val="0A5F59"/>
                </a:solidFill>
                <a:latin typeface="Calibri"/>
              </a:rPr>
              <a:t>severe and compounding cost</a:t>
            </a:r>
          </a:p>
        </p:txBody>
      </p:sp>
      <p:sp>
        <p:nvSpPr>
          <p:cNvPr id="5" name="TextBox 4"/>
          <p:cNvSpPr txBox="1"/>
          <p:nvPr/>
        </p:nvSpPr>
        <p:spPr>
          <a:xfrm>
            <a:off x="384048" y="914400"/>
            <a:ext cx="3108960" cy="237744"/>
          </a:xfrm>
          <a:prstGeom prst="rect">
            <a:avLst/>
          </a:prstGeom>
          <a:noFill/>
        </p:spPr>
        <p:txBody>
          <a:bodyPr wrap="square" anchor="t"/>
          <a:lstStyle/>
          <a:p>
            <a:pPr algn="l"/>
            <a:r>
              <a:rPr sz="1300" b="1">
                <a:solidFill>
                  <a:srgbClr val="26303A"/>
                </a:solidFill>
                <a:latin typeface="Calibri"/>
              </a:rPr>
              <a:t>Each row carries its own severity bar</a:t>
            </a:r>
          </a:p>
        </p:txBody>
      </p:sp>
      <p:sp>
        <p:nvSpPr>
          <p:cNvPr id="6" name="Rounded Rectangle 5"/>
          <p:cNvSpPr/>
          <p:nvPr/>
        </p:nvSpPr>
        <p:spPr>
          <a:xfrm>
            <a:off x="3657600" y="969264"/>
            <a:ext cx="256032" cy="109728"/>
          </a:xfrm>
          <a:prstGeom prst="roundRect">
            <a:avLst>
              <a:gd name="adj" fmla="val 50000"/>
            </a:avLst>
          </a:prstGeom>
          <a:solidFill>
            <a:srgbClr val="C045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68496" y="914400"/>
            <a:ext cx="868680" cy="219456"/>
          </a:xfrm>
          <a:prstGeom prst="rect">
            <a:avLst/>
          </a:prstGeom>
          <a:noFill/>
        </p:spPr>
        <p:txBody>
          <a:bodyPr wrap="square" anchor="t"/>
          <a:lstStyle/>
          <a:p>
            <a:pPr algn="l"/>
            <a:r>
              <a:rPr sz="1300" b="0">
                <a:solidFill>
                  <a:srgbClr val="3A454F"/>
                </a:solidFill>
                <a:latin typeface="Calibri"/>
              </a:rPr>
              <a:t>Critical</a:t>
            </a:r>
          </a:p>
        </p:txBody>
      </p:sp>
      <p:sp>
        <p:nvSpPr>
          <p:cNvPr id="8" name="Rounded Rectangle 7"/>
          <p:cNvSpPr/>
          <p:nvPr/>
        </p:nvSpPr>
        <p:spPr>
          <a:xfrm>
            <a:off x="4892040" y="969264"/>
            <a:ext cx="256032" cy="109728"/>
          </a:xfrm>
          <a:prstGeom prst="roundRect">
            <a:avLst>
              <a:gd name="adj" fmla="val 50000"/>
            </a:avLst>
          </a:prstGeom>
          <a:solidFill>
            <a:srgbClr val="D99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02936" y="914400"/>
            <a:ext cx="868680" cy="219456"/>
          </a:xfrm>
          <a:prstGeom prst="rect">
            <a:avLst/>
          </a:prstGeom>
          <a:noFill/>
        </p:spPr>
        <p:txBody>
          <a:bodyPr wrap="square" anchor="t"/>
          <a:lstStyle/>
          <a:p>
            <a:pPr algn="l"/>
            <a:r>
              <a:rPr sz="1300" b="0">
                <a:solidFill>
                  <a:srgbClr val="3A454F"/>
                </a:solidFill>
                <a:latin typeface="Calibri"/>
              </a:rPr>
              <a:t>High</a:t>
            </a:r>
          </a:p>
        </p:txBody>
      </p:sp>
      <p:sp>
        <p:nvSpPr>
          <p:cNvPr id="10" name="Rounded Rectangle 9"/>
          <p:cNvSpPr/>
          <p:nvPr/>
        </p:nvSpPr>
        <p:spPr>
          <a:xfrm>
            <a:off x="6126480" y="969264"/>
            <a:ext cx="256032" cy="109728"/>
          </a:xfrm>
          <a:prstGeom prst="roundRect">
            <a:avLst>
              <a:gd name="adj" fmla="val 50000"/>
            </a:avLst>
          </a:prstGeom>
          <a:solidFill>
            <a:srgbClr val="98A2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7376" y="914400"/>
            <a:ext cx="868680" cy="219456"/>
          </a:xfrm>
          <a:prstGeom prst="rect">
            <a:avLst/>
          </a:prstGeom>
          <a:noFill/>
        </p:spPr>
        <p:txBody>
          <a:bodyPr wrap="square" anchor="t"/>
          <a:lstStyle/>
          <a:p>
            <a:pPr algn="l"/>
            <a:r>
              <a:rPr sz="1300" b="0">
                <a:solidFill>
                  <a:srgbClr val="3A454F"/>
                </a:solidFill>
                <a:latin typeface="Calibri"/>
              </a:rPr>
              <a:t>Medium</a:t>
            </a:r>
          </a:p>
        </p:txBody>
      </p:sp>
      <p:sp>
        <p:nvSpPr>
          <p:cNvPr id="12" name="Rounded Rectangle 11"/>
          <p:cNvSpPr/>
          <p:nvPr/>
        </p:nvSpPr>
        <p:spPr>
          <a:xfrm>
            <a:off x="384048" y="1207008"/>
            <a:ext cx="1965960" cy="530352"/>
          </a:xfrm>
          <a:prstGeom prst="roundRect">
            <a:avLst>
              <a:gd name="adj" fmla="val 4000"/>
            </a:avLst>
          </a:prstGeom>
          <a:solidFill>
            <a:srgbClr val="26303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FFFFFF"/>
                </a:solidFill>
                <a:latin typeface="Calibri"/>
              </a:rPr>
              <a:t>Module</a:t>
            </a:r>
          </a:p>
        </p:txBody>
      </p:sp>
      <p:sp>
        <p:nvSpPr>
          <p:cNvPr id="13" name="Rounded Rectangle 12"/>
          <p:cNvSpPr/>
          <p:nvPr/>
        </p:nvSpPr>
        <p:spPr>
          <a:xfrm>
            <a:off x="2423160" y="1207008"/>
            <a:ext cx="4160520" cy="530352"/>
          </a:xfrm>
          <a:prstGeom prst="roundRect">
            <a:avLst>
              <a:gd name="adj" fmla="val 4000"/>
            </a:avLst>
          </a:prstGeom>
          <a:solidFill>
            <a:srgbClr val="3A454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FFFFFF"/>
                </a:solidFill>
                <a:latin typeface="Calibri"/>
              </a:rPr>
              <a:t>How it is done today
leaders and developing players, with the severity of each</a:t>
            </a:r>
          </a:p>
        </p:txBody>
      </p:sp>
      <p:sp>
        <p:nvSpPr>
          <p:cNvPr id="14" name="Rounded Rectangle 13"/>
          <p:cNvSpPr/>
          <p:nvPr/>
        </p:nvSpPr>
        <p:spPr>
          <a:xfrm>
            <a:off x="6656832" y="1207008"/>
            <a:ext cx="2331720" cy="530352"/>
          </a:xfrm>
          <a:prstGeom prst="roundRect">
            <a:avLst>
              <a:gd name="adj" fmla="val 4000"/>
            </a:avLst>
          </a:prstGeom>
          <a:solidFill>
            <a:srgbClr val="4C586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FFFFFF"/>
                </a:solidFill>
                <a:latin typeface="Calibri"/>
              </a:rPr>
              <a:t>What it costs them</a:t>
            </a:r>
          </a:p>
        </p:txBody>
      </p:sp>
      <p:sp>
        <p:nvSpPr>
          <p:cNvPr id="15" name="Rounded Rectangle 14"/>
          <p:cNvSpPr/>
          <p:nvPr/>
        </p:nvSpPr>
        <p:spPr>
          <a:xfrm>
            <a:off x="9061704" y="1207008"/>
            <a:ext cx="2743200" cy="530352"/>
          </a:xfrm>
          <a:prstGeom prst="roundRect">
            <a:avLst>
              <a:gd name="adj" fmla="val 4000"/>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FFFFFF"/>
                </a:solidFill>
                <a:latin typeface="Calibri"/>
              </a:rPr>
              <a:t>What Blue Currency does</a:t>
            </a:r>
          </a:p>
        </p:txBody>
      </p:sp>
      <p:sp>
        <p:nvSpPr>
          <p:cNvPr id="16" name="Rectangle 15"/>
          <p:cNvSpPr/>
          <p:nvPr/>
        </p:nvSpPr>
        <p:spPr>
          <a:xfrm>
            <a:off x="384048" y="2587752"/>
            <a:ext cx="11420856" cy="9144"/>
          </a:xfrm>
          <a:prstGeom prst="rect">
            <a:avLst/>
          </a:prstGeom>
          <a:solidFill>
            <a:srgbClr val="E3E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57200" y="2048256"/>
            <a:ext cx="292608" cy="292608"/>
          </a:xfrm>
          <a:prstGeom prst="ellipse">
            <a:avLst/>
          </a:prstGeom>
          <a:solidFill>
            <a:srgbClr val="0A5F59"/>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1</a:t>
            </a:r>
          </a:p>
        </p:txBody>
      </p:sp>
      <p:sp>
        <p:nvSpPr>
          <p:cNvPr id="18" name="TextBox 17"/>
          <p:cNvSpPr txBox="1"/>
          <p:nvPr/>
        </p:nvSpPr>
        <p:spPr>
          <a:xfrm>
            <a:off x="822960" y="1975104"/>
            <a:ext cx="1536192" cy="512064"/>
          </a:xfrm>
          <a:prstGeom prst="rect">
            <a:avLst/>
          </a:prstGeom>
          <a:noFill/>
        </p:spPr>
        <p:txBody>
          <a:bodyPr wrap="square" anchor="t"/>
          <a:lstStyle/>
          <a:p>
            <a:pPr algn="l"/>
            <a:r>
              <a:rPr sz="1400" b="1">
                <a:solidFill>
                  <a:srgbClr val="26303A"/>
                </a:solidFill>
                <a:latin typeface="Calibri"/>
              </a:rPr>
              <a:t>End to End Agentic Orchestration</a:t>
            </a:r>
          </a:p>
        </p:txBody>
      </p:sp>
      <p:sp>
        <p:nvSpPr>
          <p:cNvPr id="19" name="TextBox 18"/>
          <p:cNvSpPr txBox="1"/>
          <p:nvPr/>
        </p:nvSpPr>
        <p:spPr>
          <a:xfrm>
            <a:off x="2450592" y="1865376"/>
            <a:ext cx="960120" cy="292608"/>
          </a:xfrm>
          <a:prstGeom prst="rect">
            <a:avLst/>
          </a:prstGeom>
          <a:noFill/>
        </p:spPr>
        <p:txBody>
          <a:bodyPr wrap="square" anchor="t"/>
          <a:lstStyle/>
          <a:p>
            <a:pPr algn="l"/>
            <a:r>
              <a:rPr sz="1200" b="1">
                <a:solidFill>
                  <a:srgbClr val="0A5F59"/>
                </a:solidFill>
                <a:latin typeface="Calibri"/>
              </a:rPr>
              <a:t>LEADERS</a:t>
            </a:r>
          </a:p>
        </p:txBody>
      </p:sp>
      <p:sp>
        <p:nvSpPr>
          <p:cNvPr id="20" name="TextBox 19"/>
          <p:cNvSpPr txBox="1"/>
          <p:nvPr/>
        </p:nvSpPr>
        <p:spPr>
          <a:xfrm>
            <a:off x="3383280" y="1865376"/>
            <a:ext cx="2194560" cy="292608"/>
          </a:xfrm>
          <a:prstGeom prst="rect">
            <a:avLst/>
          </a:prstGeom>
          <a:noFill/>
        </p:spPr>
        <p:txBody>
          <a:bodyPr wrap="square" anchor="t"/>
          <a:lstStyle/>
          <a:p>
            <a:pPr algn="l"/>
            <a:r>
              <a:rPr sz="1400" b="0">
                <a:solidFill>
                  <a:srgbClr val="3A454F"/>
                </a:solidFill>
                <a:latin typeface="Calibri"/>
              </a:rPr>
              <a:t>Point tools stitched by IT.</a:t>
            </a:r>
          </a:p>
        </p:txBody>
      </p:sp>
      <p:sp>
        <p:nvSpPr>
          <p:cNvPr id="21" name="Rounded Rectangle 20"/>
          <p:cNvSpPr/>
          <p:nvPr/>
        </p:nvSpPr>
        <p:spPr>
          <a:xfrm>
            <a:off x="5632704" y="1920240"/>
            <a:ext cx="868680" cy="128016"/>
          </a:xfrm>
          <a:prstGeom prst="roundRect">
            <a:avLst>
              <a:gd name="adj" fmla="val 50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632704" y="1920240"/>
            <a:ext cx="660196" cy="128016"/>
          </a:xfrm>
          <a:prstGeom prst="roundRect">
            <a:avLst>
              <a:gd name="adj" fmla="val 50000"/>
            </a:avLst>
          </a:prstGeom>
          <a:solidFill>
            <a:srgbClr val="D99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50592" y="2231136"/>
            <a:ext cx="960120" cy="292608"/>
          </a:xfrm>
          <a:prstGeom prst="rect">
            <a:avLst/>
          </a:prstGeom>
          <a:noFill/>
        </p:spPr>
        <p:txBody>
          <a:bodyPr wrap="square" anchor="t"/>
          <a:lstStyle/>
          <a:p>
            <a:pPr algn="l"/>
            <a:r>
              <a:rPr sz="1200" b="1">
                <a:solidFill>
                  <a:srgbClr val="9AA3AC"/>
                </a:solidFill>
                <a:latin typeface="Calibri"/>
              </a:rPr>
              <a:t>DEVELOPING</a:t>
            </a:r>
          </a:p>
        </p:txBody>
      </p:sp>
      <p:sp>
        <p:nvSpPr>
          <p:cNvPr id="24" name="TextBox 23"/>
          <p:cNvSpPr txBox="1"/>
          <p:nvPr/>
        </p:nvSpPr>
        <p:spPr>
          <a:xfrm>
            <a:off x="3383280" y="2231136"/>
            <a:ext cx="2194560" cy="292608"/>
          </a:xfrm>
          <a:prstGeom prst="rect">
            <a:avLst/>
          </a:prstGeom>
          <a:noFill/>
        </p:spPr>
        <p:txBody>
          <a:bodyPr wrap="square" anchor="t"/>
          <a:lstStyle/>
          <a:p>
            <a:pPr algn="l"/>
            <a:r>
              <a:rPr sz="1400" b="0">
                <a:solidFill>
                  <a:srgbClr val="3A454F"/>
                </a:solidFill>
                <a:latin typeface="Calibri"/>
              </a:rPr>
              <a:t>Isolated stages, email only.</a:t>
            </a:r>
          </a:p>
        </p:txBody>
      </p:sp>
      <p:sp>
        <p:nvSpPr>
          <p:cNvPr id="25" name="Rounded Rectangle 24"/>
          <p:cNvSpPr/>
          <p:nvPr/>
        </p:nvSpPr>
        <p:spPr>
          <a:xfrm>
            <a:off x="5632704" y="2286000"/>
            <a:ext cx="868680" cy="128016"/>
          </a:xfrm>
          <a:prstGeom prst="roundRect">
            <a:avLst>
              <a:gd name="adj" fmla="val 50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632704" y="2286000"/>
            <a:ext cx="833932" cy="128016"/>
          </a:xfrm>
          <a:prstGeom prst="roundRect">
            <a:avLst>
              <a:gd name="adj" fmla="val 50000"/>
            </a:avLst>
          </a:prstGeom>
          <a:solidFill>
            <a:srgbClr val="C045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93408" y="1956816"/>
            <a:ext cx="2267712" cy="530352"/>
          </a:xfrm>
          <a:prstGeom prst="rect">
            <a:avLst/>
          </a:prstGeom>
          <a:noFill/>
        </p:spPr>
        <p:txBody>
          <a:bodyPr wrap="square" anchor="t"/>
          <a:lstStyle/>
          <a:p>
            <a:pPr algn="l"/>
            <a:r>
              <a:rPr sz="1400" b="0">
                <a:solidFill>
                  <a:srgbClr val="26303A"/>
                </a:solidFill>
                <a:latin typeface="Calibri"/>
              </a:rPr>
              <a:t>Nothing learns from the last project.</a:t>
            </a:r>
          </a:p>
        </p:txBody>
      </p:sp>
      <p:sp>
        <p:nvSpPr>
          <p:cNvPr id="28" name="Rounded Rectangle 27"/>
          <p:cNvSpPr/>
          <p:nvPr/>
        </p:nvSpPr>
        <p:spPr>
          <a:xfrm>
            <a:off x="9061704" y="1883664"/>
            <a:ext cx="2743200" cy="640080"/>
          </a:xfrm>
          <a:prstGeom prst="roundRect">
            <a:avLst>
              <a:gd name="adj" fmla="val 4000"/>
            </a:avLst>
          </a:prstGeom>
          <a:solidFill>
            <a:srgbClr val="E4F1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0A5F59"/>
                </a:solidFill>
                <a:latin typeface="Calibri"/>
              </a:rPr>
              <a:t>One governed agentic layer across every stage, smarter with each project.</a:t>
            </a:r>
          </a:p>
        </p:txBody>
      </p:sp>
      <p:sp>
        <p:nvSpPr>
          <p:cNvPr id="29" name="Rectangle 28"/>
          <p:cNvSpPr/>
          <p:nvPr/>
        </p:nvSpPr>
        <p:spPr>
          <a:xfrm>
            <a:off x="384048" y="3374136"/>
            <a:ext cx="11420856" cy="9144"/>
          </a:xfrm>
          <a:prstGeom prst="rect">
            <a:avLst/>
          </a:prstGeom>
          <a:solidFill>
            <a:srgbClr val="E3E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7200" y="2834640"/>
            <a:ext cx="292608" cy="292608"/>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2</a:t>
            </a:r>
          </a:p>
        </p:txBody>
      </p:sp>
      <p:sp>
        <p:nvSpPr>
          <p:cNvPr id="31" name="TextBox 30"/>
          <p:cNvSpPr txBox="1"/>
          <p:nvPr/>
        </p:nvSpPr>
        <p:spPr>
          <a:xfrm>
            <a:off x="822960" y="2761488"/>
            <a:ext cx="1536192" cy="512064"/>
          </a:xfrm>
          <a:prstGeom prst="rect">
            <a:avLst/>
          </a:prstGeom>
          <a:noFill/>
        </p:spPr>
        <p:txBody>
          <a:bodyPr wrap="square" anchor="t"/>
          <a:lstStyle/>
          <a:p>
            <a:pPr algn="l"/>
            <a:r>
              <a:rPr sz="1400" b="1">
                <a:solidFill>
                  <a:srgbClr val="26303A"/>
                </a:solidFill>
                <a:latin typeface="Calibri"/>
              </a:rPr>
              <a:t>AI Generated Unified BoQ</a:t>
            </a:r>
          </a:p>
        </p:txBody>
      </p:sp>
      <p:sp>
        <p:nvSpPr>
          <p:cNvPr id="32" name="TextBox 31"/>
          <p:cNvSpPr txBox="1"/>
          <p:nvPr/>
        </p:nvSpPr>
        <p:spPr>
          <a:xfrm>
            <a:off x="2450592" y="2651760"/>
            <a:ext cx="960120" cy="292608"/>
          </a:xfrm>
          <a:prstGeom prst="rect">
            <a:avLst/>
          </a:prstGeom>
          <a:noFill/>
        </p:spPr>
        <p:txBody>
          <a:bodyPr wrap="square" anchor="t"/>
          <a:lstStyle/>
          <a:p>
            <a:pPr algn="l"/>
            <a:r>
              <a:rPr sz="1200" b="1">
                <a:solidFill>
                  <a:srgbClr val="0A5F59"/>
                </a:solidFill>
                <a:latin typeface="Calibri"/>
              </a:rPr>
              <a:t>LEADERS</a:t>
            </a:r>
          </a:p>
        </p:txBody>
      </p:sp>
      <p:sp>
        <p:nvSpPr>
          <p:cNvPr id="33" name="TextBox 32"/>
          <p:cNvSpPr txBox="1"/>
          <p:nvPr/>
        </p:nvSpPr>
        <p:spPr>
          <a:xfrm>
            <a:off x="3383280" y="2651760"/>
            <a:ext cx="2194560" cy="292608"/>
          </a:xfrm>
          <a:prstGeom prst="rect">
            <a:avLst/>
          </a:prstGeom>
          <a:noFill/>
        </p:spPr>
        <p:txBody>
          <a:bodyPr wrap="square" anchor="t"/>
          <a:lstStyle/>
          <a:p>
            <a:pPr algn="l"/>
            <a:r>
              <a:rPr sz="1400" b="0">
                <a:solidFill>
                  <a:srgbClr val="3A454F"/>
                </a:solidFill>
                <a:latin typeface="Calibri"/>
              </a:rPr>
              <a:t>In-house coding, kept by hand.</a:t>
            </a:r>
          </a:p>
        </p:txBody>
      </p:sp>
      <p:sp>
        <p:nvSpPr>
          <p:cNvPr id="34" name="Rounded Rectangle 33"/>
          <p:cNvSpPr/>
          <p:nvPr/>
        </p:nvSpPr>
        <p:spPr>
          <a:xfrm>
            <a:off x="5632704" y="2706624"/>
            <a:ext cx="868680" cy="128016"/>
          </a:xfrm>
          <a:prstGeom prst="roundRect">
            <a:avLst>
              <a:gd name="adj" fmla="val 50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5632704" y="2706624"/>
            <a:ext cx="625449" cy="128016"/>
          </a:xfrm>
          <a:prstGeom prst="roundRect">
            <a:avLst>
              <a:gd name="adj" fmla="val 50000"/>
            </a:avLst>
          </a:prstGeom>
          <a:solidFill>
            <a:srgbClr val="D99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450592" y="3017520"/>
            <a:ext cx="960120" cy="292608"/>
          </a:xfrm>
          <a:prstGeom prst="rect">
            <a:avLst/>
          </a:prstGeom>
          <a:noFill/>
        </p:spPr>
        <p:txBody>
          <a:bodyPr wrap="square" anchor="t"/>
          <a:lstStyle/>
          <a:p>
            <a:pPr algn="l"/>
            <a:r>
              <a:rPr sz="1200" b="1">
                <a:solidFill>
                  <a:srgbClr val="9AA3AC"/>
                </a:solidFill>
                <a:latin typeface="Calibri"/>
              </a:rPr>
              <a:t>DEVELOPING</a:t>
            </a:r>
          </a:p>
        </p:txBody>
      </p:sp>
      <p:sp>
        <p:nvSpPr>
          <p:cNvPr id="37" name="TextBox 36"/>
          <p:cNvSpPr txBox="1"/>
          <p:nvPr/>
        </p:nvSpPr>
        <p:spPr>
          <a:xfrm>
            <a:off x="3383280" y="3017520"/>
            <a:ext cx="2194560" cy="292608"/>
          </a:xfrm>
          <a:prstGeom prst="rect">
            <a:avLst/>
          </a:prstGeom>
          <a:noFill/>
        </p:spPr>
        <p:txBody>
          <a:bodyPr wrap="square" anchor="t"/>
          <a:lstStyle/>
          <a:p>
            <a:pPr algn="l"/>
            <a:r>
              <a:rPr sz="1400" b="0">
                <a:solidFill>
                  <a:srgbClr val="3A454F"/>
                </a:solidFill>
                <a:latin typeface="Calibri"/>
              </a:rPr>
              <a:t>Cost items as free text.</a:t>
            </a:r>
          </a:p>
        </p:txBody>
      </p:sp>
      <p:sp>
        <p:nvSpPr>
          <p:cNvPr id="38" name="Rounded Rectangle 37"/>
          <p:cNvSpPr/>
          <p:nvPr/>
        </p:nvSpPr>
        <p:spPr>
          <a:xfrm>
            <a:off x="5632704" y="3072384"/>
            <a:ext cx="868680" cy="128016"/>
          </a:xfrm>
          <a:prstGeom prst="roundRect">
            <a:avLst>
              <a:gd name="adj" fmla="val 50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5632704" y="3072384"/>
            <a:ext cx="799185" cy="128016"/>
          </a:xfrm>
          <a:prstGeom prst="roundRect">
            <a:avLst>
              <a:gd name="adj" fmla="val 50000"/>
            </a:avLst>
          </a:prstGeom>
          <a:solidFill>
            <a:srgbClr val="C045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93408" y="2743200"/>
            <a:ext cx="2267712" cy="530352"/>
          </a:xfrm>
          <a:prstGeom prst="rect">
            <a:avLst/>
          </a:prstGeom>
          <a:noFill/>
        </p:spPr>
        <p:txBody>
          <a:bodyPr wrap="square" anchor="t"/>
          <a:lstStyle/>
          <a:p>
            <a:pPr algn="l"/>
            <a:r>
              <a:rPr sz="1400" b="0">
                <a:solidFill>
                  <a:srgbClr val="26303A"/>
                </a:solidFill>
                <a:latin typeface="Calibri"/>
              </a:rPr>
              <a:t>No comparison across projects or bidders.</a:t>
            </a:r>
          </a:p>
        </p:txBody>
      </p:sp>
      <p:sp>
        <p:nvSpPr>
          <p:cNvPr id="41" name="Rounded Rectangle 40"/>
          <p:cNvSpPr/>
          <p:nvPr/>
        </p:nvSpPr>
        <p:spPr>
          <a:xfrm>
            <a:off x="9061704" y="2670048"/>
            <a:ext cx="2743200" cy="640080"/>
          </a:xfrm>
          <a:prstGeom prst="roundRect">
            <a:avLst>
              <a:gd name="adj" fmla="val 4000"/>
            </a:avLst>
          </a:prstGeom>
          <a:solidFill>
            <a:srgbClr val="E4F1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0A5F59"/>
                </a:solidFill>
                <a:latin typeface="Calibri"/>
              </a:rPr>
              <a:t>AI codes every item and maps any format into one standard BoQ.</a:t>
            </a:r>
          </a:p>
        </p:txBody>
      </p:sp>
      <p:sp>
        <p:nvSpPr>
          <p:cNvPr id="42" name="Rectangle 41"/>
          <p:cNvSpPr/>
          <p:nvPr/>
        </p:nvSpPr>
        <p:spPr>
          <a:xfrm>
            <a:off x="384048" y="4160520"/>
            <a:ext cx="11420856" cy="9144"/>
          </a:xfrm>
          <a:prstGeom prst="rect">
            <a:avLst/>
          </a:prstGeom>
          <a:solidFill>
            <a:srgbClr val="E3E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57200" y="3621024"/>
            <a:ext cx="292608" cy="292608"/>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3</a:t>
            </a:r>
          </a:p>
        </p:txBody>
      </p:sp>
      <p:sp>
        <p:nvSpPr>
          <p:cNvPr id="44" name="TextBox 43"/>
          <p:cNvSpPr txBox="1"/>
          <p:nvPr/>
        </p:nvSpPr>
        <p:spPr>
          <a:xfrm>
            <a:off x="822960" y="3547872"/>
            <a:ext cx="1536192" cy="512064"/>
          </a:xfrm>
          <a:prstGeom prst="rect">
            <a:avLst/>
          </a:prstGeom>
          <a:noFill/>
        </p:spPr>
        <p:txBody>
          <a:bodyPr wrap="square" anchor="t"/>
          <a:lstStyle/>
          <a:p>
            <a:pPr algn="l"/>
            <a:r>
              <a:rPr sz="1400" b="1">
                <a:solidFill>
                  <a:srgbClr val="26303A"/>
                </a:solidFill>
                <a:latin typeface="Calibri"/>
              </a:rPr>
              <a:t>Dynamic Bottom Up CAPEX</a:t>
            </a:r>
          </a:p>
        </p:txBody>
      </p:sp>
      <p:sp>
        <p:nvSpPr>
          <p:cNvPr id="45" name="TextBox 44"/>
          <p:cNvSpPr txBox="1"/>
          <p:nvPr/>
        </p:nvSpPr>
        <p:spPr>
          <a:xfrm>
            <a:off x="2450592" y="3438144"/>
            <a:ext cx="960120" cy="292608"/>
          </a:xfrm>
          <a:prstGeom prst="rect">
            <a:avLst/>
          </a:prstGeom>
          <a:noFill/>
        </p:spPr>
        <p:txBody>
          <a:bodyPr wrap="square" anchor="t"/>
          <a:lstStyle/>
          <a:p>
            <a:pPr algn="l"/>
            <a:r>
              <a:rPr sz="1200" b="1">
                <a:solidFill>
                  <a:srgbClr val="0A5F59"/>
                </a:solidFill>
                <a:latin typeface="Calibri"/>
              </a:rPr>
              <a:t>LEADERS</a:t>
            </a:r>
          </a:p>
        </p:txBody>
      </p:sp>
      <p:sp>
        <p:nvSpPr>
          <p:cNvPr id="46" name="TextBox 45"/>
          <p:cNvSpPr txBox="1"/>
          <p:nvPr/>
        </p:nvSpPr>
        <p:spPr>
          <a:xfrm>
            <a:off x="3383280" y="3438144"/>
            <a:ext cx="2194560" cy="292608"/>
          </a:xfrm>
          <a:prstGeom prst="rect">
            <a:avLst/>
          </a:prstGeom>
          <a:noFill/>
        </p:spPr>
        <p:txBody>
          <a:bodyPr wrap="square" anchor="t"/>
          <a:lstStyle/>
          <a:p>
            <a:pPr algn="l"/>
            <a:r>
              <a:rPr sz="1400" b="0">
                <a:solidFill>
                  <a:srgbClr val="3A454F"/>
                </a:solidFill>
                <a:latin typeface="Calibri"/>
              </a:rPr>
              <a:t>Estimating on old rates.</a:t>
            </a:r>
          </a:p>
        </p:txBody>
      </p:sp>
      <p:sp>
        <p:nvSpPr>
          <p:cNvPr id="47" name="Rounded Rectangle 46"/>
          <p:cNvSpPr/>
          <p:nvPr/>
        </p:nvSpPr>
        <p:spPr>
          <a:xfrm>
            <a:off x="5632704" y="3493008"/>
            <a:ext cx="868680" cy="128016"/>
          </a:xfrm>
          <a:prstGeom prst="roundRect">
            <a:avLst>
              <a:gd name="adj" fmla="val 50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632704" y="3493008"/>
            <a:ext cx="469087" cy="128016"/>
          </a:xfrm>
          <a:prstGeom prst="roundRect">
            <a:avLst>
              <a:gd name="adj" fmla="val 50000"/>
            </a:avLst>
          </a:prstGeom>
          <a:solidFill>
            <a:srgbClr val="98A2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450592" y="3803904"/>
            <a:ext cx="960120" cy="292608"/>
          </a:xfrm>
          <a:prstGeom prst="rect">
            <a:avLst/>
          </a:prstGeom>
          <a:noFill/>
        </p:spPr>
        <p:txBody>
          <a:bodyPr wrap="square" anchor="t"/>
          <a:lstStyle/>
          <a:p>
            <a:pPr algn="l"/>
            <a:r>
              <a:rPr sz="1200" b="1">
                <a:solidFill>
                  <a:srgbClr val="9AA3AC"/>
                </a:solidFill>
                <a:latin typeface="Calibri"/>
              </a:rPr>
              <a:t>DEVELOPING</a:t>
            </a:r>
          </a:p>
        </p:txBody>
      </p:sp>
      <p:sp>
        <p:nvSpPr>
          <p:cNvPr id="50" name="TextBox 49"/>
          <p:cNvSpPr txBox="1"/>
          <p:nvPr/>
        </p:nvSpPr>
        <p:spPr>
          <a:xfrm>
            <a:off x="3383280" y="3803904"/>
            <a:ext cx="2194560" cy="292608"/>
          </a:xfrm>
          <a:prstGeom prst="rect">
            <a:avLst/>
          </a:prstGeom>
          <a:noFill/>
        </p:spPr>
        <p:txBody>
          <a:bodyPr wrap="square" anchor="t"/>
          <a:lstStyle/>
          <a:p>
            <a:pPr algn="l"/>
            <a:r>
              <a:rPr sz="1400" b="0">
                <a:solidFill>
                  <a:srgbClr val="3A454F"/>
                </a:solidFill>
                <a:latin typeface="Calibri"/>
              </a:rPr>
              <a:t>Last cost plus inflation.</a:t>
            </a:r>
          </a:p>
        </p:txBody>
      </p:sp>
      <p:sp>
        <p:nvSpPr>
          <p:cNvPr id="51" name="Rounded Rectangle 50"/>
          <p:cNvSpPr/>
          <p:nvPr/>
        </p:nvSpPr>
        <p:spPr>
          <a:xfrm>
            <a:off x="5632704" y="3858768"/>
            <a:ext cx="868680" cy="128016"/>
          </a:xfrm>
          <a:prstGeom prst="roundRect">
            <a:avLst>
              <a:gd name="adj" fmla="val 50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5632704" y="3858768"/>
            <a:ext cx="729691" cy="128016"/>
          </a:xfrm>
          <a:prstGeom prst="roundRect">
            <a:avLst>
              <a:gd name="adj" fmla="val 50000"/>
            </a:avLst>
          </a:prstGeom>
          <a:solidFill>
            <a:srgbClr val="D99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93408" y="3529584"/>
            <a:ext cx="2267712" cy="530352"/>
          </a:xfrm>
          <a:prstGeom prst="rect">
            <a:avLst/>
          </a:prstGeom>
          <a:noFill/>
        </p:spPr>
        <p:txBody>
          <a:bodyPr wrap="square" anchor="t"/>
          <a:lstStyle/>
          <a:p>
            <a:pPr algn="l"/>
            <a:r>
              <a:rPr sz="1400" b="0">
                <a:solidFill>
                  <a:srgbClr val="26303A"/>
                </a:solidFill>
                <a:latin typeface="Calibri"/>
              </a:rPr>
              <a:t>Budgets set on prices already stale.</a:t>
            </a:r>
          </a:p>
        </p:txBody>
      </p:sp>
      <p:sp>
        <p:nvSpPr>
          <p:cNvPr id="54" name="Rounded Rectangle 53"/>
          <p:cNvSpPr/>
          <p:nvPr/>
        </p:nvSpPr>
        <p:spPr>
          <a:xfrm>
            <a:off x="9061704" y="3456432"/>
            <a:ext cx="2743200" cy="640080"/>
          </a:xfrm>
          <a:prstGeom prst="roundRect">
            <a:avLst>
              <a:gd name="adj" fmla="val 4000"/>
            </a:avLst>
          </a:prstGeom>
          <a:solidFill>
            <a:srgbClr val="E4F1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0A5F59"/>
                </a:solidFill>
                <a:latin typeface="Calibri"/>
              </a:rPr>
              <a:t>Item-level forecasts kept live with commodity, labor and FX.</a:t>
            </a:r>
          </a:p>
        </p:txBody>
      </p:sp>
      <p:sp>
        <p:nvSpPr>
          <p:cNvPr id="55" name="Rectangle 54"/>
          <p:cNvSpPr/>
          <p:nvPr/>
        </p:nvSpPr>
        <p:spPr>
          <a:xfrm>
            <a:off x="384048" y="4946904"/>
            <a:ext cx="11420856" cy="9144"/>
          </a:xfrm>
          <a:prstGeom prst="rect">
            <a:avLst/>
          </a:prstGeom>
          <a:solidFill>
            <a:srgbClr val="E3E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457200" y="4407408"/>
            <a:ext cx="292608" cy="292608"/>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4</a:t>
            </a:r>
          </a:p>
        </p:txBody>
      </p:sp>
      <p:sp>
        <p:nvSpPr>
          <p:cNvPr id="57" name="TextBox 56"/>
          <p:cNvSpPr txBox="1"/>
          <p:nvPr/>
        </p:nvSpPr>
        <p:spPr>
          <a:xfrm>
            <a:off x="822960" y="4334256"/>
            <a:ext cx="1536192" cy="512064"/>
          </a:xfrm>
          <a:prstGeom prst="rect">
            <a:avLst/>
          </a:prstGeom>
          <a:noFill/>
        </p:spPr>
        <p:txBody>
          <a:bodyPr wrap="square" anchor="t"/>
          <a:lstStyle/>
          <a:p>
            <a:pPr algn="l"/>
            <a:r>
              <a:rPr sz="1400" b="1">
                <a:solidFill>
                  <a:srgbClr val="26303A"/>
                </a:solidFill>
                <a:latin typeface="Calibri"/>
              </a:rPr>
              <a:t>Smart Tender Bid Evaluation</a:t>
            </a:r>
          </a:p>
        </p:txBody>
      </p:sp>
      <p:sp>
        <p:nvSpPr>
          <p:cNvPr id="58" name="TextBox 57"/>
          <p:cNvSpPr txBox="1"/>
          <p:nvPr/>
        </p:nvSpPr>
        <p:spPr>
          <a:xfrm>
            <a:off x="2450592" y="4224528"/>
            <a:ext cx="960120" cy="292608"/>
          </a:xfrm>
          <a:prstGeom prst="rect">
            <a:avLst/>
          </a:prstGeom>
          <a:noFill/>
        </p:spPr>
        <p:txBody>
          <a:bodyPr wrap="square" anchor="t"/>
          <a:lstStyle/>
          <a:p>
            <a:pPr algn="l"/>
            <a:r>
              <a:rPr sz="1200" b="1">
                <a:solidFill>
                  <a:srgbClr val="0A5F59"/>
                </a:solidFill>
                <a:latin typeface="Calibri"/>
              </a:rPr>
              <a:t>LEADERS</a:t>
            </a:r>
          </a:p>
        </p:txBody>
      </p:sp>
      <p:sp>
        <p:nvSpPr>
          <p:cNvPr id="59" name="TextBox 58"/>
          <p:cNvSpPr txBox="1"/>
          <p:nvPr/>
        </p:nvSpPr>
        <p:spPr>
          <a:xfrm>
            <a:off x="3383280" y="4224528"/>
            <a:ext cx="2194560" cy="292608"/>
          </a:xfrm>
          <a:prstGeom prst="rect">
            <a:avLst/>
          </a:prstGeom>
          <a:noFill/>
        </p:spPr>
        <p:txBody>
          <a:bodyPr wrap="square" anchor="t"/>
          <a:lstStyle/>
          <a:p>
            <a:pPr algn="l"/>
            <a:r>
              <a:rPr sz="1400" b="0">
                <a:solidFill>
                  <a:srgbClr val="3A454F"/>
                </a:solidFill>
                <a:latin typeface="Calibri"/>
              </a:rPr>
              <a:t>Leveling by hand in Excel.</a:t>
            </a:r>
          </a:p>
        </p:txBody>
      </p:sp>
      <p:sp>
        <p:nvSpPr>
          <p:cNvPr id="60" name="Rounded Rectangle 59"/>
          <p:cNvSpPr/>
          <p:nvPr/>
        </p:nvSpPr>
        <p:spPr>
          <a:xfrm>
            <a:off x="5632704" y="4279392"/>
            <a:ext cx="868680" cy="128016"/>
          </a:xfrm>
          <a:prstGeom prst="roundRect">
            <a:avLst>
              <a:gd name="adj" fmla="val 50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5632704" y="4279392"/>
            <a:ext cx="608076" cy="128016"/>
          </a:xfrm>
          <a:prstGeom prst="roundRect">
            <a:avLst>
              <a:gd name="adj" fmla="val 50000"/>
            </a:avLst>
          </a:prstGeom>
          <a:solidFill>
            <a:srgbClr val="D99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450592" y="4590288"/>
            <a:ext cx="960120" cy="292608"/>
          </a:xfrm>
          <a:prstGeom prst="rect">
            <a:avLst/>
          </a:prstGeom>
          <a:noFill/>
        </p:spPr>
        <p:txBody>
          <a:bodyPr wrap="square" anchor="t"/>
          <a:lstStyle/>
          <a:p>
            <a:pPr algn="l"/>
            <a:r>
              <a:rPr sz="1200" b="1">
                <a:solidFill>
                  <a:srgbClr val="9AA3AC"/>
                </a:solidFill>
                <a:latin typeface="Calibri"/>
              </a:rPr>
              <a:t>DEVELOPING</a:t>
            </a:r>
          </a:p>
        </p:txBody>
      </p:sp>
      <p:sp>
        <p:nvSpPr>
          <p:cNvPr id="63" name="TextBox 62"/>
          <p:cNvSpPr txBox="1"/>
          <p:nvPr/>
        </p:nvSpPr>
        <p:spPr>
          <a:xfrm>
            <a:off x="3383280" y="4590288"/>
            <a:ext cx="2194560" cy="292608"/>
          </a:xfrm>
          <a:prstGeom prst="rect">
            <a:avLst/>
          </a:prstGeom>
          <a:noFill/>
        </p:spPr>
        <p:txBody>
          <a:bodyPr wrap="square" anchor="t"/>
          <a:lstStyle/>
          <a:p>
            <a:pPr algn="l"/>
            <a:r>
              <a:rPr sz="1400" b="0">
                <a:solidFill>
                  <a:srgbClr val="3A454F"/>
                </a:solidFill>
                <a:latin typeface="Calibri"/>
              </a:rPr>
              <a:t>Each bidder's own format.</a:t>
            </a:r>
          </a:p>
        </p:txBody>
      </p:sp>
      <p:sp>
        <p:nvSpPr>
          <p:cNvPr id="64" name="Rounded Rectangle 63"/>
          <p:cNvSpPr/>
          <p:nvPr/>
        </p:nvSpPr>
        <p:spPr>
          <a:xfrm>
            <a:off x="5632704" y="4645152"/>
            <a:ext cx="868680" cy="128016"/>
          </a:xfrm>
          <a:prstGeom prst="roundRect">
            <a:avLst>
              <a:gd name="adj" fmla="val 50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632704" y="4645152"/>
            <a:ext cx="764438" cy="128016"/>
          </a:xfrm>
          <a:prstGeom prst="roundRect">
            <a:avLst>
              <a:gd name="adj" fmla="val 50000"/>
            </a:avLst>
          </a:prstGeom>
          <a:solidFill>
            <a:srgbClr val="C045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693408" y="4315968"/>
            <a:ext cx="2267712" cy="530352"/>
          </a:xfrm>
          <a:prstGeom prst="rect">
            <a:avLst/>
          </a:prstGeom>
          <a:noFill/>
        </p:spPr>
        <p:txBody>
          <a:bodyPr wrap="square" anchor="t"/>
          <a:lstStyle/>
          <a:p>
            <a:pPr algn="l"/>
            <a:r>
              <a:rPr sz="1400" b="0">
                <a:solidFill>
                  <a:srgbClr val="26303A"/>
                </a:solidFill>
                <a:latin typeface="Calibri"/>
              </a:rPr>
              <a:t>Weeks per tender; scope gaps priced in.</a:t>
            </a:r>
          </a:p>
        </p:txBody>
      </p:sp>
      <p:sp>
        <p:nvSpPr>
          <p:cNvPr id="67" name="Rounded Rectangle 66"/>
          <p:cNvSpPr/>
          <p:nvPr/>
        </p:nvSpPr>
        <p:spPr>
          <a:xfrm>
            <a:off x="9061704" y="4242816"/>
            <a:ext cx="2743200" cy="640080"/>
          </a:xfrm>
          <a:prstGeom prst="roundRect">
            <a:avLst>
              <a:gd name="adj" fmla="val 4000"/>
            </a:avLst>
          </a:prstGeom>
          <a:solidFill>
            <a:srgbClr val="E4F1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0A5F59"/>
                </a:solidFill>
                <a:latin typeface="Calibri"/>
              </a:rPr>
              <a:t>Bids mapped to one structure, then scored and ranked in minutes.</a:t>
            </a:r>
          </a:p>
        </p:txBody>
      </p:sp>
      <p:sp>
        <p:nvSpPr>
          <p:cNvPr id="68" name="Rectangle 67"/>
          <p:cNvSpPr/>
          <p:nvPr/>
        </p:nvSpPr>
        <p:spPr>
          <a:xfrm>
            <a:off x="384048" y="5733288"/>
            <a:ext cx="11420856" cy="9144"/>
          </a:xfrm>
          <a:prstGeom prst="rect">
            <a:avLst/>
          </a:prstGeom>
          <a:solidFill>
            <a:srgbClr val="E3E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57200" y="5193792"/>
            <a:ext cx="292608" cy="292608"/>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5</a:t>
            </a:r>
          </a:p>
        </p:txBody>
      </p:sp>
      <p:sp>
        <p:nvSpPr>
          <p:cNvPr id="70" name="TextBox 69"/>
          <p:cNvSpPr txBox="1"/>
          <p:nvPr/>
        </p:nvSpPr>
        <p:spPr>
          <a:xfrm>
            <a:off x="822960" y="5120640"/>
            <a:ext cx="1536192" cy="512064"/>
          </a:xfrm>
          <a:prstGeom prst="rect">
            <a:avLst/>
          </a:prstGeom>
          <a:noFill/>
        </p:spPr>
        <p:txBody>
          <a:bodyPr wrap="square" anchor="t"/>
          <a:lstStyle/>
          <a:p>
            <a:pPr algn="l"/>
            <a:r>
              <a:rPr sz="1400" b="1">
                <a:solidFill>
                  <a:srgbClr val="26303A"/>
                </a:solidFill>
                <a:latin typeface="Calibri"/>
              </a:rPr>
              <a:t>Agentic Cost Realization Tracking</a:t>
            </a:r>
          </a:p>
        </p:txBody>
      </p:sp>
      <p:sp>
        <p:nvSpPr>
          <p:cNvPr id="71" name="TextBox 70"/>
          <p:cNvSpPr txBox="1"/>
          <p:nvPr/>
        </p:nvSpPr>
        <p:spPr>
          <a:xfrm>
            <a:off x="2450592" y="5010912"/>
            <a:ext cx="960120" cy="292608"/>
          </a:xfrm>
          <a:prstGeom prst="rect">
            <a:avLst/>
          </a:prstGeom>
          <a:noFill/>
        </p:spPr>
        <p:txBody>
          <a:bodyPr wrap="square" anchor="t"/>
          <a:lstStyle/>
          <a:p>
            <a:pPr algn="l"/>
            <a:r>
              <a:rPr sz="1200" b="1">
                <a:solidFill>
                  <a:srgbClr val="0A5F59"/>
                </a:solidFill>
                <a:latin typeface="Calibri"/>
              </a:rPr>
              <a:t>LEADERS</a:t>
            </a:r>
          </a:p>
        </p:txBody>
      </p:sp>
      <p:sp>
        <p:nvSpPr>
          <p:cNvPr id="72" name="TextBox 71"/>
          <p:cNvSpPr txBox="1"/>
          <p:nvPr/>
        </p:nvSpPr>
        <p:spPr>
          <a:xfrm>
            <a:off x="3383280" y="5010912"/>
            <a:ext cx="2194560" cy="292608"/>
          </a:xfrm>
          <a:prstGeom prst="rect">
            <a:avLst/>
          </a:prstGeom>
          <a:noFill/>
        </p:spPr>
        <p:txBody>
          <a:bodyPr wrap="square" anchor="t"/>
          <a:lstStyle/>
          <a:p>
            <a:pPr algn="l"/>
            <a:r>
              <a:rPr sz="1400" b="0">
                <a:solidFill>
                  <a:srgbClr val="3A454F"/>
                </a:solidFill>
                <a:latin typeface="Calibri"/>
              </a:rPr>
              <a:t>PM platforms, manual reports.</a:t>
            </a:r>
          </a:p>
        </p:txBody>
      </p:sp>
      <p:sp>
        <p:nvSpPr>
          <p:cNvPr id="73" name="Rounded Rectangle 72"/>
          <p:cNvSpPr/>
          <p:nvPr/>
        </p:nvSpPr>
        <p:spPr>
          <a:xfrm>
            <a:off x="5632704" y="5065776"/>
            <a:ext cx="868680" cy="128016"/>
          </a:xfrm>
          <a:prstGeom prst="roundRect">
            <a:avLst>
              <a:gd name="adj" fmla="val 50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ed Rectangle 73"/>
          <p:cNvSpPr/>
          <p:nvPr/>
        </p:nvSpPr>
        <p:spPr>
          <a:xfrm>
            <a:off x="5632704" y="5065776"/>
            <a:ext cx="694944" cy="128016"/>
          </a:xfrm>
          <a:prstGeom prst="roundRect">
            <a:avLst>
              <a:gd name="adj" fmla="val 50000"/>
            </a:avLst>
          </a:prstGeom>
          <a:solidFill>
            <a:srgbClr val="D99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450592" y="5376672"/>
            <a:ext cx="960120" cy="292608"/>
          </a:xfrm>
          <a:prstGeom prst="rect">
            <a:avLst/>
          </a:prstGeom>
          <a:noFill/>
        </p:spPr>
        <p:txBody>
          <a:bodyPr wrap="square" anchor="t"/>
          <a:lstStyle/>
          <a:p>
            <a:pPr algn="l"/>
            <a:r>
              <a:rPr sz="1200" b="1">
                <a:solidFill>
                  <a:srgbClr val="9AA3AC"/>
                </a:solidFill>
                <a:latin typeface="Calibri"/>
              </a:rPr>
              <a:t>DEVELOPING</a:t>
            </a:r>
          </a:p>
        </p:txBody>
      </p:sp>
      <p:sp>
        <p:nvSpPr>
          <p:cNvPr id="76" name="TextBox 75"/>
          <p:cNvSpPr txBox="1"/>
          <p:nvPr/>
        </p:nvSpPr>
        <p:spPr>
          <a:xfrm>
            <a:off x="3383280" y="5376672"/>
            <a:ext cx="2194560" cy="292608"/>
          </a:xfrm>
          <a:prstGeom prst="rect">
            <a:avLst/>
          </a:prstGeom>
          <a:noFill/>
        </p:spPr>
        <p:txBody>
          <a:bodyPr wrap="square" anchor="t"/>
          <a:lstStyle/>
          <a:p>
            <a:pPr algn="l"/>
            <a:r>
              <a:rPr sz="1400" b="0">
                <a:solidFill>
                  <a:srgbClr val="3A454F"/>
                </a:solidFill>
                <a:latin typeface="Calibri"/>
              </a:rPr>
              <a:t>Spreadsheets and site walks.</a:t>
            </a:r>
          </a:p>
        </p:txBody>
      </p:sp>
      <p:sp>
        <p:nvSpPr>
          <p:cNvPr id="77" name="Rounded Rectangle 76"/>
          <p:cNvSpPr/>
          <p:nvPr/>
        </p:nvSpPr>
        <p:spPr>
          <a:xfrm>
            <a:off x="5632704" y="5431536"/>
            <a:ext cx="868680" cy="128016"/>
          </a:xfrm>
          <a:prstGeom prst="roundRect">
            <a:avLst>
              <a:gd name="adj" fmla="val 50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5632704" y="5431536"/>
            <a:ext cx="816559" cy="128016"/>
          </a:xfrm>
          <a:prstGeom prst="roundRect">
            <a:avLst>
              <a:gd name="adj" fmla="val 50000"/>
            </a:avLst>
          </a:prstGeom>
          <a:solidFill>
            <a:srgbClr val="C045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693408" y="5102352"/>
            <a:ext cx="2267712" cy="530352"/>
          </a:xfrm>
          <a:prstGeom prst="rect">
            <a:avLst/>
          </a:prstGeom>
          <a:noFill/>
        </p:spPr>
        <p:txBody>
          <a:bodyPr wrap="square" anchor="t"/>
          <a:lstStyle/>
          <a:p>
            <a:pPr algn="l"/>
            <a:r>
              <a:rPr sz="1400" b="0">
                <a:solidFill>
                  <a:srgbClr val="26303A"/>
                </a:solidFill>
                <a:latin typeface="Calibri"/>
              </a:rPr>
              <a:t>Overruns surface once irreversible.</a:t>
            </a:r>
          </a:p>
        </p:txBody>
      </p:sp>
      <p:sp>
        <p:nvSpPr>
          <p:cNvPr id="80" name="Rounded Rectangle 79"/>
          <p:cNvSpPr/>
          <p:nvPr/>
        </p:nvSpPr>
        <p:spPr>
          <a:xfrm>
            <a:off x="9061704" y="5029200"/>
            <a:ext cx="2743200" cy="640080"/>
          </a:xfrm>
          <a:prstGeom prst="roundRect">
            <a:avLst>
              <a:gd name="adj" fmla="val 4000"/>
            </a:avLst>
          </a:prstGeom>
          <a:solidFill>
            <a:srgbClr val="E4F1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0A5F59"/>
                </a:solidFill>
                <a:latin typeface="Calibri"/>
              </a:rPr>
              <a:t>AI checks quantities and progress, and flags mismatches early.</a:t>
            </a:r>
          </a:p>
        </p:txBody>
      </p:sp>
      <p:sp>
        <p:nvSpPr>
          <p:cNvPr id="81" name="Rectangle 80"/>
          <p:cNvSpPr/>
          <p:nvPr/>
        </p:nvSpPr>
        <p:spPr>
          <a:xfrm>
            <a:off x="384048" y="6519672"/>
            <a:ext cx="11420856" cy="9144"/>
          </a:xfrm>
          <a:prstGeom prst="rect">
            <a:avLst/>
          </a:prstGeom>
          <a:solidFill>
            <a:srgbClr val="E3E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457200" y="5980176"/>
            <a:ext cx="292608" cy="292608"/>
          </a:xfrm>
          <a:prstGeom prst="ellipse">
            <a:avLst/>
          </a:prstGeom>
          <a:solidFill>
            <a:srgbClr val="B97D1E"/>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6</a:t>
            </a:r>
          </a:p>
        </p:txBody>
      </p:sp>
      <p:sp>
        <p:nvSpPr>
          <p:cNvPr id="83" name="TextBox 82"/>
          <p:cNvSpPr txBox="1"/>
          <p:nvPr/>
        </p:nvSpPr>
        <p:spPr>
          <a:xfrm>
            <a:off x="822960" y="5907024"/>
            <a:ext cx="1536192" cy="512064"/>
          </a:xfrm>
          <a:prstGeom prst="rect">
            <a:avLst/>
          </a:prstGeom>
          <a:noFill/>
        </p:spPr>
        <p:txBody>
          <a:bodyPr wrap="square" anchor="t"/>
          <a:lstStyle/>
          <a:p>
            <a:pPr algn="l"/>
            <a:r>
              <a:rPr sz="1400" b="1">
                <a:solidFill>
                  <a:srgbClr val="26303A"/>
                </a:solidFill>
                <a:latin typeface="Calibri"/>
              </a:rPr>
              <a:t>AI-Based Value Optimizer</a:t>
            </a:r>
          </a:p>
        </p:txBody>
      </p:sp>
      <p:sp>
        <p:nvSpPr>
          <p:cNvPr id="84" name="TextBox 83"/>
          <p:cNvSpPr txBox="1"/>
          <p:nvPr/>
        </p:nvSpPr>
        <p:spPr>
          <a:xfrm>
            <a:off x="2450592" y="5797296"/>
            <a:ext cx="960120" cy="292608"/>
          </a:xfrm>
          <a:prstGeom prst="rect">
            <a:avLst/>
          </a:prstGeom>
          <a:noFill/>
        </p:spPr>
        <p:txBody>
          <a:bodyPr wrap="square" anchor="t"/>
          <a:lstStyle/>
          <a:p>
            <a:pPr algn="l"/>
            <a:r>
              <a:rPr sz="1200" b="1">
                <a:solidFill>
                  <a:srgbClr val="0A5F59"/>
                </a:solidFill>
                <a:latin typeface="Calibri"/>
              </a:rPr>
              <a:t>LEADERS</a:t>
            </a:r>
          </a:p>
        </p:txBody>
      </p:sp>
      <p:sp>
        <p:nvSpPr>
          <p:cNvPr id="85" name="TextBox 84"/>
          <p:cNvSpPr txBox="1"/>
          <p:nvPr/>
        </p:nvSpPr>
        <p:spPr>
          <a:xfrm>
            <a:off x="3383280" y="5797296"/>
            <a:ext cx="2194560" cy="292608"/>
          </a:xfrm>
          <a:prstGeom prst="rect">
            <a:avLst/>
          </a:prstGeom>
          <a:noFill/>
        </p:spPr>
        <p:txBody>
          <a:bodyPr wrap="square" anchor="t"/>
          <a:lstStyle/>
          <a:p>
            <a:pPr algn="l"/>
            <a:r>
              <a:rPr sz="1400" b="0">
                <a:solidFill>
                  <a:srgbClr val="3A454F"/>
                </a:solidFill>
                <a:latin typeface="Calibri"/>
              </a:rPr>
              <a:t>Value engineering at gates.</a:t>
            </a:r>
          </a:p>
        </p:txBody>
      </p:sp>
      <p:sp>
        <p:nvSpPr>
          <p:cNvPr id="86" name="Rounded Rectangle 85"/>
          <p:cNvSpPr/>
          <p:nvPr/>
        </p:nvSpPr>
        <p:spPr>
          <a:xfrm>
            <a:off x="5632704" y="5852160"/>
            <a:ext cx="868680" cy="128016"/>
          </a:xfrm>
          <a:prstGeom prst="roundRect">
            <a:avLst>
              <a:gd name="adj" fmla="val 50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ounded Rectangle 86"/>
          <p:cNvSpPr/>
          <p:nvPr/>
        </p:nvSpPr>
        <p:spPr>
          <a:xfrm>
            <a:off x="5632704" y="5852160"/>
            <a:ext cx="416966" cy="128016"/>
          </a:xfrm>
          <a:prstGeom prst="roundRect">
            <a:avLst>
              <a:gd name="adj" fmla="val 50000"/>
            </a:avLst>
          </a:prstGeom>
          <a:solidFill>
            <a:srgbClr val="98A2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450592" y="6163056"/>
            <a:ext cx="960120" cy="292608"/>
          </a:xfrm>
          <a:prstGeom prst="rect">
            <a:avLst/>
          </a:prstGeom>
          <a:noFill/>
        </p:spPr>
        <p:txBody>
          <a:bodyPr wrap="square" anchor="t"/>
          <a:lstStyle/>
          <a:p>
            <a:pPr algn="l"/>
            <a:r>
              <a:rPr sz="1200" b="1">
                <a:solidFill>
                  <a:srgbClr val="9AA3AC"/>
                </a:solidFill>
                <a:latin typeface="Calibri"/>
              </a:rPr>
              <a:t>DEVELOPING</a:t>
            </a:r>
          </a:p>
        </p:txBody>
      </p:sp>
      <p:sp>
        <p:nvSpPr>
          <p:cNvPr id="89" name="TextBox 88"/>
          <p:cNvSpPr txBox="1"/>
          <p:nvPr/>
        </p:nvSpPr>
        <p:spPr>
          <a:xfrm>
            <a:off x="3383280" y="6163056"/>
            <a:ext cx="2194560" cy="292608"/>
          </a:xfrm>
          <a:prstGeom prst="rect">
            <a:avLst/>
          </a:prstGeom>
          <a:noFill/>
        </p:spPr>
        <p:txBody>
          <a:bodyPr wrap="square" anchor="t"/>
          <a:lstStyle/>
          <a:p>
            <a:pPr algn="l"/>
            <a:r>
              <a:rPr sz="1400" b="0">
                <a:solidFill>
                  <a:srgbClr val="3A454F"/>
                </a:solidFill>
                <a:latin typeface="Calibri"/>
              </a:rPr>
              <a:t>Cost cuts after the breach.</a:t>
            </a:r>
          </a:p>
        </p:txBody>
      </p:sp>
      <p:sp>
        <p:nvSpPr>
          <p:cNvPr id="90" name="Rounded Rectangle 89"/>
          <p:cNvSpPr/>
          <p:nvPr/>
        </p:nvSpPr>
        <p:spPr>
          <a:xfrm>
            <a:off x="5632704" y="6217920"/>
            <a:ext cx="868680" cy="128016"/>
          </a:xfrm>
          <a:prstGeom prst="roundRect">
            <a:avLst>
              <a:gd name="adj" fmla="val 50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ounded Rectangle 90"/>
          <p:cNvSpPr/>
          <p:nvPr/>
        </p:nvSpPr>
        <p:spPr>
          <a:xfrm>
            <a:off x="5632704" y="6217920"/>
            <a:ext cx="642823" cy="128016"/>
          </a:xfrm>
          <a:prstGeom prst="roundRect">
            <a:avLst>
              <a:gd name="adj" fmla="val 50000"/>
            </a:avLst>
          </a:prstGeom>
          <a:solidFill>
            <a:srgbClr val="D99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693408" y="5888736"/>
            <a:ext cx="2267712" cy="530352"/>
          </a:xfrm>
          <a:prstGeom prst="rect">
            <a:avLst/>
          </a:prstGeom>
          <a:noFill/>
        </p:spPr>
        <p:txBody>
          <a:bodyPr wrap="square" anchor="t"/>
          <a:lstStyle/>
          <a:p>
            <a:pPr algn="l"/>
            <a:r>
              <a:rPr sz="1400" b="0">
                <a:solidFill>
                  <a:srgbClr val="26303A"/>
                </a:solidFill>
                <a:latin typeface="Calibri"/>
              </a:rPr>
              <a:t>Savings found too late to design in.</a:t>
            </a:r>
          </a:p>
        </p:txBody>
      </p:sp>
      <p:sp>
        <p:nvSpPr>
          <p:cNvPr id="93" name="Rounded Rectangle 92"/>
          <p:cNvSpPr/>
          <p:nvPr/>
        </p:nvSpPr>
        <p:spPr>
          <a:xfrm>
            <a:off x="9061704" y="5815584"/>
            <a:ext cx="2743200" cy="640080"/>
          </a:xfrm>
          <a:prstGeom prst="roundRect">
            <a:avLst>
              <a:gd name="adj" fmla="val 4000"/>
            </a:avLst>
          </a:prstGeom>
          <a:solidFill>
            <a:srgbClr val="E4F1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0A5F59"/>
                </a:solidFill>
                <a:latin typeface="Calibri"/>
              </a:rPr>
              <a:t>An always-on loop that surfaces savings as work proceeds.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201168"/>
            <a:ext cx="11338560" cy="256032"/>
          </a:xfrm>
          <a:prstGeom prst="rect">
            <a:avLst/>
          </a:prstGeom>
          <a:noFill/>
        </p:spPr>
        <p:txBody>
          <a:bodyPr wrap="square" anchor="t"/>
          <a:lstStyle/>
          <a:p>
            <a:pPr algn="l"/>
            <a:r>
              <a:rPr sz="1400" b="1">
                <a:solidFill>
                  <a:srgbClr val="0B7F77"/>
                </a:solidFill>
                <a:latin typeface="Calibri"/>
              </a:rPr>
              <a:t>BLUE CURRENCY  |  COMPETITIVE LANDSCAPE</a:t>
            </a:r>
          </a:p>
        </p:txBody>
      </p:sp>
      <p:sp>
        <p:nvSpPr>
          <p:cNvPr id="4" name="TextBox 3"/>
          <p:cNvSpPr txBox="1"/>
          <p:nvPr/>
        </p:nvSpPr>
        <p:spPr>
          <a:xfrm>
            <a:off x="384048" y="420624"/>
            <a:ext cx="11430000" cy="438912"/>
          </a:xfrm>
          <a:prstGeom prst="rect">
            <a:avLst/>
          </a:prstGeom>
          <a:noFill/>
        </p:spPr>
        <p:txBody>
          <a:bodyPr wrap="square">
            <a:spAutoFit/>
          </a:bodyPr>
          <a:lstStyle/>
          <a:p>
            <a:r>
              <a:rPr sz="2500" b="1">
                <a:solidFill>
                  <a:srgbClr val="26303A"/>
                </a:solidFill>
                <a:latin typeface="Calibri"/>
              </a:rPr>
              <a:t>The market falls into </a:t>
            </a:r>
            <a:r>
              <a:rPr sz="2500" b="1">
                <a:solidFill>
                  <a:srgbClr val="0A5F59"/>
                </a:solidFill>
                <a:latin typeface="Calibri"/>
              </a:rPr>
              <a:t>four archetypes</a:t>
            </a:r>
            <a:r>
              <a:rPr sz="2500" b="1">
                <a:solidFill>
                  <a:srgbClr val="26303A"/>
                </a:solidFill>
                <a:latin typeface="Calibri"/>
              </a:rPr>
              <a:t> — we sit deliberately between them, not at the far corner</a:t>
            </a:r>
          </a:p>
        </p:txBody>
      </p:sp>
      <p:sp>
        <p:nvSpPr>
          <p:cNvPr id="5" name="TextBox 4"/>
          <p:cNvSpPr txBox="1"/>
          <p:nvPr/>
        </p:nvSpPr>
        <p:spPr>
          <a:xfrm rot="-5400000">
            <a:off x="73152" y="1645920"/>
            <a:ext cx="329184" cy="4023360"/>
          </a:xfrm>
          <a:prstGeom prst="rect">
            <a:avLst/>
          </a:prstGeom>
          <a:noFill/>
        </p:spPr>
        <p:txBody>
          <a:bodyPr wrap="square">
            <a:spAutoFit/>
          </a:bodyPr>
          <a:lstStyle/>
          <a:p>
            <a:pPr algn="ctr"/>
            <a:r>
              <a:rPr sz="1100" b="1">
                <a:solidFill>
                  <a:srgbClr val="6B7580"/>
                </a:solidFill>
                <a:latin typeface="Calibri"/>
              </a:rPr>
              <a:t>AI-NATIVE REASONING  →</a:t>
            </a:r>
          </a:p>
        </p:txBody>
      </p:sp>
      <p:sp>
        <p:nvSpPr>
          <p:cNvPr id="6" name="Rounded Rectangle 5"/>
          <p:cNvSpPr/>
          <p:nvPr/>
        </p:nvSpPr>
        <p:spPr>
          <a:xfrm>
            <a:off x="475488" y="1005840"/>
            <a:ext cx="5440680" cy="2084831"/>
          </a:xfrm>
          <a:prstGeom prst="roundRect">
            <a:avLst>
              <a:gd name="adj" fmla="val 8000"/>
            </a:avLst>
          </a:prstGeom>
          <a:solidFill>
            <a:srgbClr val="F7F9F9"/>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3504" y="1078992"/>
            <a:ext cx="5120640" cy="274320"/>
          </a:xfrm>
          <a:prstGeom prst="rect">
            <a:avLst/>
          </a:prstGeom>
          <a:noFill/>
        </p:spPr>
        <p:txBody>
          <a:bodyPr wrap="square" anchor="t">
            <a:spAutoFit/>
          </a:bodyPr>
          <a:lstStyle/>
          <a:p>
            <a:pPr algn="l"/>
            <a:r>
              <a:rPr sz="1400" b="1">
                <a:solidFill>
                  <a:srgbClr val="26303A"/>
                </a:solidFill>
                <a:latin typeface="Calibri"/>
              </a:rPr>
              <a:t>AI specialists  </a:t>
            </a:r>
            <a:r>
              <a:rPr sz="1400" b="1">
                <a:solidFill>
                  <a:srgbClr val="6B7580"/>
                </a:solidFill>
                <a:latin typeface="Calibri"/>
              </a:rPr>
              <a:t>AI-native, one step</a:t>
            </a:r>
          </a:p>
        </p:txBody>
      </p:sp>
      <p:sp>
        <p:nvSpPr>
          <p:cNvPr id="8" name="TextBox 7"/>
          <p:cNvSpPr txBox="1"/>
          <p:nvPr/>
        </p:nvSpPr>
        <p:spPr>
          <a:xfrm>
            <a:off x="603504" y="1335024"/>
            <a:ext cx="5120640" cy="256032"/>
          </a:xfrm>
          <a:prstGeom prst="rect">
            <a:avLst/>
          </a:prstGeom>
          <a:noFill/>
        </p:spPr>
        <p:txBody>
          <a:bodyPr wrap="square" anchor="t"/>
          <a:lstStyle/>
          <a:p>
            <a:pPr algn="l"/>
            <a:r>
              <a:rPr sz="1400" b="0">
                <a:solidFill>
                  <a:srgbClr val="3A454F"/>
                </a:solidFill>
                <a:latin typeface="Calibri"/>
              </a:rPr>
              <a:t>Built on models from day one, excellent at the one step they own.</a:t>
            </a:r>
          </a:p>
        </p:txBody>
      </p:sp>
      <p:sp>
        <p:nvSpPr>
          <p:cNvPr id="9" name="Rounded Rectangle 8"/>
          <p:cNvSpPr/>
          <p:nvPr/>
        </p:nvSpPr>
        <p:spPr>
          <a:xfrm>
            <a:off x="603504" y="1645920"/>
            <a:ext cx="1005840" cy="274320"/>
          </a:xfrm>
          <a:prstGeom prst="roundRect">
            <a:avLst>
              <a:gd name="adj" fmla="val 50000"/>
            </a:avLst>
          </a:prstGeom>
          <a:solidFill>
            <a:srgbClr val="FFFFFF"/>
          </a:solidFill>
          <a:ln w="9525">
            <a:solidFill>
              <a:srgbClr val="BBD9D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0A5F59"/>
                </a:solidFill>
                <a:latin typeface="Calibri"/>
              </a:rPr>
              <a:t>Kreo</a:t>
            </a:r>
          </a:p>
        </p:txBody>
      </p:sp>
      <p:sp>
        <p:nvSpPr>
          <p:cNvPr id="10" name="Rounded Rectangle 9"/>
          <p:cNvSpPr/>
          <p:nvPr/>
        </p:nvSpPr>
        <p:spPr>
          <a:xfrm>
            <a:off x="1664208" y="1645920"/>
            <a:ext cx="1005840" cy="274320"/>
          </a:xfrm>
          <a:prstGeom prst="roundRect">
            <a:avLst>
              <a:gd name="adj" fmla="val 50000"/>
            </a:avLst>
          </a:prstGeom>
          <a:solidFill>
            <a:srgbClr val="FFFFFF"/>
          </a:solidFill>
          <a:ln w="9525">
            <a:solidFill>
              <a:srgbClr val="BBD9D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0A5F59"/>
                </a:solidFill>
                <a:latin typeface="Calibri"/>
              </a:rPr>
              <a:t>Buildots</a:t>
            </a:r>
          </a:p>
        </p:txBody>
      </p:sp>
      <p:sp>
        <p:nvSpPr>
          <p:cNvPr id="11" name="Rounded Rectangle 10"/>
          <p:cNvSpPr/>
          <p:nvPr/>
        </p:nvSpPr>
        <p:spPr>
          <a:xfrm>
            <a:off x="2724912" y="1645920"/>
            <a:ext cx="1005840" cy="274320"/>
          </a:xfrm>
          <a:prstGeom prst="roundRect">
            <a:avLst>
              <a:gd name="adj" fmla="val 50000"/>
            </a:avLst>
          </a:prstGeom>
          <a:solidFill>
            <a:srgbClr val="FFFFFF"/>
          </a:solidFill>
          <a:ln w="9525">
            <a:solidFill>
              <a:srgbClr val="BBD9D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0A5F59"/>
                </a:solidFill>
                <a:latin typeface="Calibri"/>
              </a:rPr>
              <a:t>Costify</a:t>
            </a:r>
          </a:p>
        </p:txBody>
      </p:sp>
      <p:sp>
        <p:nvSpPr>
          <p:cNvPr id="12" name="Rounded Rectangle 11"/>
          <p:cNvSpPr/>
          <p:nvPr/>
        </p:nvSpPr>
        <p:spPr>
          <a:xfrm>
            <a:off x="3785616" y="1645920"/>
            <a:ext cx="1005840" cy="274320"/>
          </a:xfrm>
          <a:prstGeom prst="roundRect">
            <a:avLst>
              <a:gd name="adj" fmla="val 50000"/>
            </a:avLst>
          </a:prstGeom>
          <a:solidFill>
            <a:srgbClr val="FFFFFF"/>
          </a:solidFill>
          <a:ln w="9525">
            <a:solidFill>
              <a:srgbClr val="BBD9D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0A5F59"/>
                </a:solidFill>
                <a:latin typeface="Calibri"/>
              </a:rPr>
              <a:t>Zebel</a:t>
            </a:r>
          </a:p>
        </p:txBody>
      </p:sp>
      <p:sp>
        <p:nvSpPr>
          <p:cNvPr id="13" name="Rounded Rectangle 12"/>
          <p:cNvSpPr/>
          <p:nvPr/>
        </p:nvSpPr>
        <p:spPr>
          <a:xfrm>
            <a:off x="4846320" y="1645920"/>
            <a:ext cx="1005840" cy="274320"/>
          </a:xfrm>
          <a:prstGeom prst="roundRect">
            <a:avLst>
              <a:gd name="adj" fmla="val 50000"/>
            </a:avLst>
          </a:prstGeom>
          <a:solidFill>
            <a:srgbClr val="FFFFFF"/>
          </a:solidFill>
          <a:ln w="9525">
            <a:solidFill>
              <a:srgbClr val="BBD9D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0A5F59"/>
                </a:solidFill>
                <a:latin typeface="Calibri"/>
              </a:rPr>
              <a:t>ConWize</a:t>
            </a:r>
          </a:p>
        </p:txBody>
      </p:sp>
      <p:sp>
        <p:nvSpPr>
          <p:cNvPr id="14" name="Rounded Rectangle 13"/>
          <p:cNvSpPr/>
          <p:nvPr/>
        </p:nvSpPr>
        <p:spPr>
          <a:xfrm>
            <a:off x="603504" y="1975104"/>
            <a:ext cx="1005840" cy="274320"/>
          </a:xfrm>
          <a:prstGeom prst="roundRect">
            <a:avLst>
              <a:gd name="adj" fmla="val 50000"/>
            </a:avLst>
          </a:prstGeom>
          <a:solidFill>
            <a:srgbClr val="FFFFFF"/>
          </a:solidFill>
          <a:ln w="9525">
            <a:solidFill>
              <a:srgbClr val="BBD9D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0A5F59"/>
                </a:solidFill>
                <a:latin typeface="Calibri"/>
              </a:rPr>
              <a:t>Ediphi</a:t>
            </a:r>
          </a:p>
        </p:txBody>
      </p:sp>
      <p:sp>
        <p:nvSpPr>
          <p:cNvPr id="15" name="Rounded Rectangle 14"/>
          <p:cNvSpPr/>
          <p:nvPr/>
        </p:nvSpPr>
        <p:spPr>
          <a:xfrm>
            <a:off x="1664208" y="1975104"/>
            <a:ext cx="1005840" cy="274320"/>
          </a:xfrm>
          <a:prstGeom prst="roundRect">
            <a:avLst>
              <a:gd name="adj" fmla="val 50000"/>
            </a:avLst>
          </a:prstGeom>
          <a:solidFill>
            <a:srgbClr val="FFFFFF"/>
          </a:solidFill>
          <a:ln w="9525">
            <a:solidFill>
              <a:srgbClr val="BBD9D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0A5F59"/>
                </a:solidFill>
                <a:latin typeface="Calibri"/>
              </a:rPr>
              <a:t>Doxel</a:t>
            </a:r>
          </a:p>
        </p:txBody>
      </p:sp>
      <p:sp>
        <p:nvSpPr>
          <p:cNvPr id="16" name="Rounded Rectangle 15"/>
          <p:cNvSpPr/>
          <p:nvPr/>
        </p:nvSpPr>
        <p:spPr>
          <a:xfrm>
            <a:off x="2724912" y="1975104"/>
            <a:ext cx="1005840" cy="274320"/>
          </a:xfrm>
          <a:prstGeom prst="roundRect">
            <a:avLst>
              <a:gd name="adj" fmla="val 50000"/>
            </a:avLst>
          </a:prstGeom>
          <a:solidFill>
            <a:srgbClr val="FFFFFF"/>
          </a:solidFill>
          <a:ln w="9525">
            <a:solidFill>
              <a:srgbClr val="BBD9D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0A5F59"/>
                </a:solidFill>
                <a:latin typeface="Calibri"/>
              </a:rPr>
              <a:t>OpenSpace</a:t>
            </a:r>
          </a:p>
        </p:txBody>
      </p:sp>
      <p:sp>
        <p:nvSpPr>
          <p:cNvPr id="17" name="Rounded Rectangle 16"/>
          <p:cNvSpPr/>
          <p:nvPr/>
        </p:nvSpPr>
        <p:spPr>
          <a:xfrm>
            <a:off x="3785616" y="1975104"/>
            <a:ext cx="1005840" cy="274320"/>
          </a:xfrm>
          <a:prstGeom prst="roundRect">
            <a:avLst>
              <a:gd name="adj" fmla="val 50000"/>
            </a:avLst>
          </a:prstGeom>
          <a:solidFill>
            <a:srgbClr val="FFFFFF"/>
          </a:solidFill>
          <a:ln w="9525">
            <a:solidFill>
              <a:srgbClr val="BBD9D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0A5F59"/>
                </a:solidFill>
                <a:latin typeface="Calibri"/>
              </a:rPr>
              <a:t>ALICE</a:t>
            </a:r>
          </a:p>
        </p:txBody>
      </p:sp>
      <p:sp>
        <p:nvSpPr>
          <p:cNvPr id="18" name="Rounded Rectangle 17"/>
          <p:cNvSpPr/>
          <p:nvPr/>
        </p:nvSpPr>
        <p:spPr>
          <a:xfrm>
            <a:off x="4846320" y="1975104"/>
            <a:ext cx="1005840" cy="274320"/>
          </a:xfrm>
          <a:prstGeom prst="roundRect">
            <a:avLst>
              <a:gd name="adj" fmla="val 50000"/>
            </a:avLst>
          </a:prstGeom>
          <a:solidFill>
            <a:srgbClr val="FFFFFF"/>
          </a:solidFill>
          <a:ln w="9525">
            <a:solidFill>
              <a:srgbClr val="BBD9D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0A5F59"/>
                </a:solidFill>
                <a:latin typeface="Calibri"/>
              </a:rPr>
              <a:t>nPlan</a:t>
            </a:r>
          </a:p>
        </p:txBody>
      </p:sp>
      <p:sp>
        <p:nvSpPr>
          <p:cNvPr id="19" name="TextBox 18"/>
          <p:cNvSpPr txBox="1"/>
          <p:nvPr/>
        </p:nvSpPr>
        <p:spPr>
          <a:xfrm>
            <a:off x="603504" y="2377440"/>
            <a:ext cx="5120640" cy="219456"/>
          </a:xfrm>
          <a:prstGeom prst="rect">
            <a:avLst/>
          </a:prstGeom>
          <a:noFill/>
        </p:spPr>
        <p:txBody>
          <a:bodyPr wrap="square" anchor="t"/>
          <a:lstStyle/>
          <a:p>
            <a:pPr algn="l"/>
            <a:r>
              <a:rPr sz="1400" b="0">
                <a:solidFill>
                  <a:srgbClr val="6B7580"/>
                </a:solidFill>
                <a:latin typeface="Calibri"/>
              </a:rPr>
              <a:t>Strong in  takeoff, cost classification, tendering, site progress</a:t>
            </a:r>
          </a:p>
        </p:txBody>
      </p:sp>
      <p:sp>
        <p:nvSpPr>
          <p:cNvPr id="20" name="TextBox 19"/>
          <p:cNvSpPr txBox="1"/>
          <p:nvPr/>
        </p:nvSpPr>
        <p:spPr>
          <a:xfrm>
            <a:off x="603504" y="2615184"/>
            <a:ext cx="5120640" cy="365760"/>
          </a:xfrm>
          <a:prstGeom prst="rect">
            <a:avLst/>
          </a:prstGeom>
          <a:noFill/>
        </p:spPr>
        <p:txBody>
          <a:bodyPr wrap="square" anchor="t">
            <a:spAutoFit/>
          </a:bodyPr>
          <a:lstStyle/>
          <a:p>
            <a:pPr algn="l"/>
            <a:r>
              <a:rPr sz="1400" b="1">
                <a:solidFill>
                  <a:srgbClr val="26303A"/>
                </a:solidFill>
                <a:latin typeface="Calibri"/>
              </a:rPr>
              <a:t>Each solves a slice — </a:t>
            </a:r>
            <a:r>
              <a:rPr sz="1400" b="1">
                <a:solidFill>
                  <a:srgbClr val="C0453B"/>
                </a:solidFill>
                <a:latin typeface="Calibri"/>
              </a:rPr>
              <a:t>nothing carries across a handover.</a:t>
            </a:r>
          </a:p>
        </p:txBody>
      </p:sp>
      <p:sp>
        <p:nvSpPr>
          <p:cNvPr id="21" name="Rounded Rectangle 20"/>
          <p:cNvSpPr/>
          <p:nvPr/>
        </p:nvSpPr>
        <p:spPr>
          <a:xfrm>
            <a:off x="6071616" y="1005840"/>
            <a:ext cx="5440680" cy="2084831"/>
          </a:xfrm>
          <a:prstGeom prst="roundRect">
            <a:avLst>
              <a:gd name="adj" fmla="val 8000"/>
            </a:avLst>
          </a:prstGeom>
          <a:solidFill>
            <a:srgbClr val="EEF8F6"/>
          </a:solidFill>
          <a:ln w="19050">
            <a:solidFill>
              <a:srgbClr val="9CCB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99632" y="1078992"/>
            <a:ext cx="5120640" cy="274320"/>
          </a:xfrm>
          <a:prstGeom prst="rect">
            <a:avLst/>
          </a:prstGeom>
          <a:noFill/>
        </p:spPr>
        <p:txBody>
          <a:bodyPr wrap="square" anchor="t">
            <a:spAutoFit/>
          </a:bodyPr>
          <a:lstStyle/>
          <a:p>
            <a:pPr algn="l"/>
            <a:r>
              <a:rPr sz="1400" b="1">
                <a:solidFill>
                  <a:srgbClr val="0A5F59"/>
                </a:solidFill>
                <a:latin typeface="Calibri"/>
              </a:rPr>
              <a:t>Agentic platforms  </a:t>
            </a:r>
            <a:r>
              <a:rPr sz="1400" b="1">
                <a:solidFill>
                  <a:srgbClr val="6B7580"/>
                </a:solidFill>
                <a:latin typeface="Calibri"/>
              </a:rPr>
              <a:t>AI-native, across the lifecycle</a:t>
            </a:r>
          </a:p>
        </p:txBody>
      </p:sp>
      <p:sp>
        <p:nvSpPr>
          <p:cNvPr id="23" name="TextBox 22"/>
          <p:cNvSpPr txBox="1"/>
          <p:nvPr/>
        </p:nvSpPr>
        <p:spPr>
          <a:xfrm>
            <a:off x="6199632" y="1371600"/>
            <a:ext cx="5120640" cy="329184"/>
          </a:xfrm>
          <a:prstGeom prst="rect">
            <a:avLst/>
          </a:prstGeom>
          <a:noFill/>
        </p:spPr>
        <p:txBody>
          <a:bodyPr wrap="square" anchor="t"/>
          <a:lstStyle/>
          <a:p>
            <a:pPr algn="l"/>
            <a:r>
              <a:rPr sz="1400" b="0">
                <a:solidFill>
                  <a:srgbClr val="3A454F"/>
                </a:solidFill>
                <a:latin typeface="Calibri"/>
              </a:rPr>
              <a:t>One platform that reasons across every stage, from BoQ through to site.</a:t>
            </a:r>
          </a:p>
        </p:txBody>
      </p:sp>
      <p:sp>
        <p:nvSpPr>
          <p:cNvPr id="24" name="Rounded Rectangle 23"/>
          <p:cNvSpPr/>
          <p:nvPr/>
        </p:nvSpPr>
        <p:spPr>
          <a:xfrm>
            <a:off x="7306056" y="1828800"/>
            <a:ext cx="2971800" cy="420624"/>
          </a:xfrm>
          <a:prstGeom prst="roundRect">
            <a:avLst>
              <a:gd name="adj" fmla="val 8000"/>
            </a:avLst>
          </a:prstGeom>
          <a:solidFill>
            <a:srgbClr val="DCEEE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a:solidFill>
                  <a:srgbClr val="0A5F59"/>
                </a:solidFill>
                <a:latin typeface="Calibri"/>
              </a:rPr>
              <a:t>NO ONE IS HERE YET</a:t>
            </a:r>
          </a:p>
        </p:txBody>
      </p:sp>
      <p:sp>
        <p:nvSpPr>
          <p:cNvPr id="25" name="TextBox 24"/>
          <p:cNvSpPr txBox="1"/>
          <p:nvPr/>
        </p:nvSpPr>
        <p:spPr>
          <a:xfrm>
            <a:off x="6199632" y="2468880"/>
            <a:ext cx="5120640" cy="457200"/>
          </a:xfrm>
          <a:prstGeom prst="rect">
            <a:avLst/>
          </a:prstGeom>
          <a:noFill/>
        </p:spPr>
        <p:txBody>
          <a:bodyPr wrap="square" anchor="t">
            <a:spAutoFit/>
          </a:bodyPr>
          <a:lstStyle/>
          <a:p>
            <a:pPr algn="l"/>
            <a:r>
              <a:rPr sz="1400" b="1">
                <a:solidFill>
                  <a:srgbClr val="0A5F59"/>
                </a:solidFill>
                <a:latin typeface="Calibri"/>
              </a:rPr>
              <a:t>Where the market is heading — </a:t>
            </a:r>
            <a:r>
              <a:rPr sz="1400" b="1">
                <a:solidFill>
                  <a:srgbClr val="0A5F59"/>
                </a:solidFill>
                <a:latin typeface="Calibri"/>
              </a:rPr>
              <a:t>and what Blue Currency is built for.</a:t>
            </a:r>
          </a:p>
        </p:txBody>
      </p:sp>
      <p:sp>
        <p:nvSpPr>
          <p:cNvPr id="26" name="Rounded Rectangle 25"/>
          <p:cNvSpPr/>
          <p:nvPr/>
        </p:nvSpPr>
        <p:spPr>
          <a:xfrm>
            <a:off x="475488" y="3913632"/>
            <a:ext cx="5440680" cy="2084831"/>
          </a:xfrm>
          <a:prstGeom prst="roundRect">
            <a:avLst>
              <a:gd name="adj" fmla="val 8000"/>
            </a:avLst>
          </a:prstGeom>
          <a:solidFill>
            <a:srgbClr val="F7F9F9"/>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3504" y="3986784"/>
            <a:ext cx="5120640" cy="274320"/>
          </a:xfrm>
          <a:prstGeom prst="rect">
            <a:avLst/>
          </a:prstGeom>
          <a:noFill/>
        </p:spPr>
        <p:txBody>
          <a:bodyPr wrap="square" anchor="t">
            <a:spAutoFit/>
          </a:bodyPr>
          <a:lstStyle/>
          <a:p>
            <a:pPr algn="l"/>
            <a:r>
              <a:rPr sz="1400" b="1">
                <a:solidFill>
                  <a:srgbClr val="26303A"/>
                </a:solidFill>
                <a:latin typeface="Calibri"/>
              </a:rPr>
              <a:t>Point tools  </a:t>
            </a:r>
            <a:r>
              <a:rPr sz="1400" b="1">
                <a:solidFill>
                  <a:srgbClr val="6B7580"/>
                </a:solidFill>
                <a:latin typeface="Calibri"/>
              </a:rPr>
              <a:t>Rules-based, one step</a:t>
            </a:r>
          </a:p>
        </p:txBody>
      </p:sp>
      <p:sp>
        <p:nvSpPr>
          <p:cNvPr id="28" name="TextBox 27"/>
          <p:cNvSpPr txBox="1"/>
          <p:nvPr/>
        </p:nvSpPr>
        <p:spPr>
          <a:xfrm>
            <a:off x="603504" y="4242816"/>
            <a:ext cx="5120640" cy="256032"/>
          </a:xfrm>
          <a:prstGeom prst="rect">
            <a:avLst/>
          </a:prstGeom>
          <a:noFill/>
        </p:spPr>
        <p:txBody>
          <a:bodyPr wrap="square" anchor="t"/>
          <a:lstStyle/>
          <a:p>
            <a:pPr algn="l"/>
            <a:r>
              <a:rPr sz="1400" b="0">
                <a:solidFill>
                  <a:srgbClr val="3A454F"/>
                </a:solidFill>
                <a:latin typeface="Calibri"/>
              </a:rPr>
              <a:t>Built around a single task and driven entirely by the operator.</a:t>
            </a:r>
          </a:p>
        </p:txBody>
      </p:sp>
      <p:sp>
        <p:nvSpPr>
          <p:cNvPr id="29" name="Rounded Rectangle 28"/>
          <p:cNvSpPr/>
          <p:nvPr/>
        </p:nvSpPr>
        <p:spPr>
          <a:xfrm>
            <a:off x="603504" y="4553712"/>
            <a:ext cx="1417320"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Bluebeam Revu</a:t>
            </a:r>
          </a:p>
        </p:txBody>
      </p:sp>
      <p:sp>
        <p:nvSpPr>
          <p:cNvPr id="30" name="Rounded Rectangle 29"/>
          <p:cNvSpPr/>
          <p:nvPr/>
        </p:nvSpPr>
        <p:spPr>
          <a:xfrm>
            <a:off x="2075688" y="4553712"/>
            <a:ext cx="1417320"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PlanSwift</a:t>
            </a:r>
          </a:p>
        </p:txBody>
      </p:sp>
      <p:sp>
        <p:nvSpPr>
          <p:cNvPr id="31" name="Rounded Rectangle 30"/>
          <p:cNvSpPr/>
          <p:nvPr/>
        </p:nvSpPr>
        <p:spPr>
          <a:xfrm>
            <a:off x="3547872" y="4553712"/>
            <a:ext cx="1417320"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RIB CostX</a:t>
            </a:r>
          </a:p>
        </p:txBody>
      </p:sp>
      <p:sp>
        <p:nvSpPr>
          <p:cNvPr id="32" name="Rounded Rectangle 31"/>
          <p:cNvSpPr/>
          <p:nvPr/>
        </p:nvSpPr>
        <p:spPr>
          <a:xfrm>
            <a:off x="5020056" y="4553712"/>
            <a:ext cx="1417320"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RIB Candy</a:t>
            </a:r>
          </a:p>
        </p:txBody>
      </p:sp>
      <p:sp>
        <p:nvSpPr>
          <p:cNvPr id="33" name="Rounded Rectangle 32"/>
          <p:cNvSpPr/>
          <p:nvPr/>
        </p:nvSpPr>
        <p:spPr>
          <a:xfrm>
            <a:off x="603504" y="4882896"/>
            <a:ext cx="1417320"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Sage Estimating</a:t>
            </a:r>
          </a:p>
        </p:txBody>
      </p:sp>
      <p:sp>
        <p:nvSpPr>
          <p:cNvPr id="34" name="Rounded Rectangle 33"/>
          <p:cNvSpPr/>
          <p:nvPr/>
        </p:nvSpPr>
        <p:spPr>
          <a:xfrm>
            <a:off x="2075688" y="4882896"/>
            <a:ext cx="1417320"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Causeway</a:t>
            </a:r>
          </a:p>
        </p:txBody>
      </p:sp>
      <p:sp>
        <p:nvSpPr>
          <p:cNvPr id="35" name="Rounded Rectangle 34"/>
          <p:cNvSpPr/>
          <p:nvPr/>
        </p:nvSpPr>
        <p:spPr>
          <a:xfrm>
            <a:off x="3547872" y="4882896"/>
            <a:ext cx="1417320"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Excel templates</a:t>
            </a:r>
          </a:p>
        </p:txBody>
      </p:sp>
      <p:sp>
        <p:nvSpPr>
          <p:cNvPr id="36" name="TextBox 35"/>
          <p:cNvSpPr txBox="1"/>
          <p:nvPr/>
        </p:nvSpPr>
        <p:spPr>
          <a:xfrm>
            <a:off x="603504" y="5285232"/>
            <a:ext cx="5120640" cy="219456"/>
          </a:xfrm>
          <a:prstGeom prst="rect">
            <a:avLst/>
          </a:prstGeom>
          <a:noFill/>
        </p:spPr>
        <p:txBody>
          <a:bodyPr wrap="square" anchor="t"/>
          <a:lstStyle/>
          <a:p>
            <a:pPr algn="l"/>
            <a:r>
              <a:rPr sz="1400" b="0">
                <a:solidFill>
                  <a:srgbClr val="6B7580"/>
                </a:solidFill>
                <a:latin typeface="Calibri"/>
              </a:rPr>
              <a:t>Strong in  measurement, pricing, drawing markup</a:t>
            </a:r>
          </a:p>
        </p:txBody>
      </p:sp>
      <p:sp>
        <p:nvSpPr>
          <p:cNvPr id="37" name="TextBox 36"/>
          <p:cNvSpPr txBox="1"/>
          <p:nvPr/>
        </p:nvSpPr>
        <p:spPr>
          <a:xfrm>
            <a:off x="603504" y="5522976"/>
            <a:ext cx="5120640" cy="365760"/>
          </a:xfrm>
          <a:prstGeom prst="rect">
            <a:avLst/>
          </a:prstGeom>
          <a:noFill/>
        </p:spPr>
        <p:txBody>
          <a:bodyPr wrap="square" anchor="t">
            <a:spAutoFit/>
          </a:bodyPr>
          <a:lstStyle/>
          <a:p>
            <a:pPr algn="l"/>
            <a:r>
              <a:rPr sz="1400" b="1">
                <a:solidFill>
                  <a:srgbClr val="26303A"/>
                </a:solidFill>
                <a:latin typeface="Calibri"/>
              </a:rPr>
              <a:t>Where most of the market still sits — </a:t>
            </a:r>
            <a:r>
              <a:rPr sz="1400" b="1">
                <a:solidFill>
                  <a:srgbClr val="C0453B"/>
                </a:solidFill>
                <a:latin typeface="Calibri"/>
              </a:rPr>
              <a:t>no automation, no memory.</a:t>
            </a:r>
          </a:p>
        </p:txBody>
      </p:sp>
      <p:sp>
        <p:nvSpPr>
          <p:cNvPr id="38" name="Rounded Rectangle 37"/>
          <p:cNvSpPr/>
          <p:nvPr/>
        </p:nvSpPr>
        <p:spPr>
          <a:xfrm>
            <a:off x="6071616" y="3913632"/>
            <a:ext cx="5440680" cy="2084831"/>
          </a:xfrm>
          <a:prstGeom prst="roundRect">
            <a:avLst>
              <a:gd name="adj" fmla="val 8000"/>
            </a:avLst>
          </a:prstGeom>
          <a:solidFill>
            <a:srgbClr val="F7F9F9"/>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99632" y="3986784"/>
            <a:ext cx="5120640" cy="274320"/>
          </a:xfrm>
          <a:prstGeom prst="rect">
            <a:avLst/>
          </a:prstGeom>
          <a:noFill/>
        </p:spPr>
        <p:txBody>
          <a:bodyPr wrap="square" anchor="t">
            <a:spAutoFit/>
          </a:bodyPr>
          <a:lstStyle/>
          <a:p>
            <a:pPr algn="l"/>
            <a:r>
              <a:rPr sz="1400" b="1">
                <a:solidFill>
                  <a:srgbClr val="26303A"/>
                </a:solidFill>
                <a:latin typeface="Calibri"/>
              </a:rPr>
              <a:t>Enterprise suites  </a:t>
            </a:r>
            <a:r>
              <a:rPr sz="1400" b="1">
                <a:solidFill>
                  <a:srgbClr val="6B7580"/>
                </a:solidFill>
                <a:latin typeface="Calibri"/>
              </a:rPr>
              <a:t>Rules-based, broad</a:t>
            </a:r>
          </a:p>
        </p:txBody>
      </p:sp>
      <p:sp>
        <p:nvSpPr>
          <p:cNvPr id="40" name="TextBox 39"/>
          <p:cNvSpPr txBox="1"/>
          <p:nvPr/>
        </p:nvSpPr>
        <p:spPr>
          <a:xfrm>
            <a:off x="6199632" y="4242816"/>
            <a:ext cx="5120640" cy="256032"/>
          </a:xfrm>
          <a:prstGeom prst="rect">
            <a:avLst/>
          </a:prstGeom>
          <a:noFill/>
        </p:spPr>
        <p:txBody>
          <a:bodyPr wrap="square" anchor="t"/>
          <a:lstStyle/>
          <a:p>
            <a:pPr algn="l"/>
            <a:r>
              <a:rPr sz="1400" b="0">
                <a:solidFill>
                  <a:srgbClr val="3A454F"/>
                </a:solidFill>
                <a:latin typeface="Calibri"/>
              </a:rPr>
              <a:t>Systems of record spanning stages through modules and configuration.</a:t>
            </a:r>
          </a:p>
        </p:txBody>
      </p:sp>
      <p:sp>
        <p:nvSpPr>
          <p:cNvPr id="41" name="Rounded Rectangle 40"/>
          <p:cNvSpPr/>
          <p:nvPr/>
        </p:nvSpPr>
        <p:spPr>
          <a:xfrm>
            <a:off x="6199632" y="4553712"/>
            <a:ext cx="1115568"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Oracle</a:t>
            </a:r>
          </a:p>
        </p:txBody>
      </p:sp>
      <p:sp>
        <p:nvSpPr>
          <p:cNvPr id="42" name="Rounded Rectangle 41"/>
          <p:cNvSpPr/>
          <p:nvPr/>
        </p:nvSpPr>
        <p:spPr>
          <a:xfrm>
            <a:off x="7370064" y="4553712"/>
            <a:ext cx="1115568"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Procore</a:t>
            </a:r>
          </a:p>
        </p:txBody>
      </p:sp>
      <p:sp>
        <p:nvSpPr>
          <p:cNvPr id="43" name="Rounded Rectangle 42"/>
          <p:cNvSpPr/>
          <p:nvPr/>
        </p:nvSpPr>
        <p:spPr>
          <a:xfrm>
            <a:off x="8540496" y="4553712"/>
            <a:ext cx="1115568"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RIB iTWO</a:t>
            </a:r>
          </a:p>
        </p:txBody>
      </p:sp>
      <p:sp>
        <p:nvSpPr>
          <p:cNvPr id="44" name="Rounded Rectangle 43"/>
          <p:cNvSpPr/>
          <p:nvPr/>
        </p:nvSpPr>
        <p:spPr>
          <a:xfrm>
            <a:off x="9710928" y="4553712"/>
            <a:ext cx="1115568"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Cleopatra</a:t>
            </a:r>
          </a:p>
        </p:txBody>
      </p:sp>
      <p:sp>
        <p:nvSpPr>
          <p:cNvPr id="45" name="Rounded Rectangle 44"/>
          <p:cNvSpPr/>
          <p:nvPr/>
        </p:nvSpPr>
        <p:spPr>
          <a:xfrm>
            <a:off x="10881360" y="4553712"/>
            <a:ext cx="1115568"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SAP Ariba</a:t>
            </a:r>
          </a:p>
        </p:txBody>
      </p:sp>
      <p:sp>
        <p:nvSpPr>
          <p:cNvPr id="46" name="Rounded Rectangle 45"/>
          <p:cNvSpPr/>
          <p:nvPr/>
        </p:nvSpPr>
        <p:spPr>
          <a:xfrm>
            <a:off x="6199632" y="4882896"/>
            <a:ext cx="1115568"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Autodesk ACC</a:t>
            </a:r>
          </a:p>
        </p:txBody>
      </p:sp>
      <p:sp>
        <p:nvSpPr>
          <p:cNvPr id="47" name="Rounded Rectangle 46"/>
          <p:cNvSpPr/>
          <p:nvPr/>
        </p:nvSpPr>
        <p:spPr>
          <a:xfrm>
            <a:off x="7370064" y="4882896"/>
            <a:ext cx="1115568"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InEight</a:t>
            </a:r>
          </a:p>
        </p:txBody>
      </p:sp>
      <p:sp>
        <p:nvSpPr>
          <p:cNvPr id="48" name="Rounded Rectangle 47"/>
          <p:cNvSpPr/>
          <p:nvPr/>
        </p:nvSpPr>
        <p:spPr>
          <a:xfrm>
            <a:off x="8540496" y="4882896"/>
            <a:ext cx="1115568"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Trimble</a:t>
            </a:r>
          </a:p>
        </p:txBody>
      </p:sp>
      <p:sp>
        <p:nvSpPr>
          <p:cNvPr id="49" name="Rounded Rectangle 48"/>
          <p:cNvSpPr/>
          <p:nvPr/>
        </p:nvSpPr>
        <p:spPr>
          <a:xfrm>
            <a:off x="9710928" y="4882896"/>
            <a:ext cx="1115568" cy="274320"/>
          </a:xfrm>
          <a:prstGeom prst="roundRect">
            <a:avLst>
              <a:gd name="adj" fmla="val 50000"/>
            </a:avLst>
          </a:prstGeom>
          <a:solidFill>
            <a:srgbClr val="FFFFF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a:solidFill>
                  <a:srgbClr val="3A454F"/>
                </a:solidFill>
                <a:latin typeface="Calibri"/>
              </a:rPr>
              <a:t>Jaggaer</a:t>
            </a:r>
          </a:p>
        </p:txBody>
      </p:sp>
      <p:sp>
        <p:nvSpPr>
          <p:cNvPr id="50" name="TextBox 49"/>
          <p:cNvSpPr txBox="1"/>
          <p:nvPr/>
        </p:nvSpPr>
        <p:spPr>
          <a:xfrm>
            <a:off x="6199632" y="5285232"/>
            <a:ext cx="5120640" cy="219456"/>
          </a:xfrm>
          <a:prstGeom prst="rect">
            <a:avLst/>
          </a:prstGeom>
          <a:noFill/>
        </p:spPr>
        <p:txBody>
          <a:bodyPr wrap="square" anchor="t"/>
          <a:lstStyle/>
          <a:p>
            <a:pPr algn="l"/>
            <a:r>
              <a:rPr sz="1400" b="0">
                <a:solidFill>
                  <a:srgbClr val="6B7580"/>
                </a:solidFill>
                <a:latin typeface="Calibri"/>
              </a:rPr>
              <a:t>Strong in  cost control, scheduling, procurement, documents</a:t>
            </a:r>
          </a:p>
        </p:txBody>
      </p:sp>
      <p:sp>
        <p:nvSpPr>
          <p:cNvPr id="51" name="TextBox 50"/>
          <p:cNvSpPr txBox="1"/>
          <p:nvPr/>
        </p:nvSpPr>
        <p:spPr>
          <a:xfrm>
            <a:off x="6199632" y="5522976"/>
            <a:ext cx="5120640" cy="365760"/>
          </a:xfrm>
          <a:prstGeom prst="rect">
            <a:avLst/>
          </a:prstGeom>
          <a:noFill/>
        </p:spPr>
        <p:txBody>
          <a:bodyPr wrap="square" anchor="t">
            <a:spAutoFit/>
          </a:bodyPr>
          <a:lstStyle/>
          <a:p>
            <a:pPr algn="l"/>
            <a:r>
              <a:rPr sz="1400" b="1">
                <a:solidFill>
                  <a:srgbClr val="26303A"/>
                </a:solidFill>
                <a:latin typeface="Calibri"/>
              </a:rPr>
              <a:t>Breadth without intelligence — </a:t>
            </a:r>
            <a:r>
              <a:rPr sz="1400" b="1">
                <a:solidFill>
                  <a:srgbClr val="C0453B"/>
                </a:solidFill>
                <a:latin typeface="Calibri"/>
              </a:rPr>
              <a:t>more features, and harder to use.</a:t>
            </a:r>
          </a:p>
        </p:txBody>
      </p:sp>
      <p:sp>
        <p:nvSpPr>
          <p:cNvPr id="52" name="Rounded Rectangle 51"/>
          <p:cNvSpPr/>
          <p:nvPr/>
        </p:nvSpPr>
        <p:spPr>
          <a:xfrm>
            <a:off x="1965960" y="3017520"/>
            <a:ext cx="8183879" cy="804672"/>
          </a:xfrm>
          <a:prstGeom prst="roundRect">
            <a:avLst>
              <a:gd name="adj" fmla="val 50000"/>
            </a:avLst>
          </a:prstGeom>
          <a:solidFill>
            <a:srgbClr val="0E2A3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0">
                <a:solidFill>
                  <a:srgbClr val="26303A"/>
                </a:solidFill>
                <a:latin typeface="Calibri"/>
              </a:rPr>
              <a:t/>
            </a:r>
          </a:p>
        </p:txBody>
      </p:sp>
      <p:sp>
        <p:nvSpPr>
          <p:cNvPr id="53" name="TextBox 52"/>
          <p:cNvSpPr txBox="1"/>
          <p:nvPr/>
        </p:nvSpPr>
        <p:spPr>
          <a:xfrm>
            <a:off x="2121408" y="3108960"/>
            <a:ext cx="2148840" cy="621792"/>
          </a:xfrm>
          <a:prstGeom prst="rect">
            <a:avLst/>
          </a:prstGeom>
          <a:noFill/>
        </p:spPr>
        <p:txBody>
          <a:bodyPr wrap="square" anchor="ctr"/>
          <a:lstStyle/>
          <a:p>
            <a:pPr algn="l"/>
            <a:r>
              <a:rPr sz="1600" b="1">
                <a:solidFill>
                  <a:srgbClr val="FFFFFF"/>
                </a:solidFill>
                <a:latin typeface="Calibri"/>
              </a:rPr>
              <a:t>Blue Currency</a:t>
            </a:r>
          </a:p>
        </p:txBody>
      </p:sp>
      <p:sp>
        <p:nvSpPr>
          <p:cNvPr id="54" name="Rectangle 53"/>
          <p:cNvSpPr/>
          <p:nvPr/>
        </p:nvSpPr>
        <p:spPr>
          <a:xfrm>
            <a:off x="4297680" y="3182112"/>
            <a:ext cx="13716"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443984" y="3127248"/>
            <a:ext cx="5532120" cy="621792"/>
          </a:xfrm>
          <a:prstGeom prst="rect">
            <a:avLst/>
          </a:prstGeom>
          <a:noFill/>
        </p:spPr>
        <p:txBody>
          <a:bodyPr wrap="square" anchor="ctr">
            <a:spAutoFit/>
          </a:bodyPr>
          <a:lstStyle/>
          <a:p>
            <a:pPr algn="l"/>
            <a:r>
              <a:rPr sz="1400" b="1">
                <a:solidFill>
                  <a:srgbClr val="FFFFFF"/>
                </a:solidFill>
                <a:latin typeface="Calibri"/>
              </a:rPr>
              <a:t>Deliberately in the middle.  </a:t>
            </a:r>
            <a:r>
              <a:rPr sz="1400" b="0">
                <a:solidFill>
                  <a:srgbClr val="DCEDEA"/>
                </a:solidFill>
                <a:latin typeface="Calibri"/>
              </a:rPr>
              <a:t>Broader than the AI specialists, more AI-native than the enterprise suites.</a:t>
            </a:r>
          </a:p>
        </p:txBody>
      </p:sp>
      <p:sp>
        <p:nvSpPr>
          <p:cNvPr id="56" name="TextBox 55"/>
          <p:cNvSpPr txBox="1"/>
          <p:nvPr/>
        </p:nvSpPr>
        <p:spPr>
          <a:xfrm>
            <a:off x="475488" y="6108192"/>
            <a:ext cx="11064240" cy="256032"/>
          </a:xfrm>
          <a:prstGeom prst="rect">
            <a:avLst/>
          </a:prstGeom>
          <a:noFill/>
        </p:spPr>
        <p:txBody>
          <a:bodyPr wrap="square" anchor="t"/>
          <a:lstStyle/>
          <a:p>
            <a:pPr algn="ctr"/>
            <a:r>
              <a:rPr sz="1200" b="1">
                <a:solidFill>
                  <a:srgbClr val="6B7580"/>
                </a:solidFill>
                <a:latin typeface="Calibri"/>
              </a:rPr>
              <a:t>BREADTH OF LIFECYCLE COVERAGE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84048" y="201168"/>
            <a:ext cx="11338560" cy="256032"/>
          </a:xfrm>
          <a:prstGeom prst="rect">
            <a:avLst/>
          </a:prstGeom>
          <a:noFill/>
        </p:spPr>
        <p:txBody>
          <a:bodyPr wrap="square" anchor="t"/>
          <a:lstStyle/>
          <a:p>
            <a:pPr algn="l"/>
            <a:r>
              <a:rPr sz="1400" b="1">
                <a:solidFill>
                  <a:srgbClr val="0B7F77"/>
                </a:solidFill>
                <a:latin typeface="Calibri"/>
              </a:rPr>
              <a:t>BLUE CURRENCY  |  COMPETITIVE DEEP DIVE</a:t>
            </a:r>
          </a:p>
        </p:txBody>
      </p:sp>
      <p:sp>
        <p:nvSpPr>
          <p:cNvPr id="4" name="TextBox 3"/>
          <p:cNvSpPr txBox="1"/>
          <p:nvPr/>
        </p:nvSpPr>
        <p:spPr>
          <a:xfrm>
            <a:off x="384048" y="420624"/>
            <a:ext cx="11430000" cy="438912"/>
          </a:xfrm>
          <a:prstGeom prst="rect">
            <a:avLst/>
          </a:prstGeom>
          <a:noFill/>
        </p:spPr>
        <p:txBody>
          <a:bodyPr wrap="square">
            <a:spAutoFit/>
          </a:bodyPr>
          <a:lstStyle/>
          <a:p>
            <a:r>
              <a:rPr sz="2500" b="1">
                <a:solidFill>
                  <a:srgbClr val="26303A"/>
                </a:solidFill>
                <a:latin typeface="Calibri"/>
              </a:rPr>
              <a:t>Module by module, legacy suites are feature-heavy and emerging AI tools are </a:t>
            </a:r>
            <a:r>
              <a:rPr sz="2500" b="1">
                <a:solidFill>
                  <a:srgbClr val="0A5F59"/>
                </a:solidFill>
                <a:latin typeface="Calibri"/>
              </a:rPr>
              <a:t>smart but narrow</a:t>
            </a:r>
          </a:p>
        </p:txBody>
      </p:sp>
      <p:sp>
        <p:nvSpPr>
          <p:cNvPr id="5" name="TextBox 4"/>
          <p:cNvSpPr txBox="1"/>
          <p:nvPr/>
        </p:nvSpPr>
        <p:spPr>
          <a:xfrm>
            <a:off x="384048" y="914400"/>
            <a:ext cx="5852160" cy="219456"/>
          </a:xfrm>
          <a:prstGeom prst="rect">
            <a:avLst/>
          </a:prstGeom>
          <a:noFill/>
        </p:spPr>
        <p:txBody>
          <a:bodyPr wrap="square" anchor="t"/>
          <a:lstStyle/>
          <a:p>
            <a:pPr algn="l"/>
            <a:r>
              <a:rPr sz="1300" b="1">
                <a:solidFill>
                  <a:srgbClr val="26303A"/>
                </a:solidFill>
                <a:latin typeface="Calibri"/>
              </a:rPr>
              <a:t>Box colour = how much of the module that group already covers</a:t>
            </a:r>
          </a:p>
        </p:txBody>
      </p:sp>
      <p:sp>
        <p:nvSpPr>
          <p:cNvPr id="6" name="Rectangle 5"/>
          <p:cNvSpPr/>
          <p:nvPr/>
        </p:nvSpPr>
        <p:spPr>
          <a:xfrm>
            <a:off x="6400800" y="950976"/>
            <a:ext cx="237744" cy="128016"/>
          </a:xfrm>
          <a:prstGeom prst="rect">
            <a:avLst/>
          </a:prstGeom>
          <a:solidFill>
            <a:srgbClr val="CFE8D8"/>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93408" y="896112"/>
            <a:ext cx="1078992" cy="219456"/>
          </a:xfrm>
          <a:prstGeom prst="rect">
            <a:avLst/>
          </a:prstGeom>
          <a:noFill/>
        </p:spPr>
        <p:txBody>
          <a:bodyPr wrap="square" anchor="t"/>
          <a:lstStyle/>
          <a:p>
            <a:pPr algn="l"/>
            <a:r>
              <a:rPr sz="1200" b="0">
                <a:solidFill>
                  <a:srgbClr val="3A454F"/>
                </a:solidFill>
                <a:latin typeface="Calibri"/>
              </a:rPr>
              <a:t>Covers most</a:t>
            </a:r>
          </a:p>
        </p:txBody>
      </p:sp>
      <p:sp>
        <p:nvSpPr>
          <p:cNvPr id="8" name="Rectangle 7"/>
          <p:cNvSpPr/>
          <p:nvPr/>
        </p:nvSpPr>
        <p:spPr>
          <a:xfrm>
            <a:off x="7818120" y="950976"/>
            <a:ext cx="237744" cy="128016"/>
          </a:xfrm>
          <a:prstGeom prst="rect">
            <a:avLst/>
          </a:prstGeom>
          <a:solidFill>
            <a:srgbClr val="F5E3B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10728" y="896112"/>
            <a:ext cx="1078992" cy="219456"/>
          </a:xfrm>
          <a:prstGeom prst="rect">
            <a:avLst/>
          </a:prstGeom>
          <a:noFill/>
        </p:spPr>
        <p:txBody>
          <a:bodyPr wrap="square" anchor="t"/>
          <a:lstStyle/>
          <a:p>
            <a:pPr algn="l"/>
            <a:r>
              <a:rPr sz="1200" b="0">
                <a:solidFill>
                  <a:srgbClr val="3A454F"/>
                </a:solidFill>
                <a:latin typeface="Calibri"/>
              </a:rPr>
              <a:t>Partial</a:t>
            </a:r>
          </a:p>
        </p:txBody>
      </p:sp>
      <p:sp>
        <p:nvSpPr>
          <p:cNvPr id="10" name="Rectangle 9"/>
          <p:cNvSpPr/>
          <p:nvPr/>
        </p:nvSpPr>
        <p:spPr>
          <a:xfrm>
            <a:off x="9235440" y="950976"/>
            <a:ext cx="237744" cy="128016"/>
          </a:xfrm>
          <a:prstGeom prst="rect">
            <a:avLst/>
          </a:prstGeom>
          <a:solidFill>
            <a:srgbClr val="F0D4CF"/>
          </a:solidFill>
          <a:ln w="9525">
            <a:solidFill>
              <a:srgbClr val="E3E8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28048" y="896112"/>
            <a:ext cx="1078992" cy="219456"/>
          </a:xfrm>
          <a:prstGeom prst="rect">
            <a:avLst/>
          </a:prstGeom>
          <a:noFill/>
        </p:spPr>
        <p:txBody>
          <a:bodyPr wrap="square" anchor="t"/>
          <a:lstStyle/>
          <a:p>
            <a:pPr algn="l"/>
            <a:r>
              <a:rPr sz="1200" b="0">
                <a:solidFill>
                  <a:srgbClr val="3A454F"/>
                </a:solidFill>
                <a:latin typeface="Calibri"/>
              </a:rPr>
              <a:t>Barely</a:t>
            </a:r>
          </a:p>
        </p:txBody>
      </p:sp>
      <p:sp>
        <p:nvSpPr>
          <p:cNvPr id="12" name="Rounded Rectangle 11"/>
          <p:cNvSpPr/>
          <p:nvPr/>
        </p:nvSpPr>
        <p:spPr>
          <a:xfrm>
            <a:off x="384048" y="1170432"/>
            <a:ext cx="2697480" cy="329184"/>
          </a:xfrm>
          <a:prstGeom prst="roundRect">
            <a:avLst>
              <a:gd name="adj" fmla="val 4000"/>
            </a:avLst>
          </a:prstGeom>
          <a:solidFill>
            <a:srgbClr val="26303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FFFFFF"/>
                </a:solidFill>
                <a:latin typeface="Calibri"/>
              </a:rPr>
              <a:t>Module and our opportunity</a:t>
            </a:r>
          </a:p>
        </p:txBody>
      </p:sp>
      <p:sp>
        <p:nvSpPr>
          <p:cNvPr id="13" name="Rounded Rectangle 12"/>
          <p:cNvSpPr/>
          <p:nvPr/>
        </p:nvSpPr>
        <p:spPr>
          <a:xfrm>
            <a:off x="3154680" y="1170432"/>
            <a:ext cx="4297680" cy="329184"/>
          </a:xfrm>
          <a:prstGeom prst="roundRect">
            <a:avLst>
              <a:gd name="adj" fmla="val 4000"/>
            </a:avLst>
          </a:prstGeom>
          <a:solidFill>
            <a:srgbClr val="3A454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FFFFFF"/>
                </a:solidFill>
                <a:latin typeface="Calibri"/>
              </a:rPr>
              <a:t>Legacy players</a:t>
            </a:r>
          </a:p>
        </p:txBody>
      </p:sp>
      <p:sp>
        <p:nvSpPr>
          <p:cNvPr id="14" name="Rounded Rectangle 13"/>
          <p:cNvSpPr/>
          <p:nvPr/>
        </p:nvSpPr>
        <p:spPr>
          <a:xfrm>
            <a:off x="7525512" y="1170432"/>
            <a:ext cx="4279392" cy="329184"/>
          </a:xfrm>
          <a:prstGeom prst="roundRect">
            <a:avLst>
              <a:gd name="adj" fmla="val 4000"/>
            </a:avLst>
          </a:prstGeom>
          <a:solidFill>
            <a:srgbClr val="0A5F59"/>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a:solidFill>
                  <a:srgbClr val="FFFFFF"/>
                </a:solidFill>
                <a:latin typeface="Calibri"/>
              </a:rPr>
              <a:t>Emerging AI players</a:t>
            </a:r>
          </a:p>
        </p:txBody>
      </p:sp>
      <p:sp>
        <p:nvSpPr>
          <p:cNvPr id="15" name="Rounded Rectangle 14"/>
          <p:cNvSpPr/>
          <p:nvPr/>
        </p:nvSpPr>
        <p:spPr>
          <a:xfrm>
            <a:off x="384048" y="1554480"/>
            <a:ext cx="2697480" cy="786384"/>
          </a:xfrm>
          <a:prstGeom prst="roundRect">
            <a:avLst>
              <a:gd name="adj" fmla="val 4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57200" y="1645920"/>
            <a:ext cx="256032" cy="256032"/>
          </a:xfrm>
          <a:prstGeom prst="ellipse">
            <a:avLst/>
          </a:prstGeom>
          <a:solidFill>
            <a:srgbClr val="0A5F59"/>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1</a:t>
            </a:r>
          </a:p>
        </p:txBody>
      </p:sp>
      <p:sp>
        <p:nvSpPr>
          <p:cNvPr id="17" name="TextBox 16"/>
          <p:cNvSpPr txBox="1"/>
          <p:nvPr/>
        </p:nvSpPr>
        <p:spPr>
          <a:xfrm>
            <a:off x="768096" y="1627632"/>
            <a:ext cx="2240280" cy="329184"/>
          </a:xfrm>
          <a:prstGeom prst="rect">
            <a:avLst/>
          </a:prstGeom>
          <a:noFill/>
        </p:spPr>
        <p:txBody>
          <a:bodyPr wrap="square" anchor="t"/>
          <a:lstStyle/>
          <a:p>
            <a:pPr algn="l"/>
            <a:r>
              <a:rPr sz="1400" b="1">
                <a:solidFill>
                  <a:srgbClr val="26303A"/>
                </a:solidFill>
                <a:latin typeface="Calibri"/>
              </a:rPr>
              <a:t>End to End Agentic Orchestration</a:t>
            </a:r>
          </a:p>
        </p:txBody>
      </p:sp>
      <p:sp>
        <p:nvSpPr>
          <p:cNvPr id="18" name="Rounded Rectangle 17"/>
          <p:cNvSpPr/>
          <p:nvPr/>
        </p:nvSpPr>
        <p:spPr>
          <a:xfrm>
            <a:off x="457200" y="1993392"/>
            <a:ext cx="2523744" cy="274320"/>
          </a:xfrm>
          <a:prstGeom prst="roundRect">
            <a:avLst>
              <a:gd name="adj" fmla="val 4000"/>
            </a:avLst>
          </a:prstGeom>
          <a:solidFill>
            <a:srgbClr val="0A5F59"/>
          </a:solidFill>
          <a:ln>
            <a:noFill/>
          </a:ln>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100" b="1">
                <a:solidFill>
                  <a:srgbClr val="FFFFFF"/>
                </a:solidFill>
                <a:latin typeface="Calibri"/>
              </a:rPr>
              <a:t>WHITE SPACE  </a:t>
            </a:r>
            <a:r>
              <a:rPr sz="1100" b="0">
                <a:solidFill>
                  <a:srgbClr val="B9DCD8"/>
                </a:solidFill>
                <a:latin typeface="Calibri"/>
              </a:rPr>
              <a:t>ours to take</a:t>
            </a:r>
          </a:p>
        </p:txBody>
      </p:sp>
      <p:sp>
        <p:nvSpPr>
          <p:cNvPr id="19" name="Rounded Rectangle 18"/>
          <p:cNvSpPr/>
          <p:nvPr/>
        </p:nvSpPr>
        <p:spPr>
          <a:xfrm>
            <a:off x="3154680" y="1554480"/>
            <a:ext cx="4297680" cy="786384"/>
          </a:xfrm>
          <a:prstGeom prst="roundRect">
            <a:avLst>
              <a:gd name="adj" fmla="val 4000"/>
            </a:avLst>
          </a:prstGeom>
          <a:solidFill>
            <a:srgbClr val="F9EA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154680" y="1554480"/>
            <a:ext cx="54864" cy="786384"/>
          </a:xfrm>
          <a:prstGeom prst="rect">
            <a:avLst/>
          </a:prstGeom>
          <a:solidFill>
            <a:srgbClr val="C045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282696" y="1627632"/>
            <a:ext cx="1078992" cy="219456"/>
          </a:xfrm>
          <a:prstGeom prst="roundRect">
            <a:avLst>
              <a:gd name="adj" fmla="val 4000"/>
            </a:avLst>
          </a:prstGeom>
          <a:solidFill>
            <a:srgbClr val="F0D4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82696" y="1627632"/>
            <a:ext cx="1078992" cy="219456"/>
          </a:xfrm>
          <a:prstGeom prst="rect">
            <a:avLst/>
          </a:prstGeom>
          <a:noFill/>
        </p:spPr>
        <p:txBody>
          <a:bodyPr wrap="square" anchor="t"/>
          <a:lstStyle/>
          <a:p>
            <a:pPr algn="ctr"/>
            <a:r>
              <a:rPr sz="1000" b="1">
                <a:solidFill>
                  <a:srgbClr val="9B3328"/>
                </a:solidFill>
                <a:latin typeface="Calibri"/>
              </a:rPr>
              <a:t>BARELY</a:t>
            </a:r>
          </a:p>
        </p:txBody>
      </p:sp>
      <p:sp>
        <p:nvSpPr>
          <p:cNvPr id="23" name="TextBox 22"/>
          <p:cNvSpPr txBox="1"/>
          <p:nvPr/>
        </p:nvSpPr>
        <p:spPr>
          <a:xfrm>
            <a:off x="4416552" y="1609344"/>
            <a:ext cx="2926080" cy="420624"/>
          </a:xfrm>
          <a:prstGeom prst="rect">
            <a:avLst/>
          </a:prstGeom>
          <a:noFill/>
        </p:spPr>
        <p:txBody>
          <a:bodyPr wrap="square" anchor="t"/>
          <a:lstStyle/>
          <a:p>
            <a:pPr algn="l"/>
            <a:r>
              <a:rPr sz="1300" b="1">
                <a:solidFill>
                  <a:srgbClr val="26303A"/>
                </a:solidFill>
                <a:latin typeface="Calibri"/>
              </a:rPr>
              <a:t>Suites link stages through integration — workflow, not a model that learns.</a:t>
            </a:r>
          </a:p>
        </p:txBody>
      </p:sp>
      <p:sp>
        <p:nvSpPr>
          <p:cNvPr id="24" name="TextBox 23"/>
          <p:cNvSpPr txBox="1"/>
          <p:nvPr/>
        </p:nvSpPr>
        <p:spPr>
          <a:xfrm>
            <a:off x="3282696" y="2048256"/>
            <a:ext cx="4041648" cy="237744"/>
          </a:xfrm>
          <a:prstGeom prst="rect">
            <a:avLst/>
          </a:prstGeom>
          <a:noFill/>
        </p:spPr>
        <p:txBody>
          <a:bodyPr wrap="square" anchor="t"/>
          <a:lstStyle/>
          <a:p>
            <a:pPr algn="l"/>
            <a:r>
              <a:rPr sz="1300" b="1">
                <a:solidFill>
                  <a:srgbClr val="3A454F"/>
                </a:solidFill>
                <a:latin typeface="Calibri"/>
              </a:rPr>
              <a:t>RIB iTWO   ·   Oracle   ·   InEight</a:t>
            </a:r>
          </a:p>
        </p:txBody>
      </p:sp>
      <p:sp>
        <p:nvSpPr>
          <p:cNvPr id="25" name="Rounded Rectangle 24"/>
          <p:cNvSpPr/>
          <p:nvPr/>
        </p:nvSpPr>
        <p:spPr>
          <a:xfrm>
            <a:off x="7525512" y="1554480"/>
            <a:ext cx="4279392" cy="786384"/>
          </a:xfrm>
          <a:prstGeom prst="roundRect">
            <a:avLst>
              <a:gd name="adj" fmla="val 4000"/>
            </a:avLst>
          </a:prstGeom>
          <a:solidFill>
            <a:srgbClr val="F9EA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525512" y="1554480"/>
            <a:ext cx="54864" cy="786384"/>
          </a:xfrm>
          <a:prstGeom prst="rect">
            <a:avLst/>
          </a:prstGeom>
          <a:solidFill>
            <a:srgbClr val="C045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653528" y="1627632"/>
            <a:ext cx="1078992" cy="219456"/>
          </a:xfrm>
          <a:prstGeom prst="roundRect">
            <a:avLst>
              <a:gd name="adj" fmla="val 4000"/>
            </a:avLst>
          </a:prstGeom>
          <a:solidFill>
            <a:srgbClr val="F0D4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53528" y="1627632"/>
            <a:ext cx="1078992" cy="219456"/>
          </a:xfrm>
          <a:prstGeom prst="rect">
            <a:avLst/>
          </a:prstGeom>
          <a:noFill/>
        </p:spPr>
        <p:txBody>
          <a:bodyPr wrap="square" anchor="t"/>
          <a:lstStyle/>
          <a:p>
            <a:pPr algn="ctr"/>
            <a:r>
              <a:rPr sz="1000" b="1">
                <a:solidFill>
                  <a:srgbClr val="9B3328"/>
                </a:solidFill>
                <a:latin typeface="Calibri"/>
              </a:rPr>
              <a:t>BARELY</a:t>
            </a:r>
          </a:p>
        </p:txBody>
      </p:sp>
      <p:sp>
        <p:nvSpPr>
          <p:cNvPr id="29" name="TextBox 28"/>
          <p:cNvSpPr txBox="1"/>
          <p:nvPr/>
        </p:nvSpPr>
        <p:spPr>
          <a:xfrm>
            <a:off x="8787384" y="1609344"/>
            <a:ext cx="2907792" cy="420624"/>
          </a:xfrm>
          <a:prstGeom prst="rect">
            <a:avLst/>
          </a:prstGeom>
          <a:noFill/>
        </p:spPr>
        <p:txBody>
          <a:bodyPr wrap="square" anchor="t"/>
          <a:lstStyle/>
          <a:p>
            <a:pPr algn="l"/>
            <a:r>
              <a:rPr sz="1300" b="1">
                <a:solidFill>
                  <a:srgbClr val="26303A"/>
                </a:solidFill>
                <a:latin typeface="Calibri"/>
              </a:rPr>
              <a:t>Each tool owns a single stage; nobody governs the whole lifecycle.</a:t>
            </a:r>
          </a:p>
        </p:txBody>
      </p:sp>
      <p:sp>
        <p:nvSpPr>
          <p:cNvPr id="30" name="TextBox 29"/>
          <p:cNvSpPr txBox="1"/>
          <p:nvPr/>
        </p:nvSpPr>
        <p:spPr>
          <a:xfrm>
            <a:off x="7653528" y="2048256"/>
            <a:ext cx="4023360" cy="237744"/>
          </a:xfrm>
          <a:prstGeom prst="rect">
            <a:avLst/>
          </a:prstGeom>
          <a:noFill/>
        </p:spPr>
        <p:txBody>
          <a:bodyPr wrap="square" anchor="t"/>
          <a:lstStyle/>
          <a:p>
            <a:pPr algn="l"/>
            <a:r>
              <a:rPr sz="1300" b="1">
                <a:solidFill>
                  <a:srgbClr val="3A454F"/>
                </a:solidFill>
                <a:latin typeface="Calibri"/>
              </a:rPr>
              <a:t>Kreo   ·   Buildots   ·   ConWize</a:t>
            </a:r>
          </a:p>
        </p:txBody>
      </p:sp>
      <p:sp>
        <p:nvSpPr>
          <p:cNvPr id="31" name="Rounded Rectangle 30"/>
          <p:cNvSpPr/>
          <p:nvPr/>
        </p:nvSpPr>
        <p:spPr>
          <a:xfrm>
            <a:off x="384048" y="2395728"/>
            <a:ext cx="2697480" cy="786384"/>
          </a:xfrm>
          <a:prstGeom prst="roundRect">
            <a:avLst>
              <a:gd name="adj" fmla="val 4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57200" y="2487168"/>
            <a:ext cx="256032" cy="256032"/>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2</a:t>
            </a:r>
          </a:p>
        </p:txBody>
      </p:sp>
      <p:sp>
        <p:nvSpPr>
          <p:cNvPr id="33" name="TextBox 32"/>
          <p:cNvSpPr txBox="1"/>
          <p:nvPr/>
        </p:nvSpPr>
        <p:spPr>
          <a:xfrm>
            <a:off x="768096" y="2468880"/>
            <a:ext cx="2240280" cy="329184"/>
          </a:xfrm>
          <a:prstGeom prst="rect">
            <a:avLst/>
          </a:prstGeom>
          <a:noFill/>
        </p:spPr>
        <p:txBody>
          <a:bodyPr wrap="square" anchor="t"/>
          <a:lstStyle/>
          <a:p>
            <a:pPr algn="l"/>
            <a:r>
              <a:rPr sz="1400" b="1">
                <a:solidFill>
                  <a:srgbClr val="26303A"/>
                </a:solidFill>
                <a:latin typeface="Calibri"/>
              </a:rPr>
              <a:t>AI Generated Unified BoQ</a:t>
            </a:r>
          </a:p>
        </p:txBody>
      </p:sp>
      <p:sp>
        <p:nvSpPr>
          <p:cNvPr id="34" name="Rounded Rectangle 33"/>
          <p:cNvSpPr/>
          <p:nvPr/>
        </p:nvSpPr>
        <p:spPr>
          <a:xfrm>
            <a:off x="457200" y="2834640"/>
            <a:ext cx="2523744" cy="274320"/>
          </a:xfrm>
          <a:prstGeom prst="roundRect">
            <a:avLst>
              <a:gd name="adj" fmla="val 4000"/>
            </a:avLst>
          </a:prstGeom>
          <a:solidFill>
            <a:srgbClr val="E4F1EF"/>
          </a:solidFill>
          <a:ln>
            <a:noFill/>
          </a:ln>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100" b="1">
                <a:solidFill>
                  <a:srgbClr val="0A5F59"/>
                </a:solidFill>
                <a:latin typeface="Calibri"/>
              </a:rPr>
              <a:t>OPEN GAP  </a:t>
            </a:r>
            <a:r>
              <a:rPr sz="1100" b="0">
                <a:solidFill>
                  <a:srgbClr val="5D8C88"/>
                </a:solidFill>
                <a:latin typeface="Calibri"/>
              </a:rPr>
              <a:t>partly served</a:t>
            </a:r>
          </a:p>
        </p:txBody>
      </p:sp>
      <p:sp>
        <p:nvSpPr>
          <p:cNvPr id="35" name="Rounded Rectangle 34"/>
          <p:cNvSpPr/>
          <p:nvPr/>
        </p:nvSpPr>
        <p:spPr>
          <a:xfrm>
            <a:off x="3154680" y="2395728"/>
            <a:ext cx="4297680" cy="786384"/>
          </a:xfrm>
          <a:prstGeom prst="roundRect">
            <a:avLst>
              <a:gd name="adj" fmla="val 4000"/>
            </a:avLst>
          </a:prstGeom>
          <a:solidFill>
            <a:srgbClr val="FBF3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154680" y="2395728"/>
            <a:ext cx="54864" cy="786384"/>
          </a:xfrm>
          <a:prstGeom prst="rect">
            <a:avLst/>
          </a:prstGeom>
          <a:solidFill>
            <a:srgbClr val="D99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3282696" y="2468880"/>
            <a:ext cx="1078992" cy="219456"/>
          </a:xfrm>
          <a:prstGeom prst="roundRect">
            <a:avLst>
              <a:gd name="adj" fmla="val 4000"/>
            </a:avLst>
          </a:prstGeom>
          <a:solidFill>
            <a:srgbClr val="F5E3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82696" y="2468880"/>
            <a:ext cx="1078992" cy="219456"/>
          </a:xfrm>
          <a:prstGeom prst="rect">
            <a:avLst/>
          </a:prstGeom>
          <a:noFill/>
        </p:spPr>
        <p:txBody>
          <a:bodyPr wrap="square" anchor="t"/>
          <a:lstStyle/>
          <a:p>
            <a:pPr algn="ctr"/>
            <a:r>
              <a:rPr sz="1000" b="1">
                <a:solidFill>
                  <a:srgbClr val="8A5B14"/>
                </a:solidFill>
                <a:latin typeface="Calibri"/>
              </a:rPr>
              <a:t>PARTIAL</a:t>
            </a:r>
          </a:p>
        </p:txBody>
      </p:sp>
      <p:sp>
        <p:nvSpPr>
          <p:cNvPr id="39" name="TextBox 38"/>
          <p:cNvSpPr txBox="1"/>
          <p:nvPr/>
        </p:nvSpPr>
        <p:spPr>
          <a:xfrm>
            <a:off x="4416552" y="2450592"/>
            <a:ext cx="2926080" cy="420624"/>
          </a:xfrm>
          <a:prstGeom prst="rect">
            <a:avLst/>
          </a:prstGeom>
          <a:noFill/>
        </p:spPr>
        <p:txBody>
          <a:bodyPr wrap="square" anchor="t"/>
          <a:lstStyle/>
          <a:p>
            <a:pPr algn="l"/>
            <a:r>
              <a:rPr sz="1300" b="1">
                <a:solidFill>
                  <a:srgbClr val="26303A"/>
                </a:solidFill>
                <a:latin typeface="Calibri"/>
              </a:rPr>
              <a:t>Cost structures exist, but coding items and mapping formats stays manual.</a:t>
            </a:r>
          </a:p>
        </p:txBody>
      </p:sp>
      <p:sp>
        <p:nvSpPr>
          <p:cNvPr id="40" name="TextBox 39"/>
          <p:cNvSpPr txBox="1"/>
          <p:nvPr/>
        </p:nvSpPr>
        <p:spPr>
          <a:xfrm>
            <a:off x="3282696" y="2889504"/>
            <a:ext cx="4041648" cy="237744"/>
          </a:xfrm>
          <a:prstGeom prst="rect">
            <a:avLst/>
          </a:prstGeom>
          <a:noFill/>
        </p:spPr>
        <p:txBody>
          <a:bodyPr wrap="square" anchor="t"/>
          <a:lstStyle/>
          <a:p>
            <a:pPr algn="l"/>
            <a:r>
              <a:rPr sz="1300" b="1">
                <a:solidFill>
                  <a:srgbClr val="3A454F"/>
                </a:solidFill>
                <a:latin typeface="Calibri"/>
              </a:rPr>
              <a:t>Cleopatra   ·   RIB CostX   ·   Trimble</a:t>
            </a:r>
          </a:p>
        </p:txBody>
      </p:sp>
      <p:sp>
        <p:nvSpPr>
          <p:cNvPr id="41" name="Rounded Rectangle 40"/>
          <p:cNvSpPr/>
          <p:nvPr/>
        </p:nvSpPr>
        <p:spPr>
          <a:xfrm>
            <a:off x="7525512" y="2395728"/>
            <a:ext cx="4279392" cy="786384"/>
          </a:xfrm>
          <a:prstGeom prst="roundRect">
            <a:avLst>
              <a:gd name="adj" fmla="val 4000"/>
            </a:avLst>
          </a:prstGeom>
          <a:solidFill>
            <a:srgbClr val="FBF3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525512" y="2395728"/>
            <a:ext cx="54864" cy="786384"/>
          </a:xfrm>
          <a:prstGeom prst="rect">
            <a:avLst/>
          </a:prstGeom>
          <a:solidFill>
            <a:srgbClr val="D99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7653528" y="2468880"/>
            <a:ext cx="1078992" cy="219456"/>
          </a:xfrm>
          <a:prstGeom prst="roundRect">
            <a:avLst>
              <a:gd name="adj" fmla="val 4000"/>
            </a:avLst>
          </a:prstGeom>
          <a:solidFill>
            <a:srgbClr val="F5E3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53528" y="2468880"/>
            <a:ext cx="1078992" cy="219456"/>
          </a:xfrm>
          <a:prstGeom prst="rect">
            <a:avLst/>
          </a:prstGeom>
          <a:noFill/>
        </p:spPr>
        <p:txBody>
          <a:bodyPr wrap="square" anchor="t"/>
          <a:lstStyle/>
          <a:p>
            <a:pPr algn="ctr"/>
            <a:r>
              <a:rPr sz="1000" b="1">
                <a:solidFill>
                  <a:srgbClr val="8A5B14"/>
                </a:solidFill>
                <a:latin typeface="Calibri"/>
              </a:rPr>
              <a:t>PARTIAL</a:t>
            </a:r>
          </a:p>
        </p:txBody>
      </p:sp>
      <p:sp>
        <p:nvSpPr>
          <p:cNvPr id="45" name="TextBox 44"/>
          <p:cNvSpPr txBox="1"/>
          <p:nvPr/>
        </p:nvSpPr>
        <p:spPr>
          <a:xfrm>
            <a:off x="8787384" y="2450592"/>
            <a:ext cx="2907792" cy="420624"/>
          </a:xfrm>
          <a:prstGeom prst="rect">
            <a:avLst/>
          </a:prstGeom>
          <a:noFill/>
        </p:spPr>
        <p:txBody>
          <a:bodyPr wrap="square" anchor="t"/>
          <a:lstStyle/>
          <a:p>
            <a:pPr algn="l"/>
            <a:r>
              <a:rPr sz="1300" b="1">
                <a:solidFill>
                  <a:srgbClr val="26303A"/>
                </a:solidFill>
                <a:latin typeface="Calibri"/>
              </a:rPr>
              <a:t>Good at classifying documents into data; they stop short of a live BoQ.</a:t>
            </a:r>
          </a:p>
        </p:txBody>
      </p:sp>
      <p:sp>
        <p:nvSpPr>
          <p:cNvPr id="46" name="TextBox 45"/>
          <p:cNvSpPr txBox="1"/>
          <p:nvPr/>
        </p:nvSpPr>
        <p:spPr>
          <a:xfrm>
            <a:off x="7653528" y="2889504"/>
            <a:ext cx="4023360" cy="237744"/>
          </a:xfrm>
          <a:prstGeom prst="rect">
            <a:avLst/>
          </a:prstGeom>
          <a:noFill/>
        </p:spPr>
        <p:txBody>
          <a:bodyPr wrap="square" anchor="t"/>
          <a:lstStyle/>
          <a:p>
            <a:pPr algn="l"/>
            <a:r>
              <a:rPr sz="1300" b="1">
                <a:solidFill>
                  <a:srgbClr val="3A454F"/>
                </a:solidFill>
                <a:latin typeface="Calibri"/>
              </a:rPr>
              <a:t>Costify   ·   Zebel   ·   ConWize</a:t>
            </a:r>
          </a:p>
        </p:txBody>
      </p:sp>
      <p:sp>
        <p:nvSpPr>
          <p:cNvPr id="47" name="Rounded Rectangle 46"/>
          <p:cNvSpPr/>
          <p:nvPr/>
        </p:nvSpPr>
        <p:spPr>
          <a:xfrm>
            <a:off x="384048" y="3236976"/>
            <a:ext cx="2697480" cy="786384"/>
          </a:xfrm>
          <a:prstGeom prst="roundRect">
            <a:avLst>
              <a:gd name="adj" fmla="val 4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457200" y="3328416"/>
            <a:ext cx="256032" cy="256032"/>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3</a:t>
            </a:r>
          </a:p>
        </p:txBody>
      </p:sp>
      <p:sp>
        <p:nvSpPr>
          <p:cNvPr id="49" name="TextBox 48"/>
          <p:cNvSpPr txBox="1"/>
          <p:nvPr/>
        </p:nvSpPr>
        <p:spPr>
          <a:xfrm>
            <a:off x="768096" y="3310128"/>
            <a:ext cx="2240280" cy="329184"/>
          </a:xfrm>
          <a:prstGeom prst="rect">
            <a:avLst/>
          </a:prstGeom>
          <a:noFill/>
        </p:spPr>
        <p:txBody>
          <a:bodyPr wrap="square" anchor="t"/>
          <a:lstStyle/>
          <a:p>
            <a:pPr algn="l"/>
            <a:r>
              <a:rPr sz="1400" b="1">
                <a:solidFill>
                  <a:srgbClr val="26303A"/>
                </a:solidFill>
                <a:latin typeface="Calibri"/>
              </a:rPr>
              <a:t>Dynamic Bottom Up CAPEX</a:t>
            </a:r>
          </a:p>
        </p:txBody>
      </p:sp>
      <p:sp>
        <p:nvSpPr>
          <p:cNvPr id="50" name="Rounded Rectangle 49"/>
          <p:cNvSpPr/>
          <p:nvPr/>
        </p:nvSpPr>
        <p:spPr>
          <a:xfrm>
            <a:off x="457200" y="3675888"/>
            <a:ext cx="2523744" cy="274320"/>
          </a:xfrm>
          <a:prstGeom prst="roundRect">
            <a:avLst>
              <a:gd name="adj" fmla="val 4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100" b="1">
                <a:solidFill>
                  <a:srgbClr val="5C6670"/>
                </a:solidFill>
                <a:latin typeface="Calibri"/>
              </a:rPr>
              <a:t>CROWDED  </a:t>
            </a:r>
            <a:r>
              <a:rPr sz="1100" b="0">
                <a:solidFill>
                  <a:srgbClr val="9AA3AC"/>
                </a:solidFill>
                <a:latin typeface="Calibri"/>
              </a:rPr>
              <a:t>well served</a:t>
            </a:r>
          </a:p>
        </p:txBody>
      </p:sp>
      <p:sp>
        <p:nvSpPr>
          <p:cNvPr id="51" name="Rounded Rectangle 50"/>
          <p:cNvSpPr/>
          <p:nvPr/>
        </p:nvSpPr>
        <p:spPr>
          <a:xfrm>
            <a:off x="3154680" y="3236976"/>
            <a:ext cx="4297680" cy="786384"/>
          </a:xfrm>
          <a:prstGeom prst="roundRect">
            <a:avLst>
              <a:gd name="adj" fmla="val 4000"/>
            </a:avLst>
          </a:prstGeom>
          <a:solidFill>
            <a:srgbClr val="E9F4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3154680" y="3236976"/>
            <a:ext cx="54864" cy="786384"/>
          </a:xfrm>
          <a:prstGeom prst="rect">
            <a:avLst/>
          </a:prstGeom>
          <a:solidFill>
            <a:srgbClr val="2E9E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3282696" y="3310128"/>
            <a:ext cx="1078992" cy="219456"/>
          </a:xfrm>
          <a:prstGeom prst="roundRect">
            <a:avLst>
              <a:gd name="adj" fmla="val 4000"/>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282696" y="3310128"/>
            <a:ext cx="1078992" cy="219456"/>
          </a:xfrm>
          <a:prstGeom prst="rect">
            <a:avLst/>
          </a:prstGeom>
          <a:noFill/>
        </p:spPr>
        <p:txBody>
          <a:bodyPr wrap="square" anchor="t"/>
          <a:lstStyle/>
          <a:p>
            <a:pPr algn="ctr"/>
            <a:r>
              <a:rPr sz="1000" b="1">
                <a:solidFill>
                  <a:srgbClr val="1E6B3D"/>
                </a:solidFill>
                <a:latin typeface="Calibri"/>
              </a:rPr>
              <a:t>COVERS MOST</a:t>
            </a:r>
          </a:p>
        </p:txBody>
      </p:sp>
      <p:sp>
        <p:nvSpPr>
          <p:cNvPr id="55" name="TextBox 54"/>
          <p:cNvSpPr txBox="1"/>
          <p:nvPr/>
        </p:nvSpPr>
        <p:spPr>
          <a:xfrm>
            <a:off x="4416552" y="3291840"/>
            <a:ext cx="2926080" cy="420624"/>
          </a:xfrm>
          <a:prstGeom prst="rect">
            <a:avLst/>
          </a:prstGeom>
          <a:noFill/>
        </p:spPr>
        <p:txBody>
          <a:bodyPr wrap="square" anchor="t"/>
          <a:lstStyle/>
          <a:p>
            <a:pPr algn="l"/>
            <a:r>
              <a:rPr sz="1300" b="1">
                <a:solidFill>
                  <a:srgbClr val="26303A"/>
                </a:solidFill>
                <a:latin typeface="Calibri"/>
              </a:rPr>
              <a:t>Mature estimating engines, priced off libraries rather than live markets.</a:t>
            </a:r>
          </a:p>
        </p:txBody>
      </p:sp>
      <p:sp>
        <p:nvSpPr>
          <p:cNvPr id="56" name="TextBox 55"/>
          <p:cNvSpPr txBox="1"/>
          <p:nvPr/>
        </p:nvSpPr>
        <p:spPr>
          <a:xfrm>
            <a:off x="3282696" y="3730752"/>
            <a:ext cx="4041648" cy="237744"/>
          </a:xfrm>
          <a:prstGeom prst="rect">
            <a:avLst/>
          </a:prstGeom>
          <a:noFill/>
        </p:spPr>
        <p:txBody>
          <a:bodyPr wrap="square" anchor="t"/>
          <a:lstStyle/>
          <a:p>
            <a:pPr algn="l"/>
            <a:r>
              <a:rPr sz="1300" b="1">
                <a:solidFill>
                  <a:srgbClr val="3A454F"/>
                </a:solidFill>
                <a:latin typeface="Calibri"/>
              </a:rPr>
              <a:t>RIB CostX   ·   Cleopatra   ·   InEight</a:t>
            </a:r>
          </a:p>
        </p:txBody>
      </p:sp>
      <p:sp>
        <p:nvSpPr>
          <p:cNvPr id="57" name="Rounded Rectangle 56"/>
          <p:cNvSpPr/>
          <p:nvPr/>
        </p:nvSpPr>
        <p:spPr>
          <a:xfrm>
            <a:off x="7525512" y="3236976"/>
            <a:ext cx="4279392" cy="786384"/>
          </a:xfrm>
          <a:prstGeom prst="roundRect">
            <a:avLst>
              <a:gd name="adj" fmla="val 4000"/>
            </a:avLst>
          </a:prstGeom>
          <a:solidFill>
            <a:srgbClr val="E9F4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7525512" y="3236976"/>
            <a:ext cx="54864" cy="786384"/>
          </a:xfrm>
          <a:prstGeom prst="rect">
            <a:avLst/>
          </a:prstGeom>
          <a:solidFill>
            <a:srgbClr val="2E9E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7653528" y="3310128"/>
            <a:ext cx="1078992" cy="219456"/>
          </a:xfrm>
          <a:prstGeom prst="roundRect">
            <a:avLst>
              <a:gd name="adj" fmla="val 4000"/>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653528" y="3310128"/>
            <a:ext cx="1078992" cy="219456"/>
          </a:xfrm>
          <a:prstGeom prst="rect">
            <a:avLst/>
          </a:prstGeom>
          <a:noFill/>
        </p:spPr>
        <p:txBody>
          <a:bodyPr wrap="square" anchor="t"/>
          <a:lstStyle/>
          <a:p>
            <a:pPr algn="ctr"/>
            <a:r>
              <a:rPr sz="1000" b="1">
                <a:solidFill>
                  <a:srgbClr val="1E6B3D"/>
                </a:solidFill>
                <a:latin typeface="Calibri"/>
              </a:rPr>
              <a:t>COVERS MOST</a:t>
            </a:r>
          </a:p>
        </p:txBody>
      </p:sp>
      <p:sp>
        <p:nvSpPr>
          <p:cNvPr id="61" name="TextBox 60"/>
          <p:cNvSpPr txBox="1"/>
          <p:nvPr/>
        </p:nvSpPr>
        <p:spPr>
          <a:xfrm>
            <a:off x="8787384" y="3291840"/>
            <a:ext cx="2907792" cy="420624"/>
          </a:xfrm>
          <a:prstGeom prst="rect">
            <a:avLst/>
          </a:prstGeom>
          <a:noFill/>
        </p:spPr>
        <p:txBody>
          <a:bodyPr wrap="square" anchor="t"/>
          <a:lstStyle/>
          <a:p>
            <a:pPr algn="l"/>
            <a:r>
              <a:rPr sz="1300" b="1">
                <a:solidFill>
                  <a:srgbClr val="26303A"/>
                </a:solidFill>
                <a:latin typeface="Calibri"/>
              </a:rPr>
              <a:t>Genuinely strong AI estimating, but preconstruction only.</a:t>
            </a:r>
          </a:p>
        </p:txBody>
      </p:sp>
      <p:sp>
        <p:nvSpPr>
          <p:cNvPr id="62" name="TextBox 61"/>
          <p:cNvSpPr txBox="1"/>
          <p:nvPr/>
        </p:nvSpPr>
        <p:spPr>
          <a:xfrm>
            <a:off x="7653528" y="3730752"/>
            <a:ext cx="4023360" cy="237744"/>
          </a:xfrm>
          <a:prstGeom prst="rect">
            <a:avLst/>
          </a:prstGeom>
          <a:noFill/>
        </p:spPr>
        <p:txBody>
          <a:bodyPr wrap="square" anchor="t"/>
          <a:lstStyle/>
          <a:p>
            <a:pPr algn="l"/>
            <a:r>
              <a:rPr sz="1300" b="1">
                <a:solidFill>
                  <a:srgbClr val="3A454F"/>
                </a:solidFill>
                <a:latin typeface="Calibri"/>
              </a:rPr>
              <a:t>Zebel   ·   Kreo   ·   Ediphi</a:t>
            </a:r>
          </a:p>
        </p:txBody>
      </p:sp>
      <p:sp>
        <p:nvSpPr>
          <p:cNvPr id="63" name="Rounded Rectangle 62"/>
          <p:cNvSpPr/>
          <p:nvPr/>
        </p:nvSpPr>
        <p:spPr>
          <a:xfrm>
            <a:off x="384048" y="4078224"/>
            <a:ext cx="2697480" cy="786384"/>
          </a:xfrm>
          <a:prstGeom prst="roundRect">
            <a:avLst>
              <a:gd name="adj" fmla="val 4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457200" y="4169664"/>
            <a:ext cx="256032" cy="256032"/>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4</a:t>
            </a:r>
          </a:p>
        </p:txBody>
      </p:sp>
      <p:sp>
        <p:nvSpPr>
          <p:cNvPr id="65" name="TextBox 64"/>
          <p:cNvSpPr txBox="1"/>
          <p:nvPr/>
        </p:nvSpPr>
        <p:spPr>
          <a:xfrm>
            <a:off x="768096" y="4151376"/>
            <a:ext cx="2240280" cy="329184"/>
          </a:xfrm>
          <a:prstGeom prst="rect">
            <a:avLst/>
          </a:prstGeom>
          <a:noFill/>
        </p:spPr>
        <p:txBody>
          <a:bodyPr wrap="square" anchor="t"/>
          <a:lstStyle/>
          <a:p>
            <a:pPr algn="l"/>
            <a:r>
              <a:rPr sz="1400" b="1">
                <a:solidFill>
                  <a:srgbClr val="26303A"/>
                </a:solidFill>
                <a:latin typeface="Calibri"/>
              </a:rPr>
              <a:t>Smart Tender Bid Evaluation</a:t>
            </a:r>
          </a:p>
        </p:txBody>
      </p:sp>
      <p:sp>
        <p:nvSpPr>
          <p:cNvPr id="66" name="Rounded Rectangle 65"/>
          <p:cNvSpPr/>
          <p:nvPr/>
        </p:nvSpPr>
        <p:spPr>
          <a:xfrm>
            <a:off x="457200" y="4517136"/>
            <a:ext cx="2523744" cy="274320"/>
          </a:xfrm>
          <a:prstGeom prst="roundRect">
            <a:avLst>
              <a:gd name="adj" fmla="val 4000"/>
            </a:avLst>
          </a:prstGeom>
          <a:solidFill>
            <a:srgbClr val="E4F1EF"/>
          </a:solidFill>
          <a:ln>
            <a:noFill/>
          </a:ln>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100" b="1">
                <a:solidFill>
                  <a:srgbClr val="0A5F59"/>
                </a:solidFill>
                <a:latin typeface="Calibri"/>
              </a:rPr>
              <a:t>OPEN GAP  </a:t>
            </a:r>
            <a:r>
              <a:rPr sz="1100" b="0">
                <a:solidFill>
                  <a:srgbClr val="5D8C88"/>
                </a:solidFill>
                <a:latin typeface="Calibri"/>
              </a:rPr>
              <a:t>partly served</a:t>
            </a:r>
          </a:p>
        </p:txBody>
      </p:sp>
      <p:sp>
        <p:nvSpPr>
          <p:cNvPr id="67" name="Rounded Rectangle 66"/>
          <p:cNvSpPr/>
          <p:nvPr/>
        </p:nvSpPr>
        <p:spPr>
          <a:xfrm>
            <a:off x="3154680" y="4078224"/>
            <a:ext cx="4297680" cy="786384"/>
          </a:xfrm>
          <a:prstGeom prst="roundRect">
            <a:avLst>
              <a:gd name="adj" fmla="val 4000"/>
            </a:avLst>
          </a:prstGeom>
          <a:solidFill>
            <a:srgbClr val="FBF3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3154680" y="4078224"/>
            <a:ext cx="54864" cy="786384"/>
          </a:xfrm>
          <a:prstGeom prst="rect">
            <a:avLst/>
          </a:prstGeom>
          <a:solidFill>
            <a:srgbClr val="D99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3282696" y="4151376"/>
            <a:ext cx="1078992" cy="219456"/>
          </a:xfrm>
          <a:prstGeom prst="roundRect">
            <a:avLst>
              <a:gd name="adj" fmla="val 4000"/>
            </a:avLst>
          </a:prstGeom>
          <a:solidFill>
            <a:srgbClr val="F5E3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82696" y="4151376"/>
            <a:ext cx="1078992" cy="219456"/>
          </a:xfrm>
          <a:prstGeom prst="rect">
            <a:avLst/>
          </a:prstGeom>
          <a:noFill/>
        </p:spPr>
        <p:txBody>
          <a:bodyPr wrap="square" anchor="t"/>
          <a:lstStyle/>
          <a:p>
            <a:pPr algn="ctr"/>
            <a:r>
              <a:rPr sz="1000" b="1">
                <a:solidFill>
                  <a:srgbClr val="8A5B14"/>
                </a:solidFill>
                <a:latin typeface="Calibri"/>
              </a:rPr>
              <a:t>PARTIAL</a:t>
            </a:r>
          </a:p>
        </p:txBody>
      </p:sp>
      <p:sp>
        <p:nvSpPr>
          <p:cNvPr id="71" name="TextBox 70"/>
          <p:cNvSpPr txBox="1"/>
          <p:nvPr/>
        </p:nvSpPr>
        <p:spPr>
          <a:xfrm>
            <a:off x="4416552" y="4133088"/>
            <a:ext cx="2926080" cy="420624"/>
          </a:xfrm>
          <a:prstGeom prst="rect">
            <a:avLst/>
          </a:prstGeom>
          <a:noFill/>
        </p:spPr>
        <p:txBody>
          <a:bodyPr wrap="square" anchor="t"/>
          <a:lstStyle/>
          <a:p>
            <a:pPr algn="l"/>
            <a:r>
              <a:rPr sz="1300" b="1">
                <a:solidFill>
                  <a:srgbClr val="26303A"/>
                </a:solidFill>
                <a:latin typeface="Calibri"/>
              </a:rPr>
              <a:t>Sourcing workflow is solved; leveling construction BoQs is not.</a:t>
            </a:r>
          </a:p>
        </p:txBody>
      </p:sp>
      <p:sp>
        <p:nvSpPr>
          <p:cNvPr id="72" name="TextBox 71"/>
          <p:cNvSpPr txBox="1"/>
          <p:nvPr/>
        </p:nvSpPr>
        <p:spPr>
          <a:xfrm>
            <a:off x="3282696" y="4572000"/>
            <a:ext cx="4041648" cy="237744"/>
          </a:xfrm>
          <a:prstGeom prst="rect">
            <a:avLst/>
          </a:prstGeom>
          <a:noFill/>
        </p:spPr>
        <p:txBody>
          <a:bodyPr wrap="square" anchor="t"/>
          <a:lstStyle/>
          <a:p>
            <a:pPr algn="l"/>
            <a:r>
              <a:rPr sz="1300" b="1">
                <a:solidFill>
                  <a:srgbClr val="3A454F"/>
                </a:solidFill>
                <a:latin typeface="Calibri"/>
              </a:rPr>
              <a:t>Cleopatra   ·   SAP Ariba   ·   Jaggaer</a:t>
            </a:r>
          </a:p>
        </p:txBody>
      </p:sp>
      <p:sp>
        <p:nvSpPr>
          <p:cNvPr id="73" name="Rounded Rectangle 72"/>
          <p:cNvSpPr/>
          <p:nvPr/>
        </p:nvSpPr>
        <p:spPr>
          <a:xfrm>
            <a:off x="7525512" y="4078224"/>
            <a:ext cx="4279392" cy="786384"/>
          </a:xfrm>
          <a:prstGeom prst="roundRect">
            <a:avLst>
              <a:gd name="adj" fmla="val 4000"/>
            </a:avLst>
          </a:prstGeom>
          <a:solidFill>
            <a:srgbClr val="E9F4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525512" y="4078224"/>
            <a:ext cx="54864" cy="786384"/>
          </a:xfrm>
          <a:prstGeom prst="rect">
            <a:avLst/>
          </a:prstGeom>
          <a:solidFill>
            <a:srgbClr val="2E9E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ounded Rectangle 74"/>
          <p:cNvSpPr/>
          <p:nvPr/>
        </p:nvSpPr>
        <p:spPr>
          <a:xfrm>
            <a:off x="7653528" y="4151376"/>
            <a:ext cx="1078992" cy="219456"/>
          </a:xfrm>
          <a:prstGeom prst="roundRect">
            <a:avLst>
              <a:gd name="adj" fmla="val 4000"/>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653528" y="4151376"/>
            <a:ext cx="1078992" cy="219456"/>
          </a:xfrm>
          <a:prstGeom prst="rect">
            <a:avLst/>
          </a:prstGeom>
          <a:noFill/>
        </p:spPr>
        <p:txBody>
          <a:bodyPr wrap="square" anchor="t"/>
          <a:lstStyle/>
          <a:p>
            <a:pPr algn="ctr"/>
            <a:r>
              <a:rPr sz="1000" b="1">
                <a:solidFill>
                  <a:srgbClr val="1E6B3D"/>
                </a:solidFill>
                <a:latin typeface="Calibri"/>
              </a:rPr>
              <a:t>COVERS MOST</a:t>
            </a:r>
          </a:p>
        </p:txBody>
      </p:sp>
      <p:sp>
        <p:nvSpPr>
          <p:cNvPr id="77" name="TextBox 76"/>
          <p:cNvSpPr txBox="1"/>
          <p:nvPr/>
        </p:nvSpPr>
        <p:spPr>
          <a:xfrm>
            <a:off x="8787384" y="4133088"/>
            <a:ext cx="2907792" cy="420624"/>
          </a:xfrm>
          <a:prstGeom prst="rect">
            <a:avLst/>
          </a:prstGeom>
          <a:noFill/>
        </p:spPr>
        <p:txBody>
          <a:bodyPr wrap="square" anchor="t"/>
          <a:lstStyle/>
          <a:p>
            <a:pPr algn="l"/>
            <a:r>
              <a:rPr sz="1300" b="1">
                <a:solidFill>
                  <a:srgbClr val="26303A"/>
                </a:solidFill>
                <a:latin typeface="Calibri"/>
              </a:rPr>
              <a:t>Real line-by-line bid comparison exists — and it ends at the tender.</a:t>
            </a:r>
          </a:p>
        </p:txBody>
      </p:sp>
      <p:sp>
        <p:nvSpPr>
          <p:cNvPr id="78" name="TextBox 77"/>
          <p:cNvSpPr txBox="1"/>
          <p:nvPr/>
        </p:nvSpPr>
        <p:spPr>
          <a:xfrm>
            <a:off x="7653528" y="4572000"/>
            <a:ext cx="4023360" cy="237744"/>
          </a:xfrm>
          <a:prstGeom prst="rect">
            <a:avLst/>
          </a:prstGeom>
          <a:noFill/>
        </p:spPr>
        <p:txBody>
          <a:bodyPr wrap="square" anchor="t"/>
          <a:lstStyle/>
          <a:p>
            <a:pPr algn="l"/>
            <a:r>
              <a:rPr sz="1300" b="1">
                <a:solidFill>
                  <a:srgbClr val="3A454F"/>
                </a:solidFill>
                <a:latin typeface="Calibri"/>
              </a:rPr>
              <a:t>ConWize   ·   Zebel   ·   Ediphi</a:t>
            </a:r>
          </a:p>
        </p:txBody>
      </p:sp>
      <p:sp>
        <p:nvSpPr>
          <p:cNvPr id="79" name="Rounded Rectangle 78"/>
          <p:cNvSpPr/>
          <p:nvPr/>
        </p:nvSpPr>
        <p:spPr>
          <a:xfrm>
            <a:off x="384048" y="4919472"/>
            <a:ext cx="2697480" cy="786384"/>
          </a:xfrm>
          <a:prstGeom prst="roundRect">
            <a:avLst>
              <a:gd name="adj" fmla="val 4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457200" y="5010912"/>
            <a:ext cx="256032" cy="256032"/>
          </a:xfrm>
          <a:prstGeom prst="ellipse">
            <a:avLst/>
          </a:prstGeom>
          <a:solidFill>
            <a:srgbClr val="0B7F77"/>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5</a:t>
            </a:r>
          </a:p>
        </p:txBody>
      </p:sp>
      <p:sp>
        <p:nvSpPr>
          <p:cNvPr id="81" name="TextBox 80"/>
          <p:cNvSpPr txBox="1"/>
          <p:nvPr/>
        </p:nvSpPr>
        <p:spPr>
          <a:xfrm>
            <a:off x="768096" y="4992624"/>
            <a:ext cx="2240280" cy="329184"/>
          </a:xfrm>
          <a:prstGeom prst="rect">
            <a:avLst/>
          </a:prstGeom>
          <a:noFill/>
        </p:spPr>
        <p:txBody>
          <a:bodyPr wrap="square" anchor="t"/>
          <a:lstStyle/>
          <a:p>
            <a:pPr algn="l"/>
            <a:r>
              <a:rPr sz="1400" b="1">
                <a:solidFill>
                  <a:srgbClr val="26303A"/>
                </a:solidFill>
                <a:latin typeface="Calibri"/>
              </a:rPr>
              <a:t>Agentic Cost Realization Tracking</a:t>
            </a:r>
          </a:p>
        </p:txBody>
      </p:sp>
      <p:sp>
        <p:nvSpPr>
          <p:cNvPr id="82" name="Rounded Rectangle 81"/>
          <p:cNvSpPr/>
          <p:nvPr/>
        </p:nvSpPr>
        <p:spPr>
          <a:xfrm>
            <a:off x="457200" y="5358384"/>
            <a:ext cx="2523744" cy="274320"/>
          </a:xfrm>
          <a:prstGeom prst="roundRect">
            <a:avLst>
              <a:gd name="adj" fmla="val 4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100" b="1">
                <a:solidFill>
                  <a:srgbClr val="5C6670"/>
                </a:solidFill>
                <a:latin typeface="Calibri"/>
              </a:rPr>
              <a:t>CROWDED  </a:t>
            </a:r>
            <a:r>
              <a:rPr sz="1100" b="0">
                <a:solidFill>
                  <a:srgbClr val="9AA3AC"/>
                </a:solidFill>
                <a:latin typeface="Calibri"/>
              </a:rPr>
              <a:t>well served</a:t>
            </a:r>
          </a:p>
        </p:txBody>
      </p:sp>
      <p:sp>
        <p:nvSpPr>
          <p:cNvPr id="83" name="Rounded Rectangle 82"/>
          <p:cNvSpPr/>
          <p:nvPr/>
        </p:nvSpPr>
        <p:spPr>
          <a:xfrm>
            <a:off x="3154680" y="4919472"/>
            <a:ext cx="4297680" cy="786384"/>
          </a:xfrm>
          <a:prstGeom prst="roundRect">
            <a:avLst>
              <a:gd name="adj" fmla="val 4000"/>
            </a:avLst>
          </a:prstGeom>
          <a:solidFill>
            <a:srgbClr val="E9F4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3154680" y="4919472"/>
            <a:ext cx="54864" cy="786384"/>
          </a:xfrm>
          <a:prstGeom prst="rect">
            <a:avLst/>
          </a:prstGeom>
          <a:solidFill>
            <a:srgbClr val="2E9E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3282696" y="4992624"/>
            <a:ext cx="1078992" cy="219456"/>
          </a:xfrm>
          <a:prstGeom prst="roundRect">
            <a:avLst>
              <a:gd name="adj" fmla="val 4000"/>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282696" y="4992624"/>
            <a:ext cx="1078992" cy="219456"/>
          </a:xfrm>
          <a:prstGeom prst="rect">
            <a:avLst/>
          </a:prstGeom>
          <a:noFill/>
        </p:spPr>
        <p:txBody>
          <a:bodyPr wrap="square" anchor="t"/>
          <a:lstStyle/>
          <a:p>
            <a:pPr algn="ctr"/>
            <a:r>
              <a:rPr sz="1000" b="1">
                <a:solidFill>
                  <a:srgbClr val="1E6B3D"/>
                </a:solidFill>
                <a:latin typeface="Calibri"/>
              </a:rPr>
              <a:t>COVERS MOST</a:t>
            </a:r>
          </a:p>
        </p:txBody>
      </p:sp>
      <p:sp>
        <p:nvSpPr>
          <p:cNvPr id="87" name="TextBox 86"/>
          <p:cNvSpPr txBox="1"/>
          <p:nvPr/>
        </p:nvSpPr>
        <p:spPr>
          <a:xfrm>
            <a:off x="4416552" y="4974336"/>
            <a:ext cx="2926080" cy="420624"/>
          </a:xfrm>
          <a:prstGeom prst="rect">
            <a:avLst/>
          </a:prstGeom>
          <a:noFill/>
        </p:spPr>
        <p:txBody>
          <a:bodyPr wrap="square" anchor="t"/>
          <a:lstStyle/>
          <a:p>
            <a:pPr algn="l"/>
            <a:r>
              <a:rPr sz="1300" b="1">
                <a:solidFill>
                  <a:srgbClr val="26303A"/>
                </a:solidFill>
                <a:latin typeface="Calibri"/>
              </a:rPr>
              <a:t>Entrenched systems of record, still fed by manual site reporting.</a:t>
            </a:r>
          </a:p>
        </p:txBody>
      </p:sp>
      <p:sp>
        <p:nvSpPr>
          <p:cNvPr id="88" name="TextBox 87"/>
          <p:cNvSpPr txBox="1"/>
          <p:nvPr/>
        </p:nvSpPr>
        <p:spPr>
          <a:xfrm>
            <a:off x="3282696" y="5413248"/>
            <a:ext cx="4041648" cy="237744"/>
          </a:xfrm>
          <a:prstGeom prst="rect">
            <a:avLst/>
          </a:prstGeom>
          <a:noFill/>
        </p:spPr>
        <p:txBody>
          <a:bodyPr wrap="square" anchor="t"/>
          <a:lstStyle/>
          <a:p>
            <a:pPr algn="l"/>
            <a:r>
              <a:rPr sz="1300" b="1">
                <a:solidFill>
                  <a:srgbClr val="3A454F"/>
                </a:solidFill>
                <a:latin typeface="Calibri"/>
              </a:rPr>
              <a:t>Procore   ·   Oracle Primavera   ·   Autodesk ACC</a:t>
            </a:r>
          </a:p>
        </p:txBody>
      </p:sp>
      <p:sp>
        <p:nvSpPr>
          <p:cNvPr id="89" name="Rounded Rectangle 88"/>
          <p:cNvSpPr/>
          <p:nvPr/>
        </p:nvSpPr>
        <p:spPr>
          <a:xfrm>
            <a:off x="7525512" y="4919472"/>
            <a:ext cx="4279392" cy="786384"/>
          </a:xfrm>
          <a:prstGeom prst="roundRect">
            <a:avLst>
              <a:gd name="adj" fmla="val 4000"/>
            </a:avLst>
          </a:prstGeom>
          <a:solidFill>
            <a:srgbClr val="E9F4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7525512" y="4919472"/>
            <a:ext cx="54864" cy="786384"/>
          </a:xfrm>
          <a:prstGeom prst="rect">
            <a:avLst/>
          </a:prstGeom>
          <a:solidFill>
            <a:srgbClr val="2E9E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ounded Rectangle 90"/>
          <p:cNvSpPr/>
          <p:nvPr/>
        </p:nvSpPr>
        <p:spPr>
          <a:xfrm>
            <a:off x="7653528" y="4992624"/>
            <a:ext cx="1078992" cy="219456"/>
          </a:xfrm>
          <a:prstGeom prst="roundRect">
            <a:avLst>
              <a:gd name="adj" fmla="val 4000"/>
            </a:avLst>
          </a:prstGeom>
          <a:solidFill>
            <a:srgbClr val="CF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7653528" y="4992624"/>
            <a:ext cx="1078992" cy="219456"/>
          </a:xfrm>
          <a:prstGeom prst="rect">
            <a:avLst/>
          </a:prstGeom>
          <a:noFill/>
        </p:spPr>
        <p:txBody>
          <a:bodyPr wrap="square" anchor="t"/>
          <a:lstStyle/>
          <a:p>
            <a:pPr algn="ctr"/>
            <a:r>
              <a:rPr sz="1000" b="1">
                <a:solidFill>
                  <a:srgbClr val="1E6B3D"/>
                </a:solidFill>
                <a:latin typeface="Calibri"/>
              </a:rPr>
              <a:t>COVERS MOST</a:t>
            </a:r>
          </a:p>
        </p:txBody>
      </p:sp>
      <p:sp>
        <p:nvSpPr>
          <p:cNvPr id="93" name="TextBox 92"/>
          <p:cNvSpPr txBox="1"/>
          <p:nvPr/>
        </p:nvSpPr>
        <p:spPr>
          <a:xfrm>
            <a:off x="8787384" y="4974336"/>
            <a:ext cx="2907792" cy="420624"/>
          </a:xfrm>
          <a:prstGeom prst="rect">
            <a:avLst/>
          </a:prstGeom>
          <a:noFill/>
        </p:spPr>
        <p:txBody>
          <a:bodyPr wrap="square" anchor="t"/>
          <a:lstStyle/>
          <a:p>
            <a:pPr algn="l"/>
            <a:r>
              <a:rPr sz="1300" b="1">
                <a:solidFill>
                  <a:srgbClr val="26303A"/>
                </a:solidFill>
                <a:latin typeface="Calibri"/>
              </a:rPr>
              <a:t>Best-in-class AI progress capture, with no link to procurement.</a:t>
            </a:r>
          </a:p>
        </p:txBody>
      </p:sp>
      <p:sp>
        <p:nvSpPr>
          <p:cNvPr id="94" name="TextBox 93"/>
          <p:cNvSpPr txBox="1"/>
          <p:nvPr/>
        </p:nvSpPr>
        <p:spPr>
          <a:xfrm>
            <a:off x="7653528" y="5413248"/>
            <a:ext cx="4023360" cy="237744"/>
          </a:xfrm>
          <a:prstGeom prst="rect">
            <a:avLst/>
          </a:prstGeom>
          <a:noFill/>
        </p:spPr>
        <p:txBody>
          <a:bodyPr wrap="square" anchor="t"/>
          <a:lstStyle/>
          <a:p>
            <a:pPr algn="l"/>
            <a:r>
              <a:rPr sz="1300" b="1">
                <a:solidFill>
                  <a:srgbClr val="3A454F"/>
                </a:solidFill>
                <a:latin typeface="Calibri"/>
              </a:rPr>
              <a:t>Buildots   ·   Doxel   ·   OpenSpace</a:t>
            </a:r>
          </a:p>
        </p:txBody>
      </p:sp>
      <p:sp>
        <p:nvSpPr>
          <p:cNvPr id="95" name="Rounded Rectangle 94"/>
          <p:cNvSpPr/>
          <p:nvPr/>
        </p:nvSpPr>
        <p:spPr>
          <a:xfrm>
            <a:off x="384048" y="5760720"/>
            <a:ext cx="2697480" cy="786384"/>
          </a:xfrm>
          <a:prstGeom prst="roundRect">
            <a:avLst>
              <a:gd name="adj" fmla="val 4000"/>
            </a:avLst>
          </a:prstGeom>
          <a:solidFill>
            <a:srgbClr val="EDF0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457200" y="5852160"/>
            <a:ext cx="256032" cy="256032"/>
          </a:xfrm>
          <a:prstGeom prst="ellipse">
            <a:avLst/>
          </a:prstGeom>
          <a:solidFill>
            <a:srgbClr val="B97D1E"/>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FFFFF"/>
                </a:solidFill>
                <a:latin typeface="Calibri"/>
              </a:rPr>
              <a:t>6</a:t>
            </a:r>
          </a:p>
        </p:txBody>
      </p:sp>
      <p:sp>
        <p:nvSpPr>
          <p:cNvPr id="97" name="TextBox 96"/>
          <p:cNvSpPr txBox="1"/>
          <p:nvPr/>
        </p:nvSpPr>
        <p:spPr>
          <a:xfrm>
            <a:off x="768096" y="5833872"/>
            <a:ext cx="2240280" cy="329184"/>
          </a:xfrm>
          <a:prstGeom prst="rect">
            <a:avLst/>
          </a:prstGeom>
          <a:noFill/>
        </p:spPr>
        <p:txBody>
          <a:bodyPr wrap="square" anchor="t"/>
          <a:lstStyle/>
          <a:p>
            <a:pPr algn="l"/>
            <a:r>
              <a:rPr sz="1400" b="1">
                <a:solidFill>
                  <a:srgbClr val="26303A"/>
                </a:solidFill>
                <a:latin typeface="Calibri"/>
              </a:rPr>
              <a:t>AI-Based Value Optimizer</a:t>
            </a:r>
          </a:p>
        </p:txBody>
      </p:sp>
      <p:sp>
        <p:nvSpPr>
          <p:cNvPr id="98" name="Rounded Rectangle 97"/>
          <p:cNvSpPr/>
          <p:nvPr/>
        </p:nvSpPr>
        <p:spPr>
          <a:xfrm>
            <a:off x="457200" y="6199632"/>
            <a:ext cx="2523744" cy="274320"/>
          </a:xfrm>
          <a:prstGeom prst="roundRect">
            <a:avLst>
              <a:gd name="adj" fmla="val 4000"/>
            </a:avLst>
          </a:prstGeom>
          <a:solidFill>
            <a:srgbClr val="0A5F59"/>
          </a:solidFill>
          <a:ln>
            <a:noFill/>
          </a:ln>
        </p:spPr>
        <p:style>
          <a:lnRef idx="1">
            <a:schemeClr val="accent1"/>
          </a:lnRef>
          <a:fillRef idx="3">
            <a:schemeClr val="accent1"/>
          </a:fillRef>
          <a:effectRef idx="2">
            <a:schemeClr val="accent1"/>
          </a:effectRef>
          <a:fontRef idx="minor">
            <a:schemeClr val="lt1"/>
          </a:fontRef>
        </p:style>
        <p:txBody>
          <a:bodyPr rtlCol="0" anchor="ctr" wrap="none" lIns="73152"/>
          <a:lstStyle/>
          <a:p>
            <a:pPr algn="l"/>
            <a:r>
              <a:rPr sz="1100" b="1">
                <a:solidFill>
                  <a:srgbClr val="FFFFFF"/>
                </a:solidFill>
                <a:latin typeface="Calibri"/>
              </a:rPr>
              <a:t>WHITE SPACE  </a:t>
            </a:r>
            <a:r>
              <a:rPr sz="1100" b="0">
                <a:solidFill>
                  <a:srgbClr val="B9DCD8"/>
                </a:solidFill>
                <a:latin typeface="Calibri"/>
              </a:rPr>
              <a:t>ours to take</a:t>
            </a:r>
          </a:p>
        </p:txBody>
      </p:sp>
      <p:sp>
        <p:nvSpPr>
          <p:cNvPr id="99" name="Rounded Rectangle 98"/>
          <p:cNvSpPr/>
          <p:nvPr/>
        </p:nvSpPr>
        <p:spPr>
          <a:xfrm>
            <a:off x="3154680" y="5760720"/>
            <a:ext cx="4297680" cy="786384"/>
          </a:xfrm>
          <a:prstGeom prst="roundRect">
            <a:avLst>
              <a:gd name="adj" fmla="val 4000"/>
            </a:avLst>
          </a:prstGeom>
          <a:solidFill>
            <a:srgbClr val="F9EA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3154680" y="5760720"/>
            <a:ext cx="54864" cy="786384"/>
          </a:xfrm>
          <a:prstGeom prst="rect">
            <a:avLst/>
          </a:prstGeom>
          <a:solidFill>
            <a:srgbClr val="C045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ounded Rectangle 100"/>
          <p:cNvSpPr/>
          <p:nvPr/>
        </p:nvSpPr>
        <p:spPr>
          <a:xfrm>
            <a:off x="3282696" y="5833872"/>
            <a:ext cx="1078992" cy="219456"/>
          </a:xfrm>
          <a:prstGeom prst="roundRect">
            <a:avLst>
              <a:gd name="adj" fmla="val 4000"/>
            </a:avLst>
          </a:prstGeom>
          <a:solidFill>
            <a:srgbClr val="F0D4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3282696" y="5833872"/>
            <a:ext cx="1078992" cy="219456"/>
          </a:xfrm>
          <a:prstGeom prst="rect">
            <a:avLst/>
          </a:prstGeom>
          <a:noFill/>
        </p:spPr>
        <p:txBody>
          <a:bodyPr wrap="square" anchor="t"/>
          <a:lstStyle/>
          <a:p>
            <a:pPr algn="ctr"/>
            <a:r>
              <a:rPr sz="1000" b="1">
                <a:solidFill>
                  <a:srgbClr val="9B3328"/>
                </a:solidFill>
                <a:latin typeface="Calibri"/>
              </a:rPr>
              <a:t>BARELY</a:t>
            </a:r>
          </a:p>
        </p:txBody>
      </p:sp>
      <p:sp>
        <p:nvSpPr>
          <p:cNvPr id="103" name="TextBox 102"/>
          <p:cNvSpPr txBox="1"/>
          <p:nvPr/>
        </p:nvSpPr>
        <p:spPr>
          <a:xfrm>
            <a:off x="4416552" y="5815584"/>
            <a:ext cx="2926080" cy="420624"/>
          </a:xfrm>
          <a:prstGeom prst="rect">
            <a:avLst/>
          </a:prstGeom>
          <a:noFill/>
        </p:spPr>
        <p:txBody>
          <a:bodyPr wrap="square" anchor="t"/>
          <a:lstStyle/>
          <a:p>
            <a:pPr algn="l"/>
            <a:r>
              <a:rPr sz="1300" b="1">
                <a:solidFill>
                  <a:srgbClr val="26303A"/>
                </a:solidFill>
                <a:latin typeface="Calibri"/>
              </a:rPr>
              <a:t>Static what-if analysis at gates; no continuous savings loop anywhere.</a:t>
            </a:r>
          </a:p>
        </p:txBody>
      </p:sp>
      <p:sp>
        <p:nvSpPr>
          <p:cNvPr id="104" name="TextBox 103"/>
          <p:cNvSpPr txBox="1"/>
          <p:nvPr/>
        </p:nvSpPr>
        <p:spPr>
          <a:xfrm>
            <a:off x="3282696" y="6254496"/>
            <a:ext cx="4041648" cy="237744"/>
          </a:xfrm>
          <a:prstGeom prst="rect">
            <a:avLst/>
          </a:prstGeom>
          <a:noFill/>
        </p:spPr>
        <p:txBody>
          <a:bodyPr wrap="square" anchor="t"/>
          <a:lstStyle/>
          <a:p>
            <a:pPr algn="l"/>
            <a:r>
              <a:rPr sz="1300" b="1">
                <a:solidFill>
                  <a:srgbClr val="3A454F"/>
                </a:solidFill>
                <a:latin typeface="Calibri"/>
              </a:rPr>
              <a:t>Cleopatra   ·   RIB iTWO   ·   Oracle</a:t>
            </a:r>
          </a:p>
        </p:txBody>
      </p:sp>
      <p:sp>
        <p:nvSpPr>
          <p:cNvPr id="105" name="Rounded Rectangle 104"/>
          <p:cNvSpPr/>
          <p:nvPr/>
        </p:nvSpPr>
        <p:spPr>
          <a:xfrm>
            <a:off x="7525512" y="5760720"/>
            <a:ext cx="4279392" cy="786384"/>
          </a:xfrm>
          <a:prstGeom prst="roundRect">
            <a:avLst>
              <a:gd name="adj" fmla="val 4000"/>
            </a:avLst>
          </a:prstGeom>
          <a:solidFill>
            <a:srgbClr val="FBF3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7525512" y="5760720"/>
            <a:ext cx="54864" cy="786384"/>
          </a:xfrm>
          <a:prstGeom prst="rect">
            <a:avLst/>
          </a:prstGeom>
          <a:solidFill>
            <a:srgbClr val="D99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ounded Rectangle 106"/>
          <p:cNvSpPr/>
          <p:nvPr/>
        </p:nvSpPr>
        <p:spPr>
          <a:xfrm>
            <a:off x="7653528" y="5833872"/>
            <a:ext cx="1078992" cy="219456"/>
          </a:xfrm>
          <a:prstGeom prst="roundRect">
            <a:avLst>
              <a:gd name="adj" fmla="val 4000"/>
            </a:avLst>
          </a:prstGeom>
          <a:solidFill>
            <a:srgbClr val="F5E3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7653528" y="5833872"/>
            <a:ext cx="1078992" cy="219456"/>
          </a:xfrm>
          <a:prstGeom prst="rect">
            <a:avLst/>
          </a:prstGeom>
          <a:noFill/>
        </p:spPr>
        <p:txBody>
          <a:bodyPr wrap="square" anchor="t"/>
          <a:lstStyle/>
          <a:p>
            <a:pPr algn="ctr"/>
            <a:r>
              <a:rPr sz="1000" b="1">
                <a:solidFill>
                  <a:srgbClr val="8A5B14"/>
                </a:solidFill>
                <a:latin typeface="Calibri"/>
              </a:rPr>
              <a:t>PARTIAL</a:t>
            </a:r>
          </a:p>
        </p:txBody>
      </p:sp>
      <p:sp>
        <p:nvSpPr>
          <p:cNvPr id="109" name="TextBox 108"/>
          <p:cNvSpPr txBox="1"/>
          <p:nvPr/>
        </p:nvSpPr>
        <p:spPr>
          <a:xfrm>
            <a:off x="8787384" y="5815584"/>
            <a:ext cx="2907792" cy="420624"/>
          </a:xfrm>
          <a:prstGeom prst="rect">
            <a:avLst/>
          </a:prstGeom>
          <a:noFill/>
        </p:spPr>
        <p:txBody>
          <a:bodyPr wrap="square" anchor="t"/>
          <a:lstStyle/>
          <a:p>
            <a:pPr algn="l"/>
            <a:r>
              <a:rPr sz="1300" b="1">
                <a:solidFill>
                  <a:srgbClr val="26303A"/>
                </a:solidFill>
                <a:latin typeface="Calibri"/>
              </a:rPr>
              <a:t>Optimization exists for schedule; cost value is left untouched.</a:t>
            </a:r>
          </a:p>
        </p:txBody>
      </p:sp>
      <p:sp>
        <p:nvSpPr>
          <p:cNvPr id="110" name="TextBox 109"/>
          <p:cNvSpPr txBox="1"/>
          <p:nvPr/>
        </p:nvSpPr>
        <p:spPr>
          <a:xfrm>
            <a:off x="7653528" y="6254496"/>
            <a:ext cx="4023360" cy="237744"/>
          </a:xfrm>
          <a:prstGeom prst="rect">
            <a:avLst/>
          </a:prstGeom>
          <a:noFill/>
        </p:spPr>
        <p:txBody>
          <a:bodyPr wrap="square" anchor="t"/>
          <a:lstStyle/>
          <a:p>
            <a:pPr algn="l"/>
            <a:r>
              <a:rPr sz="1300" b="1">
                <a:solidFill>
                  <a:srgbClr val="3A454F"/>
                </a:solidFill>
                <a:latin typeface="Calibri"/>
              </a:rPr>
              <a:t>ALICE Technologies   ·   nPlan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