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1. Introduction. Blue Currency is the first agentic AI platform that runs the entire construction lifecycle, end to end. Modules: orchestration, unified BoQ, dynamic CAPEX, tender evaluation, procurement and progress tracking, plus optional Value Optimizer. Built on existing McKinsey assets.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2. The problem. Severity of the pain is rated High / Medium / Low separately for market leaders and developing players. The 'what it costs them' column was removed; severity carries that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3. Competitive landscape as four archetypes. Axes are AI-native reasoning (up) and breadth of lifecycle coverage (right). Blue Currency sits in the middle of the matrix, not in the top-right corner. Top-right (agentic plus end to end) is empty: no one is there yet. AI specialists: Kreo, Buildots, Costify, Zebel, ConWize, Ediphi, Doxel, OpenSpace, ALICE, nPlan. Point tools: Bluebeam, PlanSwift, RIB CostX, RIB Candy, Sage Estimating, Causeway, Excel. Enterprise suites: Oracle, Procore, RIB iTWO, Cleopatra, SAP Ariba, Autodesk ACC, InEight, Trimble, Jaggaer.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4. Competitive deep dive. Badge colour is the group's coverage of that module, not each vendor.</a:t>
            </a:r>
          </a:p>
          <a:p/>
          <a:p>
            <a:r>
              <a:t>VENDOR EVIDENCE (from the HTML hover notes)</a:t>
            </a:r>
          </a:p>
          <a:p/>
          <a:p>
            <a:r>
              <a:t>End to End Agentic Orchestration</a:t>
            </a:r>
          </a:p>
          <a:p>
            <a:r>
              <a:t>• RIB iTWO: Connects estimating and controls inside one suite. Integration between modules, not an agentic learning model.</a:t>
            </a:r>
          </a:p>
          <a:p>
            <a:r>
              <a:t>• Oracle: Spans schedule, cost and capital planning. Broad, but configured by experts rather than reasoned by agents.</a:t>
            </a:r>
          </a:p>
          <a:p>
            <a:r>
              <a:t>• InEight: Estimating through to field execution in one platform, driven by workflow and rules rather than agents.</a:t>
            </a:r>
          </a:p>
          <a:p>
            <a:r>
              <a:t>• Kreo: Takeoff and estimating only. Nothing carries forward into tendering, procurement or site control.</a:t>
            </a:r>
          </a:p>
          <a:p>
            <a:r>
              <a:t>• Buildots: Site progress only. No link back to the BoQ, the budget or the procurement pipeline.</a:t>
            </a:r>
          </a:p>
          <a:p>
            <a:r>
              <a:t>• ConWize: Tendering only. The model stops once the contract is awarded.</a:t>
            </a:r>
          </a:p>
          <a:p/>
          <a:p>
            <a:r>
              <a:t>AI Generated Unified BoQ</a:t>
            </a:r>
          </a:p>
          <a:p>
            <a:r>
              <a:t>• Cleopatra: Configurable cost-breakdown structures. Mapping items into it stays expert-led.</a:t>
            </a:r>
          </a:p>
          <a:p>
            <a:r>
              <a:t>• RIB CostX: Measured takeoff and BoQs from drawings. No automatic coding of any incoming format.</a:t>
            </a:r>
          </a:p>
          <a:p>
            <a:r>
              <a:t>• Trimble: Maintains cost libraries. Mapping third-party formats remains manual.</a:t>
            </a:r>
          </a:p>
          <a:p>
            <a:r>
              <a:t>• Costify: Turns BoQs into a classified private database. Data, not a live BoQ engine.</a:t>
            </a:r>
          </a:p>
          <a:p>
            <a:r>
              <a:t>• Zebel: Standardizes historical spreadsheets into a cost database, not one unified BoQ.</a:t>
            </a:r>
          </a:p>
          <a:p>
            <a:r>
              <a:t>• ConWize: Imports and manages BoQs for tendering, limited automatic standardization.</a:t>
            </a:r>
          </a:p>
          <a:p/>
          <a:p>
            <a:r>
              <a:t>Dynamic Bottom Up CAPEX</a:t>
            </a:r>
          </a:p>
          <a:p>
            <a:r>
              <a:t>• RIB CostX: Bottom-up estimating from measured quantities, using maintained rates rather than live market drivers.</a:t>
            </a:r>
          </a:p>
          <a:p>
            <a:r>
              <a:t>• Cleopatra: Estimating and benchmarking driven by rules and cost libraries.</a:t>
            </a:r>
          </a:p>
          <a:p>
            <a:r>
              <a:t>• InEight: Cost estimating and project controls. Capable engine, still planner-driven.</a:t>
            </a:r>
          </a:p>
          <a:p>
            <a:r>
              <a:t>• Zebel: Conceptual estimates from a firm's own history. Preconstruction focus.</a:t>
            </a:r>
          </a:p>
          <a:p>
            <a:r>
              <a:t>• Kreo: AI takeoff from drawings through to quantities and estimates. One step, done well.</a:t>
            </a:r>
          </a:p>
          <a:p>
            <a:r>
              <a:t>• Ediphi: Preconstruction estimating and early bid leveling, not live bottom-up CAPEX.</a:t>
            </a:r>
          </a:p>
          <a:p/>
          <a:p>
            <a:r>
              <a:t>Smart Tender Bid Evaluation</a:t>
            </a:r>
          </a:p>
          <a:p>
            <a:r>
              <a:t>• Cleopatra: Standardized bid comparison once data is already structured. Setup is expert-heavy.</a:t>
            </a:r>
          </a:p>
          <a:p>
            <a:r>
              <a:t>• SAP Ariba: Sourcing and bid workflow. Generic, not construction-BoQ native.</a:t>
            </a:r>
          </a:p>
          <a:p>
            <a:r>
              <a:t>• Jaggaer: Generic sourcing and scoring. Not built to normalize construction BoQs line by line.</a:t>
            </a:r>
          </a:p>
          <a:p>
            <a:r>
              <a:t>• ConWize: Line-by-line BoQ bid comparison that flags anomalies. Strong at tendering only.</a:t>
            </a:r>
          </a:p>
          <a:p>
            <a:r>
              <a:t>• Zebel: Bid leveling against historical unit prices. A preconstruction worksheet.</a:t>
            </a:r>
          </a:p>
          <a:p>
            <a:r>
              <a:t>• Ediphi: Early-stage bid leveling, not full tender evaluation through to award.</a:t>
            </a:r>
          </a:p>
          <a:p/>
          <a:p>
            <a:r>
              <a:t>Procurement and Progress Tracking</a:t>
            </a:r>
          </a:p>
          <a:p>
            <a:r>
              <a:t>• Procore: Project and field management. Manual site reporting still feeds it.</a:t>
            </a:r>
          </a:p>
          <a:p>
            <a:r>
              <a:t>• Oracle Primavera: Schedule and earned-value controls. Strong on plan, weak as a quantity gatekeeper.</a:t>
            </a:r>
          </a:p>
          <a:p>
            <a:r>
              <a:t>• Autodesk ACC: Construction cloud for models, issues and field data. Coordination, not agentic cost control.</a:t>
            </a:r>
          </a:p>
          <a:p>
            <a:r>
              <a:t>• Buildots: AI compares site captures against BIM and schedule. Best-in-class for that step alone.</a:t>
            </a:r>
          </a:p>
          <a:p>
            <a:r>
              <a:t>• Doxel: Reality capture versus plan. Progress evidence, not procurement control.</a:t>
            </a:r>
          </a:p>
          <a:p>
            <a:r>
              <a:t>• OpenSpace: 360 capture and visual progress documentation. No agentic check on quantities.</a:t>
            </a:r>
          </a:p>
          <a:p/>
          <a:p>
            <a:r>
              <a:t>Value Optimizer</a:t>
            </a:r>
          </a:p>
          <a:p>
            <a:r>
              <a:t>• Cleopatra: Static what-if analysis on an estimate. Not a continuous savings loop.</a:t>
            </a:r>
          </a:p>
          <a:p>
            <a:r>
              <a:t>• RIB iTWO: Scenario comparison inside the estimate. No always-on value-engineering loop.</a:t>
            </a:r>
          </a:p>
          <a:p>
            <a:r>
              <a:t>• Oracle: Capital planning and portfolio what-ifs, run by analysts at decision points.</a:t>
            </a:r>
          </a:p>
          <a:p>
            <a:r>
              <a:t>• ALICE Technologies: Schedule optioneering. Time, not a cost-value loop.</a:t>
            </a:r>
          </a:p>
          <a:p>
            <a:r>
              <a:t>• nPlan: AI schedule-risk forecasting from past programmes. Time risk, not continuous cost value.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AGENTIC AI FOR REAL ESTATE DEVELOPMENT AND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Blue Currency is the </a:t>
            </a:r>
            <a:r>
              <a:rPr sz="2500" b="1">
                <a:solidFill>
                  <a:srgbClr val="0A5F59"/>
                </a:solidFill>
                <a:latin typeface="Calibri"/>
              </a:rPr>
              <a:t>first agentic AI platform</a:t>
            </a:r>
            <a:r>
              <a:rPr sz="2500" b="1">
                <a:solidFill>
                  <a:srgbClr val="26303A"/>
                </a:solidFill>
                <a:latin typeface="Calibri"/>
              </a:rPr>
              <a:t> that runs the entire construction lifecycle, end to 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987552"/>
            <a:ext cx="6537960" cy="5596128"/>
          </a:xfrm>
          <a:prstGeom prst="roundRect">
            <a:avLst>
              <a:gd name="adj" fmla="val 8000"/>
            </a:avLst>
          </a:prstGeom>
          <a:solidFill>
            <a:srgbClr val="F3FAF9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115568"/>
            <a:ext cx="6172200" cy="530352"/>
          </a:xfrm>
          <a:prstGeom prst="roundRect">
            <a:avLst>
              <a:gd name="adj" fmla="val 12000"/>
            </a:avLst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     End to End Agentic Orchestration for Construction Lifecycle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2140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5176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Dynamic Bottom Up CAPEX Estimation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7588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0624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036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6072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523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017520"/>
            <a:ext cx="6172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97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3090672"/>
            <a:ext cx="310896" cy="310896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090672"/>
            <a:ext cx="26517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1">
                <a:solidFill>
                  <a:srgbClr val="B97D1E"/>
                </a:solidFill>
                <a:latin typeface="Calibri"/>
              </a:rPr>
              <a:t>AI-Based Value Optimizer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621024"/>
            <a:ext cx="6172200" cy="658368"/>
          </a:xfrm>
          <a:prstGeom prst="roundRect">
            <a:avLst>
              <a:gd name="adj" fmla="val 10000"/>
            </a:avLst>
          </a:prstGeom>
          <a:solidFill>
            <a:srgbClr val="0E2A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AGENTIC AI CORE
the reasoning engine that powers end to end orchestration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389120"/>
            <a:ext cx="61722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>
                <a:solidFill>
                  <a:srgbClr val="6B7580"/>
                </a:solidFill>
                <a:latin typeface="Calibri"/>
              </a:rPr>
              <a:t>BUILT ON EXISTING MCKINSEY ASSETS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0160" y="4645152"/>
            <a:ext cx="4754880" cy="13716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SourceAI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00200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ContractAI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33472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CleanSheetAI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66744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Procurement Control Tower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00016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Construction Control Tower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33288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Other assets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4032" y="987552"/>
            <a:ext cx="468172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26303A"/>
                </a:solidFill>
                <a:latin typeface="Calibri"/>
              </a:rPr>
              <a:t>WHAT EACH MODULE DOES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14032" y="1243584"/>
            <a:ext cx="4681728" cy="18288"/>
          </a:xfrm>
          <a:prstGeom prst="rect">
            <a:avLst/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14032" y="1371600"/>
            <a:ext cx="292608" cy="292608"/>
          </a:xfrm>
          <a:prstGeom prst="ellipse">
            <a:avLst/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9792" y="1335024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End to End Agentic Orchestration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1536192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Single platform view to manage projects from project brief to end of construction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79792" y="1792224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114032" y="1883664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9792" y="1847088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9792" y="2048256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AI-based unified BoQ catalog creator and data cleaner at spec level, using the client's dirty historical data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79792" y="2304288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114032" y="2395728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9792" y="2359152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Dynamic Bottom Up CAPEX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79792" y="2560320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Item-level cost breakdown structure creator, with live commodity and macro-economic price index integration for forecasting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79792" y="2816352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114032" y="2907792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79792" y="2871216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9792" y="3072384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Automatically collects bids, flags outliers and generates an AI-recommended price range to score each bid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79792" y="3328416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114032" y="3419856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9792" y="3383280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9792" y="3584448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Agentic contract and IPC collection to track cost realization and project progress in real time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479792" y="3840480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4032" y="3931920"/>
            <a:ext cx="292608" cy="292608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9792" y="3895344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AI-Based Value Optimizer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79792" y="4096512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Agentic workflow to predict risks and procurement value optimization opportunities by learning from historical data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79792" y="4352544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14032" y="4480560"/>
            <a:ext cx="468172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26303A"/>
                </a:solidFill>
                <a:latin typeface="Calibri"/>
              </a:rPr>
              <a:t>KEY VALUE PROPOSITIONS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4032" y="4718304"/>
            <a:ext cx="4681728" cy="18288"/>
          </a:xfrm>
          <a:prstGeom prst="rect">
            <a:avLst/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114032" y="4846320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14032" y="4846320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42048" y="4919472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More complete than AI point tools, more AI-native than legacy suites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509760" y="4846320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509760" y="4846320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37776" y="4919472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Easy to use: covering all the fundamentals, without suite complexities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114032" y="5687568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114032" y="5687568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42048" y="5760720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Plug and play: limited data prep or integration need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509760" y="5687568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509760" y="5687568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37776" y="5760720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Modular, and works with other McKinsey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THE PROBLEM WE 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Even the market leaders still run these workflows manually, at </a:t>
            </a:r>
            <a:r>
              <a:rPr sz="2500" b="1">
                <a:solidFill>
                  <a:srgbClr val="0A5F59"/>
                </a:solidFill>
                <a:latin typeface="Calibri"/>
              </a:rPr>
              <a:t>severe and compounding cost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07008"/>
            <a:ext cx="1965960" cy="530352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1207008"/>
            <a:ext cx="6583680" cy="530352"/>
          </a:xfrm>
          <a:prstGeom prst="roundRect">
            <a:avLst>
              <a:gd name="adj" fmla="val 4000"/>
            </a:avLst>
          </a:prstGeom>
          <a:solidFill>
            <a:srgbClr val="3A4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How it is done today
leaders and developing players, with the severity of each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1207008"/>
            <a:ext cx="2706624" cy="530352"/>
          </a:xfrm>
          <a:prstGeom prst="roundRect">
            <a:avLst>
              <a:gd name="adj" fmla="val 4000"/>
            </a:avLst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What Blue Currency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2587752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0" y="2048256"/>
            <a:ext cx="292608" cy="292608"/>
          </a:xfrm>
          <a:prstGeom prst="ellipse">
            <a:avLst/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75104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End to End Agentic 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0592" y="186537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65376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Core ERP with ad hoc point tools and limited integration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883664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0592" y="223113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231136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No end-to-end tracking, only e-mails, Excels and random SharePoints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2249424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865376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One governed agentic layer across every stage, smarter with each project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3374136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7200" y="2834640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761488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0592" y="265176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651760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Unified BoQ exists, but not always at spec level and manually maintained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2670048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0592" y="301752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3017520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Only standardization in WBS, but near-zero at BoQ level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035808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98280" y="2651760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Using the client's own historical data, an AI gatekeeper maintains the structure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4160520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621024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547872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Dynamic Bottom Up CAPEX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50592" y="3438144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438144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Dependent on expensive cost consultants or top-down estimation models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18120" y="3456432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98A2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0592" y="3803904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3803904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Last cost plus inflation, with no accuracy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8120" y="3822192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98280" y="3438144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Item-level bottom-up cost breakdown with live index data integration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4048" y="4946904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07408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4334256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50592" y="4224528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4224528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E-tender solutions are adopted, but with limited AI use in comparison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8120" y="4242816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98A2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50592" y="4590288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83280" y="4590288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Manual consolidation and comparison in random Excels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4608576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098280" y="4224528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Comparison in seconds, with an AI-based price recommendation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4048" y="5733288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57200" y="5193792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120640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50592" y="5010912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83280" y="5010912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PM and ERP solutions used, mostly not integrated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18120" y="5029200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50592" y="5376672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83280" y="5376672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Manual tracking in Excels and e-mails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818120" y="5394960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98280" y="5010912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Predicts future delays from historical realizations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4048" y="6519672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57200" y="5980176"/>
            <a:ext cx="292608" cy="292608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5907024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AI-Based Value Optimizer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50592" y="579729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83280" y="5797296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Expert-led value engineering with limited AI use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18120" y="5815584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50592" y="616305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80" y="6163056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Most value opportunities are not recognized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8120" y="6181344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098280" y="5797296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Not just savings: identifies opportunities and predicts future risks and issues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The market falls into </a:t>
            </a:r>
            <a:r>
              <a:rPr sz="2500" b="1">
                <a:solidFill>
                  <a:srgbClr val="0A5F59"/>
                </a:solidFill>
                <a:latin typeface="Calibri"/>
              </a:rPr>
              <a:t>four archetypes</a:t>
            </a:r>
            <a:r>
              <a:rPr sz="2500" b="1">
                <a:solidFill>
                  <a:srgbClr val="26303A"/>
                </a:solidFill>
                <a:latin typeface="Calibri"/>
              </a:rPr>
              <a:t>, and we sit deliberately between them, not at the far corner</a:t>
            </a:r>
          </a:p>
        </p:txBody>
      </p:sp>
      <p:sp>
        <p:nvSpPr>
          <p:cNvPr id="5" name="TextBox 4"/>
          <p:cNvSpPr txBox="1"/>
          <p:nvPr/>
        </p:nvSpPr>
        <p:spPr>
          <a:xfrm rot="-5400000">
            <a:off x="73152" y="1645920"/>
            <a:ext cx="32918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580"/>
                </a:solidFill>
                <a:latin typeface="Calibri"/>
              </a:rPr>
              <a:t>AI-NATIVE REASONING  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" y="1005840"/>
            <a:ext cx="5440680" cy="2084831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07899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 specialists  </a:t>
            </a:r>
            <a:r>
              <a:rPr sz="1400" b="1">
                <a:solidFill>
                  <a:srgbClr val="6B7580"/>
                </a:solidFill>
                <a:latin typeface="Calibri"/>
              </a:rPr>
              <a:t>AI-native, one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3350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3A454F"/>
                </a:solidFill>
                <a:latin typeface="Calibri"/>
              </a:rPr>
              <a:t>Built on models from day one, excellent at the one step they own.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Kreo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64208" y="16459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Buildots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4912" y="16459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Costify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85616" y="16459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Zebel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16459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ConWize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" y="1975104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Ediphi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64208" y="1975104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Doxel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24912" y="1975104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OpenSpace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85616" y="1975104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ALICE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1975104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nPlan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2377440"/>
            <a:ext cx="51206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Strong in  takeoff, cost classification, tendering, site progress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2615184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Each solves a slice, and </a:t>
            </a:r>
            <a:r>
              <a:rPr sz="1400" b="1">
                <a:solidFill>
                  <a:srgbClr val="C0453B"/>
                </a:solidFill>
                <a:latin typeface="Calibri"/>
              </a:rPr>
              <a:t>nothing carries across a handover.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71616" y="1005840"/>
            <a:ext cx="5440680" cy="2084831"/>
          </a:xfrm>
          <a:prstGeom prst="roundRect">
            <a:avLst>
              <a:gd name="adj" fmla="val 8000"/>
            </a:avLst>
          </a:prstGeom>
          <a:solidFill>
            <a:srgbClr val="EEF8F6"/>
          </a:solidFill>
          <a:ln w="19050">
            <a:solidFill>
              <a:srgbClr val="9CCB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9632" y="107899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Agentic platforms  </a:t>
            </a:r>
            <a:r>
              <a:rPr sz="1400" b="1">
                <a:solidFill>
                  <a:srgbClr val="6B7580"/>
                </a:solidFill>
                <a:latin typeface="Calibri"/>
              </a:rPr>
              <a:t>AI-native, across the lifecycle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9632" y="1371600"/>
            <a:ext cx="51206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3A454F"/>
                </a:solidFill>
                <a:latin typeface="Calibri"/>
              </a:rPr>
              <a:t>One platform that reasons across every stage, from BoQ through to site.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06056" y="1828800"/>
            <a:ext cx="2971800" cy="420624"/>
          </a:xfrm>
          <a:prstGeom prst="roundRect">
            <a:avLst>
              <a:gd name="adj" fmla="val 8000"/>
            </a:avLst>
          </a:prstGeom>
          <a:solidFill>
            <a:srgbClr val="DCE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0A5F59"/>
                </a:solidFill>
                <a:latin typeface="Calibri"/>
              </a:rPr>
              <a:t>NO ONE IS HERE YET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9632" y="24688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Where the market is heading, </a:t>
            </a:r>
            <a:r>
              <a:rPr sz="1400" b="1">
                <a:solidFill>
                  <a:srgbClr val="0A5F59"/>
                </a:solidFill>
                <a:latin typeface="Calibri"/>
              </a:rPr>
              <a:t>and what Blue Currency is built for.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3913632"/>
            <a:ext cx="5440680" cy="2084831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3986784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Point tools  </a:t>
            </a:r>
            <a:r>
              <a:rPr sz="1400" b="1">
                <a:solidFill>
                  <a:srgbClr val="6B7580"/>
                </a:solidFill>
                <a:latin typeface="Calibri"/>
              </a:rPr>
              <a:t>Rules-based, one step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424281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3A454F"/>
                </a:solidFill>
                <a:latin typeface="Calibri"/>
              </a:rPr>
              <a:t>Built around a single task and driven entirely by the operator.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" y="455371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Bluebeam Revu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75688" y="455371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PlanSwift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47872" y="455371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RIB CostX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0056" y="455371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RIB Candy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" y="4882896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Sage Estimating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75688" y="4882896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Causeway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47872" y="4882896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Excel templates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" y="5285232"/>
            <a:ext cx="51206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Strong in  measurement, pricing, drawing markup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" y="5522976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Where most of the market still sits, with </a:t>
            </a:r>
            <a:r>
              <a:rPr sz="1400" b="1">
                <a:solidFill>
                  <a:srgbClr val="C0453B"/>
                </a:solidFill>
                <a:latin typeface="Calibri"/>
              </a:rPr>
              <a:t>no automation and no memory.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3913632"/>
            <a:ext cx="5440680" cy="2084831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99632" y="3986784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Enterprise suites  </a:t>
            </a:r>
            <a:r>
              <a:rPr sz="1400" b="1">
                <a:solidFill>
                  <a:srgbClr val="6B7580"/>
                </a:solidFill>
                <a:latin typeface="Calibri"/>
              </a:rPr>
              <a:t>Rules-based, broad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9632" y="424281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3A454F"/>
                </a:solidFill>
                <a:latin typeface="Calibri"/>
              </a:rPr>
              <a:t>Systems of record spanning stages through modules and configuration.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9632" y="45537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Oracle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70064" y="45537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Procore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40496" y="45537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RIB iTWO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10928" y="45537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Cleopatra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881360" y="45537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SAP Ariba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99632" y="4882896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Autodesk ACC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70064" y="4882896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InEight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40496" y="4882896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Trimble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710928" y="4882896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Jaggaer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9632" y="5285232"/>
            <a:ext cx="51206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Strong in  cost control, scheduling, procurement, documents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99632" y="5522976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Breadth without intelligence: </a:t>
            </a:r>
            <a:r>
              <a:rPr sz="1400" b="1">
                <a:solidFill>
                  <a:srgbClr val="C0453B"/>
                </a:solidFill>
                <a:latin typeface="Calibri"/>
              </a:rPr>
              <a:t>more features, and harder to use.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965960" y="3017520"/>
            <a:ext cx="8183879" cy="804672"/>
          </a:xfrm>
          <a:prstGeom prst="roundRect">
            <a:avLst>
              <a:gd name="adj" fmla="val 50000"/>
            </a:avLst>
          </a:prstGeom>
          <a:solidFill>
            <a:srgbClr val="0E2A3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0">
                <a:solidFill>
                  <a:srgbClr val="26303A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21408" y="3108960"/>
            <a:ext cx="21488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Blue Currency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97680" y="3182112"/>
            <a:ext cx="13716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43984" y="3127248"/>
            <a:ext cx="55321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Deliberately in the middle.  </a:t>
            </a:r>
            <a:r>
              <a:rPr sz="1400" b="0">
                <a:solidFill>
                  <a:srgbClr val="DCEDEA"/>
                </a:solidFill>
                <a:latin typeface="Calibri"/>
              </a:rPr>
              <a:t>Broader than the AI specialists, more AI-native than the enterprise suites.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5488" y="6108192"/>
            <a:ext cx="11064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>
                <a:solidFill>
                  <a:srgbClr val="6B7580"/>
                </a:solidFill>
                <a:latin typeface="Calibri"/>
              </a:rPr>
              <a:t>BREADTH OF LIFECYCLE COVERAGE 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COMPETITIVE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Module by module, legacy suites are feature-heavy and emerging AI tools are </a:t>
            </a:r>
            <a:r>
              <a:rPr sz="2500" b="1">
                <a:solidFill>
                  <a:srgbClr val="0A5F59"/>
                </a:solidFill>
                <a:latin typeface="Calibri"/>
              </a:rPr>
              <a:t>smart but narrow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14400"/>
            <a:ext cx="58521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Badge = how much of the module that group already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950976"/>
            <a:ext cx="237744" cy="128016"/>
          </a:xfrm>
          <a:prstGeom prst="rect">
            <a:avLst/>
          </a:prstGeom>
          <a:solidFill>
            <a:srgbClr val="CFE8D8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93408" y="89611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Covers most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950976"/>
            <a:ext cx="237744" cy="128016"/>
          </a:xfrm>
          <a:prstGeom prst="rect">
            <a:avLst/>
          </a:prstGeom>
          <a:solidFill>
            <a:srgbClr val="F5E3B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0728" y="89611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Partial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950976"/>
            <a:ext cx="237744" cy="128016"/>
          </a:xfrm>
          <a:prstGeom prst="rect">
            <a:avLst/>
          </a:prstGeom>
          <a:solidFill>
            <a:srgbClr val="F0D4C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8048" y="89611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Barely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1170432"/>
            <a:ext cx="2962656" cy="329184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Module and opportunity area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9856" y="1170432"/>
            <a:ext cx="4151376" cy="329184"/>
          </a:xfrm>
          <a:prstGeom prst="roundRect">
            <a:avLst>
              <a:gd name="adj" fmla="val 4000"/>
            </a:avLst>
          </a:prstGeom>
          <a:solidFill>
            <a:srgbClr val="3A4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Legacy players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44383" y="1170432"/>
            <a:ext cx="4142232" cy="329184"/>
          </a:xfrm>
          <a:prstGeom prst="roundRect">
            <a:avLst>
              <a:gd name="adj" fmla="val 4000"/>
            </a:avLst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Emerging AI players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31720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1645920"/>
            <a:ext cx="256032" cy="256032"/>
          </a:xfrm>
          <a:prstGeom prst="ellipse">
            <a:avLst/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627632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End to End Agentic Orchestration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993392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WHITE SPACE  </a:t>
            </a:r>
            <a:r>
              <a:rPr sz="1100" b="0">
                <a:solidFill>
                  <a:srgbClr val="AEB6BC"/>
                </a:solidFill>
                <a:latin typeface="Calibri"/>
              </a:rPr>
              <a:t>high opportunity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2331720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47872" y="1609344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0D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9B3328"/>
                </a:solidFill>
                <a:latin typeface="Calibri"/>
              </a:rPr>
              <a:t>BARELY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1600200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Not agentic either: no automation and no learning across stages.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011680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RIB iTWO   ·   Oracle   ·   InEight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44383" y="2331720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72399" y="1609344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0D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9B3328"/>
                </a:solidFill>
                <a:latin typeface="Calibri"/>
              </a:rPr>
              <a:t>BARELY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5" y="1600200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Each tool owns a single stage; nobody governs the whole lifecycle.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5" y="2011680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Kreo   ·   Buildots   ·   ConWize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172968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57200" y="2487168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2468880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2834640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DC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26303A"/>
                </a:solidFill>
                <a:latin typeface="Calibri"/>
              </a:rPr>
              <a:t>OPEN GAP  </a:t>
            </a:r>
            <a:r>
              <a:rPr sz="1100" b="0">
                <a:solidFill>
                  <a:srgbClr val="6B7580"/>
                </a:solidFill>
                <a:latin typeface="Calibri"/>
              </a:rPr>
              <a:t>medium opportunity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19856" y="3172968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547872" y="2450592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8" y="2441448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Provides structure, but no BoQ catalog creation from scratch out of historical data.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8" y="2852928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Cleopatra   ·   RIB CostX   ·   Trimble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44383" y="3172968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772399" y="2450592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31935" y="2441448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Document to data translation, but limited BoQ hierarchy focus.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31935" y="2852928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Costify   ·   Zebel   ·   ConWize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4014216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3328416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" y="3310128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Dynamic Bottom Up CAPEX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3675888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6B7580"/>
                </a:solidFill>
                <a:latin typeface="Calibri"/>
              </a:rPr>
              <a:t>CROWDED  </a:t>
            </a:r>
            <a:r>
              <a:rPr sz="1100" b="0">
                <a:solidFill>
                  <a:srgbClr val="9AA3AC"/>
                </a:solidFill>
                <a:latin typeface="Calibri"/>
              </a:rPr>
              <a:t>low opportunity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19856" y="4014216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47872" y="3291840"/>
            <a:ext cx="768096" cy="667512"/>
          </a:xfrm>
          <a:prstGeom prst="roundRect">
            <a:avLst>
              <a:gd name="adj" fmla="val 5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3282696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Mature estimating engines; this step is already well served.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07408" y="3694176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RIB CostX   ·   Cleopatra   ·   InEight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44383" y="4014216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772399" y="3291840"/>
            <a:ext cx="768096" cy="667512"/>
          </a:xfrm>
          <a:prstGeom prst="roundRect">
            <a:avLst>
              <a:gd name="adj" fmla="val 5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5" y="3282696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Genuinely strong AI estimating; also well served.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5" y="3694176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Zebel   ·   Kreo   ·   Ediphi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" y="4855464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7200" y="4169664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" y="4151376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4517136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DC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26303A"/>
                </a:solidFill>
                <a:latin typeface="Calibri"/>
              </a:rPr>
              <a:t>OPEN GAP  </a:t>
            </a:r>
            <a:r>
              <a:rPr sz="1100" b="0">
                <a:solidFill>
                  <a:srgbClr val="6B7580"/>
                </a:solidFill>
                <a:latin typeface="Calibri"/>
              </a:rPr>
              <a:t>medium opportunity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19856" y="4855464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547872" y="4133088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07408" y="4123944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Standard templates make it workable; the gap is AI recommendation and spec analysis.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4535424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Cleopatra   ·   SAP Ariba   ·   Jaggaer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644383" y="4855464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772399" y="4133088"/>
            <a:ext cx="768096" cy="667512"/>
          </a:xfrm>
          <a:prstGeom prst="roundRect">
            <a:avLst>
              <a:gd name="adj" fmla="val 5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31935" y="4123944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They cover bid comparison well, so no real gap here.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31935" y="4535424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ConWize   ·   Zebel   ·   Ediphi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" y="5696712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57200" y="5010912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4992624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57200" y="5358384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DC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26303A"/>
                </a:solidFill>
                <a:latin typeface="Calibri"/>
              </a:rPr>
              <a:t>OPEN GAP  </a:t>
            </a:r>
            <a:r>
              <a:rPr sz="1100" b="0">
                <a:solidFill>
                  <a:srgbClr val="6B7580"/>
                </a:solidFill>
                <a:latin typeface="Calibri"/>
              </a:rPr>
              <a:t>medium opportunity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419856" y="5696712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3547872" y="4974336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07408" y="4965192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Systems of record are entrenched, but recording is fully manual.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07408" y="5376672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Procore   ·   Primavera   ·   Autodesk ACC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644383" y="5696712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772399" y="4974336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31935" y="4965192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Physical progress capture only, with no contract or IPC cost tracking.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31935" y="5376672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Buildots   ·   Doxel   ·   OpenSpace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84048" y="6537960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457200" y="5852160"/>
            <a:ext cx="256032" cy="256032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" y="5833872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AI-Based Value Optimizer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57200" y="6199632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WHITE SPACE  </a:t>
            </a:r>
            <a:r>
              <a:rPr sz="1100" b="0">
                <a:solidFill>
                  <a:srgbClr val="AEB6BC"/>
                </a:solidFill>
                <a:latin typeface="Calibri"/>
              </a:rPr>
              <a:t>high opportunity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419856" y="6537960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3547872" y="5815584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0D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9B3328"/>
                </a:solidFill>
                <a:latin typeface="Calibri"/>
              </a:rPr>
              <a:t>BARELY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407408" y="5806440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Static what-if analysis at gates; no continuous savings loop anywhere.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407408" y="6217920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Cleopatra   ·   RIB iTWO   ·   Oracle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644383" y="6537960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772399" y="5815584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31935" y="5806440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Optimization exists for schedule; cost value is left untouched.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31935" y="6217920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ALICE Technologies   ·   nPlan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