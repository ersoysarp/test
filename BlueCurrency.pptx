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1. Introduction. The solution covers the end-to-end real estate development lifecycle with different modules, powered by an agentic AI core. Modules: orchestration, unified BoQ, dynamic CAPEX, tender evaluation, procurement and progress tracking, plus optional Value Optimizer. Modular, easy integration with McK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2. The problem. Severity of the pain is rated High / Medium / Low separately for market leaders and developing players. The 'what it costs them' column was removed; severity carries that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3. Competitive landscape as four archetypes. Axes are AI-native reasoning (up) and breadth of lifecycle coverage (right). Blue Currency sits in the middle of the matrix, not in the top-right corner. Top-right (agentic plus end to end) is empty: no one is there yet. AI specialists: Kreo, Buildots, Costify, Zebel, ConWize, Ediphi, Doxel, OpenSpace, ALICE, nPlan. Point tools: Bluebeam, PlanSwift, RIB CostX, RIB Candy, Sage Estimating, Causeway, Excel. Enterprise suites: Oracle, Procore, RIB iTWO, Cleopatra, SAP Ariba, Autodesk ACC, InEight, Trimble, Jaggaer.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4. Competitive deep dive. Badge colour is the group's coverage of that module, not each vendor.</a:t>
            </a:r>
          </a:p>
          <a:p/>
          <a:p>
            <a:r>
              <a:t>VENDOR EVIDENCE (from the HTML hover notes)</a:t>
            </a:r>
          </a:p>
          <a:p/>
          <a:p>
            <a:r>
              <a:t>End to End Agentic Orchestration</a:t>
            </a:r>
          </a:p>
          <a:p>
            <a:r>
              <a:t>• RIB iTWO: Connects estimating and controls inside one suite. Integration between modules, not an agentic learning model.</a:t>
            </a:r>
          </a:p>
          <a:p>
            <a:r>
              <a:t>• Oracle: Spans schedule, cost and capital planning. Broad, but configured by experts rather than reasoned by agents.</a:t>
            </a:r>
          </a:p>
          <a:p>
            <a:r>
              <a:t>• InEight: Estimating through to field execution in one platform, driven by workflow and rules rather than agents.</a:t>
            </a:r>
          </a:p>
          <a:p>
            <a:r>
              <a:t>• Kreo: Takeoff and estimating only. Nothing carries forward into tendering, procurement or site control.</a:t>
            </a:r>
          </a:p>
          <a:p>
            <a:r>
              <a:t>• Buildots: Site progress only. No link back to the BoQ, the budget or the procurement pipeline.</a:t>
            </a:r>
          </a:p>
          <a:p>
            <a:r>
              <a:t>• ConWize: Tendering only. The model stops once the contract is awarded.</a:t>
            </a:r>
          </a:p>
          <a:p/>
          <a:p>
            <a:r>
              <a:t>AI Generated Unified BoQ</a:t>
            </a:r>
          </a:p>
          <a:p>
            <a:r>
              <a:t>• Cleopatra: Configurable cost-breakdown structures. Mapping items into it stays expert-led.</a:t>
            </a:r>
          </a:p>
          <a:p>
            <a:r>
              <a:t>• RIB CostX: Measured takeoff and BoQs from drawings. No automatic coding of any incoming format.</a:t>
            </a:r>
          </a:p>
          <a:p>
            <a:r>
              <a:t>• Trimble: Maintains cost libraries. Mapping third-party formats remains manual.</a:t>
            </a:r>
          </a:p>
          <a:p>
            <a:r>
              <a:t>• Costify: Turns BoQs into a classified private database. Data, not a live BoQ engine.</a:t>
            </a:r>
          </a:p>
          <a:p>
            <a:r>
              <a:t>• Zebel: Standardizes historical spreadsheets into a cost database, not one unified BoQ.</a:t>
            </a:r>
          </a:p>
          <a:p>
            <a:r>
              <a:t>• ConWize: Imports and manages BoQs for tendering, limited automatic standardization.</a:t>
            </a:r>
          </a:p>
          <a:p/>
          <a:p>
            <a:r>
              <a:t>Dynamic Bottom Up CAPEX</a:t>
            </a:r>
          </a:p>
          <a:p>
            <a:r>
              <a:t>• RIB CostX: Bottom-up estimating from measured quantities, using maintained rates rather than live market drivers.</a:t>
            </a:r>
          </a:p>
          <a:p>
            <a:r>
              <a:t>• Cleopatra: Estimating and benchmarking driven by rules and cost libraries.</a:t>
            </a:r>
          </a:p>
          <a:p>
            <a:r>
              <a:t>• InEight: Cost estimating and project controls. Capable engine, still planner-driven.</a:t>
            </a:r>
          </a:p>
          <a:p>
            <a:r>
              <a:t>• Zebel: Conceptual estimates from a firm's own history. Preconstruction focus.</a:t>
            </a:r>
          </a:p>
          <a:p>
            <a:r>
              <a:t>• Kreo: AI takeoff from drawings through to quantities and estimates. One step, done well.</a:t>
            </a:r>
          </a:p>
          <a:p>
            <a:r>
              <a:t>• Ediphi: Preconstruction estimating and early bid leveling, not live bottom-up CAPEX.</a:t>
            </a:r>
          </a:p>
          <a:p/>
          <a:p>
            <a:r>
              <a:t>Smart Tender Bid Evaluation</a:t>
            </a:r>
          </a:p>
          <a:p>
            <a:r>
              <a:t>• Cleopatra: Standardized bid comparison once data is already structured. Setup is expert-heavy.</a:t>
            </a:r>
          </a:p>
          <a:p>
            <a:r>
              <a:t>• SAP Ariba: Sourcing and bid workflow. Generic, not construction-BoQ native.</a:t>
            </a:r>
          </a:p>
          <a:p>
            <a:r>
              <a:t>• Jaggaer: Generic sourcing and scoring. Not built to normalize construction BoQs line by line.</a:t>
            </a:r>
          </a:p>
          <a:p>
            <a:r>
              <a:t>• ConWize: Line-by-line BoQ bid comparison that flags anomalies. Strong at tendering only.</a:t>
            </a:r>
          </a:p>
          <a:p>
            <a:r>
              <a:t>• Zebel: Bid leveling against historical unit prices. A preconstruction worksheet.</a:t>
            </a:r>
          </a:p>
          <a:p>
            <a:r>
              <a:t>• Ediphi: Early-stage bid leveling, not full tender evaluation through to award.</a:t>
            </a:r>
          </a:p>
          <a:p/>
          <a:p>
            <a:r>
              <a:t>Procurement and Progress Tracking</a:t>
            </a:r>
          </a:p>
          <a:p>
            <a:r>
              <a:t>• Procore: Project and field management. Manual site reporting still feeds it.</a:t>
            </a:r>
          </a:p>
          <a:p>
            <a:r>
              <a:t>• Oracle Primavera: Schedule and earned-value controls. Strong on plan, weak as a quantity gatekeeper.</a:t>
            </a:r>
          </a:p>
          <a:p>
            <a:r>
              <a:t>• Autodesk ACC: Construction cloud for models, issues and field data. Coordination, not agentic cost control.</a:t>
            </a:r>
          </a:p>
          <a:p>
            <a:r>
              <a:t>• Buildots: AI compares site captures against BIM and schedule. Best-in-class for that step alone.</a:t>
            </a:r>
          </a:p>
          <a:p>
            <a:r>
              <a:t>• Doxel: Reality capture versus plan. Progress evidence, not procurement control.</a:t>
            </a:r>
          </a:p>
          <a:p>
            <a:r>
              <a:t>• OpenSpace: 360 capture and visual progress documentation. No agentic check on quantities.</a:t>
            </a:r>
          </a:p>
          <a:p/>
          <a:p>
            <a:r>
              <a:t>Value Optimizer</a:t>
            </a:r>
          </a:p>
          <a:p>
            <a:r>
              <a:t>• Cleopatra: Static what-if analysis on an estimate. Not a continuous savings loop.</a:t>
            </a:r>
          </a:p>
          <a:p>
            <a:r>
              <a:t>• RIB iTWO: Scenario comparison inside the estimate. No always-on value-engineering loop.</a:t>
            </a:r>
          </a:p>
          <a:p>
            <a:r>
              <a:t>• Oracle: Capital planning and portfolio what-ifs, run by analysts at decision points.</a:t>
            </a:r>
          </a:p>
          <a:p>
            <a:r>
              <a:t>• ALICE Technologies: Schedule optioneering. Time, not a cost-value loop.</a:t>
            </a:r>
          </a:p>
          <a:p>
            <a:r>
              <a:t>• nPlan: AI schedule-risk forecasting from past programmes. Time risk, not continuous cost value.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AGENTIC AI FOR REAL ESTATE DEVELOPMENT AND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solution covers the end-to-end real estate development lifecycle with different modules, </a:t>
            </a:r>
            <a:r>
              <a:rPr sz="2500" b="1">
                <a:solidFill>
                  <a:srgbClr val="0A5F59"/>
                </a:solidFill>
                <a:latin typeface="Calibri"/>
              </a:rPr>
              <a:t>powered by an agentic AI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6537960" cy="5596128"/>
          </a:xfrm>
          <a:prstGeom prst="roundRect">
            <a:avLst>
              <a:gd name="adj" fmla="val 8000"/>
            </a:avLst>
          </a:prstGeom>
          <a:solidFill>
            <a:srgbClr val="F3FA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115568"/>
            <a:ext cx="6172200" cy="530352"/>
          </a:xfrm>
          <a:prstGeom prst="roundRect">
            <a:avLst>
              <a:gd name="adj" fmla="val 12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   End to End Agentic Orchestration for Construction Lifecycle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140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176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Dynamic Bottom Up CAPEX Estimation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0624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17520"/>
            <a:ext cx="6172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9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3090672"/>
            <a:ext cx="310896" cy="310896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90672"/>
            <a:ext cx="26517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1">
                <a:solidFill>
                  <a:srgbClr val="B97D1E"/>
                </a:solidFill>
                <a:latin typeface="Calibri"/>
              </a:rPr>
              <a:t>AI-Based Value Optimizer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21024"/>
            <a:ext cx="6172200" cy="658368"/>
          </a:xfrm>
          <a:prstGeom prst="roundRect">
            <a:avLst>
              <a:gd name="adj" fmla="val 10000"/>
            </a:avLst>
          </a:prstGeom>
          <a:solidFill>
            <a:srgbClr val="0E2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AGENTIC AI CORE
the reasoning engine that powers end to end 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89120"/>
            <a:ext cx="6172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MODULAR, EASY INTEGRATION WITH MCK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4645152"/>
            <a:ext cx="4754880" cy="13716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SourceAI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ContractAI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CleanSheetAI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Procurement Control Tower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0016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Construction Control Tower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3328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Other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987552"/>
            <a:ext cx="46817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WHAT EACH MODULE DOES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4032" y="124358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33502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153619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Single platform view to manage projects from project brief to end of construction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179222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14032" y="188366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1847088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048256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AI-based unified BoQ catalog creator and data cleaner at spec level, using the client's dirty historical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9792" y="2304288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14032" y="239572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359152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9792" y="2560320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Item-level cost breakdown structure creator, with live commodity and macro-economic price index integration for forecasting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2816352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14032" y="2907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2871216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9792" y="3072384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Automatically collects bids, flags outliers and generates an AI-recommended price range to score each bid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79792" y="3328416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4032" y="3419856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383280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3584448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contract and IPC collection to track cost realization and project progress in real time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840480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4032" y="3931920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89534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409651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workflow to predict risks and procurement value optimization opportunities by learning from historical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79792" y="435254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14032" y="4480560"/>
            <a:ext cx="468172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KEY VALUE PROPOSITIONS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4032" y="471830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114032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4032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42048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More complete than AI point tools, more AI-native than legacy suites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09760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7776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Easy to use: covering all the fundamentals, without suite complexities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14032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14032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2048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Plug and play: limited data prep or integration need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60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7776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Modular, and works with other McKinsey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Even the market leaders still run these workflows manually, at </a:t>
            </a:r>
            <a:r>
              <a:rPr sz="2500" b="1">
                <a:solidFill>
                  <a:srgbClr val="0A5F59"/>
                </a:solidFill>
                <a:latin typeface="Calibri"/>
              </a:rPr>
              <a:t>severe and compounding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07008"/>
            <a:ext cx="1965960" cy="530352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207008"/>
            <a:ext cx="6583680" cy="530352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How it is done today
leaders and developing players, with the severity of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207008"/>
            <a:ext cx="2706624" cy="530352"/>
          </a:xfrm>
          <a:prstGeom prst="roundRect">
            <a:avLst>
              <a:gd name="adj" fmla="val 4000"/>
            </a:avLst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 Blue Currency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258775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2048256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86537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6537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Core ERP with ad hoc point tools and limited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8366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3113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23113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No end-to-end tracking, only e-mails, Excels and random SharePoints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24942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86537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One governed agentic layer across every stage, smarter with each project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374136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61488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65176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65176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Unified BoQ exists, but not always at spec level and manually maintained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67004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3017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1752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Only standardization in WBS, but near-zero at BoQ 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03580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2651760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Using the client's own historical data, an AI gatekeeper maintains the structure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160520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62102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547872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0592" y="343814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43814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Dependent on expensive cost consultants or top-down estimation models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345643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2" y="380390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80390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Last cost plus inflation, with no accuracy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382219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3438144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Item-level bottom-up cost breakdown with live index data integration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4946904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0740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334256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2" y="422452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22452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E-tender solutions are adopted, but with limited AI use in comparison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24281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0592" y="459028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59028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consolidation and comparison in random Excels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460857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98280" y="4224528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Comparison in seconds, with an AI-based price recommendation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5733288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7200" y="5193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120640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0592" y="501091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501091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PM and ERP solutions used, mostly not integrated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8120" y="502920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50592" y="537667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537667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tracking in Excels and e-mails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8120" y="539496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98280" y="5010912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Predicts future delays from historical realizations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651967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7200" y="5980176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90702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2" y="579729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3280" y="579729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Expert-led value engineering with limited AI use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18120" y="581558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592" y="616305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616305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Most value opportunities are not recognized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8120" y="618134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579729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Not just savings: identifies opportunities and predicts future risks and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market falls into </a:t>
            </a:r>
            <a:r>
              <a:rPr sz="2500" b="1">
                <a:solidFill>
                  <a:srgbClr val="0A5F59"/>
                </a:solidFill>
                <a:latin typeface="Calibri"/>
              </a:rPr>
              <a:t>four archetypes</a:t>
            </a:r>
            <a:r>
              <a:rPr sz="2500" b="1">
                <a:solidFill>
                  <a:srgbClr val="26303A"/>
                </a:solidFill>
                <a:latin typeface="Calibri"/>
              </a:rPr>
              <a:t>, and we sit deliberately between them</a:t>
            </a:r>
          </a:p>
        </p:txBody>
      </p:sp>
      <p:sp>
        <p:nvSpPr>
          <p:cNvPr id="5" name="TextBox 4"/>
          <p:cNvSpPr txBox="1"/>
          <p:nvPr/>
        </p:nvSpPr>
        <p:spPr>
          <a:xfrm rot="-5400000">
            <a:off x="73152" y="1645920"/>
            <a:ext cx="32918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580"/>
                </a:solidFill>
                <a:latin typeface="Calibri"/>
              </a:rPr>
              <a:t>AI-NATIVE REASONING  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specialists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one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Kreo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Buildots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06624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Costify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0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Zebel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ConWize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Ediphi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Doxel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OpenSpace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ALICE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1456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nPlan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615183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Sharp on the one step they own, </a:t>
            </a:r>
            <a:r>
              <a:rPr sz="1400" b="1">
                <a:solidFill>
                  <a:srgbClr val="C0453B"/>
                </a:solidFill>
                <a:latin typeface="Calibri"/>
              </a:rPr>
              <a:t>nothing carries across a handover.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71616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4FAF9"/>
          </a:solidFill>
          <a:ln w="15875">
            <a:solidFill>
              <a:srgbClr val="9CCB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Agentic platforms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across the lifecycle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99616"/>
            <a:ext cx="5148072" cy="1005840"/>
          </a:xfrm>
          <a:prstGeom prst="roundRect">
            <a:avLst>
              <a:gd name="adj" fmla="val 4000"/>
            </a:avLst>
          </a:prstGeom>
          <a:solidFill>
            <a:srgbClr val="DC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A5F59"/>
                </a:solidFill>
                <a:latin typeface="Calibri"/>
              </a:rPr>
              <a:t>NO ONE IS HERE YET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15183"/>
            <a:ext cx="5148072" cy="9144"/>
          </a:xfrm>
          <a:prstGeom prst="rect">
            <a:avLst/>
          </a:prstGeom>
          <a:solidFill>
            <a:srgbClr val="9CC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Where the market is heading, </a:t>
            </a:r>
            <a:r>
              <a:rPr sz="1400" b="1">
                <a:solidFill>
                  <a:srgbClr val="0A5F59"/>
                </a:solidFill>
                <a:latin typeface="Calibri"/>
              </a:rPr>
              <a:t>and what Blue Currency is built for.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Point tools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one step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Bluebeam Revu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PlanSwift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CostX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17136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Candy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Sage Estimating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20240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Causeway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18688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Excel templates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Most of the market still sits here, </a:t>
            </a:r>
            <a:r>
              <a:rPr sz="1400" b="1">
                <a:solidFill>
                  <a:srgbClr val="C0453B"/>
                </a:solidFill>
                <a:latin typeface="Calibri"/>
              </a:rPr>
              <a:t>no automation and no memory.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1616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Enterprise suites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broad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Oracle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34656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Procore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392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iTWO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68128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Cleopatra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SAP Ariba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34656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Autodesk ACC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51392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InEight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8128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Trimble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5084064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Jaggaer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Broad but rules-based, </a:t>
            </a:r>
            <a:r>
              <a:rPr sz="1400" b="1">
                <a:solidFill>
                  <a:srgbClr val="C0453B"/>
                </a:solidFill>
                <a:latin typeface="Calibri"/>
              </a:rPr>
              <a:t>more features and harder to use.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48840" y="3154680"/>
            <a:ext cx="7818120" cy="694944"/>
          </a:xfrm>
          <a:prstGeom prst="roundRect">
            <a:avLst>
              <a:gd name="adj" fmla="val 50000"/>
            </a:avLst>
          </a:prstGeom>
          <a:solidFill>
            <a:srgbClr val="0A5F59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3209544"/>
            <a:ext cx="740664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Blue Currency   </a:t>
            </a:r>
            <a:r>
              <a:rPr sz="1400" b="0">
                <a:solidFill>
                  <a:srgbClr val="DCEDEA"/>
                </a:solidFill>
                <a:latin typeface="Calibri"/>
              </a:rPr>
              <a:t>broader than the AI specialists, more AI-native than the enterprise suites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6108192"/>
            <a:ext cx="11064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BREADTH OF LIFECYCLE COVERAGE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Module by module, legacy suites are feature-heavy and emerging AI tools are </a:t>
            </a:r>
            <a:r>
              <a:rPr sz="2500" b="1">
                <a:solidFill>
                  <a:srgbClr val="0A5F59"/>
                </a:solidFill>
                <a:latin typeface="Calibri"/>
              </a:rPr>
              <a:t>smart but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58521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Badge = how much of the module that group already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950976"/>
            <a:ext cx="237744" cy="128016"/>
          </a:xfrm>
          <a:prstGeom prst="rect">
            <a:avLst/>
          </a:prstGeom>
          <a:solidFill>
            <a:srgbClr val="CFE8D8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9340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Covers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50976"/>
            <a:ext cx="237744" cy="128016"/>
          </a:xfrm>
          <a:prstGeom prst="rect">
            <a:avLst/>
          </a:prstGeom>
          <a:solidFill>
            <a:srgbClr val="F5E3B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950976"/>
            <a:ext cx="237744" cy="128016"/>
          </a:xfrm>
          <a:prstGeom prst="rect">
            <a:avLst/>
          </a:prstGeom>
          <a:solidFill>
            <a:srgbClr val="F0D4C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Barely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170432"/>
            <a:ext cx="2962656" cy="329184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 and opportunity area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1170432"/>
            <a:ext cx="4151376" cy="329184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Legacy players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44383" y="1170432"/>
            <a:ext cx="4142232" cy="329184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Emerging AI players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3172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645920"/>
            <a:ext cx="256032" cy="256032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62763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9339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233172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47872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160020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Not agentic either: no automation and no learning across stages.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1168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iTWO   ·   Oracle   ·   InEight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44383" y="233172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399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5" y="160020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tool owns a single stage; nobody governs the whole lifecycle.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5" y="201168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Kreo   ·   Buildots   ·   ConWize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172968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7200" y="2487168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468880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834640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9856" y="3172968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47872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2441448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Provides structure, but no BoQ catalog creation from scratch out of historical data.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2852928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CostX   ·   Trimble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44383" y="3172968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399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5" y="2441448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Document to data translation, but limited BoQ hierarchy focus.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1935" y="2852928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Costify   ·   Zebel   ·   ConWize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14216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3328416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310128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675888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6B758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low opportunity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19856" y="4014216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47872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282696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Mature estimating engines; this step is already well 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3694176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CostX   ·   Cleopatra   ·   InEight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44383" y="4014216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772399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5" y="328269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Genuinely strong AI estimating; also well served.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5" y="3694176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Zebel   ·   Kreo   ·   Ediphi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855464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4169664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151376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517136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19856" y="4855464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547872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07408" y="4123944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Standard templates make it workable; the gap is AI recommendation and spec analysis.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535424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SAP Ariba   ·   Jaggaer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44383" y="4855464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772399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1935" y="4123944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They cover bid comparison well, so no real gap here.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1935" y="4535424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ConWize   ·   Zebel   ·   Ediphi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" y="5696712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" y="5010912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4992624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358384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19856" y="5696712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547872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07408" y="4965192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Systems of record are entrenched, but recording is fully manual.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07408" y="5376672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Procore   ·   Primavera   ·   Autodesk ACC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44383" y="5696712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72399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31935" y="4965192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Physical progress capture only, with no contract or IPC cost tracking.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1935" y="5376672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Buildots   ·   Doxel   ·   OpenSpace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653796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57200" y="5852160"/>
            <a:ext cx="256032" cy="256032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83387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619963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19856" y="653796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3547872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07408" y="580644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Static what-if analysis at gates; no continuous savings loop anywhere.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7408" y="621792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iTWO   ·   Oracle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44383" y="653796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772399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31935" y="580644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Optimization exists for schedule; cost value is left untouched.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1935" y="621792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ALICE Technologies   ·   nPlan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