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 — Introduction. Blue Currency is the first agentic AI platform that runs the entire construction lifecycle, end to end. Modules: orchestration, unified BoQ, dynamic CAPEX, tender evaluation, procurement and progress tracking, plus optional Value Optimizer. Built on existing McKinsey assets.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2 - The problem. Severity of the pain is rated High / Medium / Low separately for market leaders and developing players. The 'what it costs them' column was removed; severity carries that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 — Competitive landscape as four archetypes. Axes: AI-native reasoning (up) and breadth of lifecycle coverage (right). Blue Currency sits in the middle of the matrix, not in the top-right corner. Top-right (agentic + end to end) is empty — no one is there yet. AI specialists: Kreo, Buildots, Costify, Zebel, ConWize, Ediphi, Doxel, OpenSpace, ALICE, nPlan. Point tools: Bluebeam, PlanSwift, RIB CostX, RIB Candy, Sage Estimating, Causeway, Excel. Enterprise suites: Oracle, Procore, RIB iTWO, Cleopatra, SAP Ariba, Autodesk ACC, InEight, Trimble, Jaggaer.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 — Competitive deep dive. Box colour is the group's coverage of that module, not each vendor.</a:t>
            </a:r>
          </a:p>
          <a:p/>
          <a:p>
            <a:r>
              <a:t>VENDOR EVIDENCE (from the HTML hover notes)</a:t>
            </a:r>
          </a:p>
          <a:p/>
          <a:p>
            <a:r>
              <a:t>End to End Agentic Orchestration</a:t>
            </a:r>
          </a:p>
          <a:p>
            <a:r>
              <a:t>• RIB iTWO — Connects estimating and controls inside one suite. Integration between modules, not an agentic learning model.</a:t>
            </a:r>
          </a:p>
          <a:p>
            <a:r>
              <a:t>• Oracle — Spans schedule, cost and capital planning. Broad, but configured by experts rather than reasoned by agents.</a:t>
            </a:r>
          </a:p>
          <a:p>
            <a:r>
              <a:t>• InEight — Estimating through to field execution in one platform, driven by workflow and rules rather than agents.</a:t>
            </a:r>
          </a:p>
          <a:p>
            <a:r>
              <a:t>• Kreo — Takeoff and estimating only. Nothing carries forward into tendering, procurement or site control.</a:t>
            </a:r>
          </a:p>
          <a:p>
            <a:r>
              <a:t>• Buildots — Site progress only. No link back to the BoQ, the budget or the procurement pipeline.</a:t>
            </a:r>
          </a:p>
          <a:p>
            <a:r>
              <a:t>• ConWize — Tendering only. The model stops once the contract is awarded.</a:t>
            </a:r>
          </a:p>
          <a:p/>
          <a:p>
            <a:r>
              <a:t>AI Generated Unified BoQ</a:t>
            </a:r>
          </a:p>
          <a:p>
            <a:r>
              <a:t>• Cleopatra — Configurable cost-breakdown structures. Mapping items into it stays expert-led.</a:t>
            </a:r>
          </a:p>
          <a:p>
            <a:r>
              <a:t>• RIB CostX — Measured takeoff and BoQs from drawings. No automatic coding of any incoming format.</a:t>
            </a:r>
          </a:p>
          <a:p>
            <a:r>
              <a:t>• Trimble — Maintains cost libraries. Mapping third-party formats remains manual.</a:t>
            </a:r>
          </a:p>
          <a:p>
            <a:r>
              <a:t>• Costify — Turns BoQs into a classified private database. Data, not a live BoQ engine.</a:t>
            </a:r>
          </a:p>
          <a:p>
            <a:r>
              <a:t>• Zebel — Standardizes historical spreadsheets into a cost database, not one unified BoQ.</a:t>
            </a:r>
          </a:p>
          <a:p>
            <a:r>
              <a:t>• ConWize — Imports and manages BoQs for tendering, limited automatic standardization.</a:t>
            </a:r>
          </a:p>
          <a:p/>
          <a:p>
            <a:r>
              <a:t>Dynamic Bottom Up CAPEX</a:t>
            </a:r>
          </a:p>
          <a:p>
            <a:r>
              <a:t>• RIB CostX — Bottom-up estimating from measured quantities, using maintained rates rather than live market drivers.</a:t>
            </a:r>
          </a:p>
          <a:p>
            <a:r>
              <a:t>• Cleopatra — Estimating and benchmarking driven by rules and cost libraries.</a:t>
            </a:r>
          </a:p>
          <a:p>
            <a:r>
              <a:t>• InEight — Cost estimating and project controls. Capable engine, still planner-driven.</a:t>
            </a:r>
          </a:p>
          <a:p>
            <a:r>
              <a:t>• Zebel — Conceptual estimates from a firm's own history. Preconstruction focus.</a:t>
            </a:r>
          </a:p>
          <a:p>
            <a:r>
              <a:t>• Kreo — AI takeoff from drawings through to quantities and estimates. One step, done well.</a:t>
            </a:r>
          </a:p>
          <a:p>
            <a:r>
              <a:t>• Ediphi — Preconstruction estimating and early bid leveling, not live bottom-up CAPEX.</a:t>
            </a:r>
          </a:p>
          <a:p/>
          <a:p>
            <a:r>
              <a:t>Smart Tender Bid Evaluation</a:t>
            </a:r>
          </a:p>
          <a:p>
            <a:r>
              <a:t>• Cleopatra — Standardized bid comparison once data is already structured. Setup is expert-heavy.</a:t>
            </a:r>
          </a:p>
          <a:p>
            <a:r>
              <a:t>• SAP Ariba — Sourcing and bid workflow. Generic, not construction-BoQ native.</a:t>
            </a:r>
          </a:p>
          <a:p>
            <a:r>
              <a:t>• Jaggaer — Generic sourcing and scoring. Not built to normalize construction BoQs line by line.</a:t>
            </a:r>
          </a:p>
          <a:p>
            <a:r>
              <a:t>• ConWize — Line-by-line BoQ bid comparison that flags anomalies. Strong at tendering only.</a:t>
            </a:r>
          </a:p>
          <a:p>
            <a:r>
              <a:t>• Zebel — Bid leveling against historical unit prices. A preconstruction worksheet.</a:t>
            </a:r>
          </a:p>
          <a:p>
            <a:r>
              <a:t>• Ediphi — Early-stage bid leveling, not full tender evaluation through to award.</a:t>
            </a:r>
          </a:p>
          <a:p/>
          <a:p>
            <a:r>
              <a:t>Procurement and Progress Tracking</a:t>
            </a:r>
          </a:p>
          <a:p>
            <a:r>
              <a:t>• Procore — Project and field management. Manual site reporting still feeds it.</a:t>
            </a:r>
          </a:p>
          <a:p>
            <a:r>
              <a:t>• Oracle Primavera — Schedule and earned-value controls. Strong on plan, weak as a quantity gatekeeper.</a:t>
            </a:r>
          </a:p>
          <a:p>
            <a:r>
              <a:t>• Autodesk ACC — Construction cloud for models, issues and field data. Coordination, not agentic cost control.</a:t>
            </a:r>
          </a:p>
          <a:p>
            <a:r>
              <a:t>• Buildots — AI compares site captures against BIM and schedule. Best-in-class for that step alone.</a:t>
            </a:r>
          </a:p>
          <a:p>
            <a:r>
              <a:t>• Doxel — Reality capture versus plan. Progress evidence, not procurement control.</a:t>
            </a:r>
          </a:p>
          <a:p>
            <a:r>
              <a:t>• OpenSpace — 360 capture and visual progress documentation. No agentic check on quantities.</a:t>
            </a:r>
          </a:p>
          <a:p/>
          <a:p>
            <a:r>
              <a:t>Value Optimizer</a:t>
            </a:r>
          </a:p>
          <a:p>
            <a:r>
              <a:t>• Cleopatra — Static what-if analysis on an estimate. Not a continuous savings loop.</a:t>
            </a:r>
          </a:p>
          <a:p>
            <a:r>
              <a:t>• RIB iTWO — Scenario comparison inside the estimate. No always-on value-engineering loop.</a:t>
            </a:r>
          </a:p>
          <a:p>
            <a:r>
              <a:t>• Oracle — Capital planning and portfolio what-ifs, run by analysts at decision points.</a:t>
            </a:r>
          </a:p>
          <a:p>
            <a:r>
              <a:t>• ALICE Technologies — Schedule optioneering. Time, not a cost-value loop.</a:t>
            </a:r>
          </a:p>
          <a:p>
            <a:r>
              <a:t>• nPlan — AI schedule-risk forecasting from past programmes. Time risk, not continuous cost value.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AGENTIC AI FOR REAL ESTATE DEVELOPMENT AND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Blue Currency is the </a:t>
            </a:r>
            <a:r>
              <a:rPr sz="2500" b="1">
                <a:solidFill>
                  <a:srgbClr val="0A5F59"/>
                </a:solidFill>
                <a:latin typeface="Calibri"/>
              </a:rPr>
              <a:t>first agentic AI platform</a:t>
            </a:r>
            <a:r>
              <a:rPr sz="2500" b="1">
                <a:solidFill>
                  <a:srgbClr val="26303A"/>
                </a:solidFill>
                <a:latin typeface="Calibri"/>
              </a:rPr>
              <a:t> that runs the entire construction lifecycle,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987552"/>
            <a:ext cx="6537960" cy="5596128"/>
          </a:xfrm>
          <a:prstGeom prst="roundRect">
            <a:avLst>
              <a:gd name="adj" fmla="val 8000"/>
            </a:avLst>
          </a:prstGeom>
          <a:solidFill>
            <a:srgbClr val="F3FA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115568"/>
            <a:ext cx="6172200" cy="530352"/>
          </a:xfrm>
          <a:prstGeom prst="roundRect">
            <a:avLst>
              <a:gd name="adj" fmla="val 12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     End to End Agentic Orchestration for Construction Lifecycle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728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2140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5176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7627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Dynamic Bottom Up CAPEX Estimation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7588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0624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30368" y="1792224"/>
            <a:ext cx="1444752" cy="1078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60720" y="1883664"/>
            <a:ext cx="347472" cy="34747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2267712"/>
            <a:ext cx="1335024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017520"/>
            <a:ext cx="6172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97D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3090672"/>
            <a:ext cx="310896" cy="310896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090672"/>
            <a:ext cx="2651760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1">
                <a:solidFill>
                  <a:srgbClr val="B97D1E"/>
                </a:solidFill>
                <a:latin typeface="Calibri"/>
              </a:rPr>
              <a:t>AI-Based Value Optimizer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21024"/>
            <a:ext cx="6172200" cy="658368"/>
          </a:xfrm>
          <a:prstGeom prst="roundRect">
            <a:avLst>
              <a:gd name="adj" fmla="val 10000"/>
            </a:avLst>
          </a:prstGeom>
          <a:solidFill>
            <a:srgbClr val="0E2A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AGENTIC AI CORE
the reasoning engine that powers end to end orchestration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389120"/>
            <a:ext cx="61722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BUILT ON EXISTING MCKINSEY ASSETS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4645152"/>
            <a:ext cx="4754880" cy="13716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SourceAI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0200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ContractAI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33472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CleanSheetAI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66744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Procurement Control Tower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0016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Construction Control Tower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33288" y="4828032"/>
            <a:ext cx="960120" cy="6217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5F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0A5F59"/>
                </a:solidFill>
                <a:latin typeface="Calibri"/>
              </a:rPr>
              <a:t>Other assets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987552"/>
            <a:ext cx="468172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WHAT EACH MODULE DOES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4032" y="124358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14032" y="1371600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9792" y="133502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79792" y="153619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Single platform view to manage projects from project brief to end of construction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9792" y="179222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114032" y="188366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1847088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9792" y="2048256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AI-based unified BoQ catalog creator and data cleaner at spec level, using the client's dirty historical data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79792" y="2304288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14032" y="239572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359152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79792" y="2560320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Item-level cost breakdown structure creator, with live commodity and macro-economic price index integration for forecasting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79792" y="2816352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114032" y="2907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2871216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9792" y="3072384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Automatically collects bids, flags outliers and generates an AI-recommended price range to score each bid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479792" y="3328416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114032" y="3419856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383280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9792" y="3584448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contract and IPC collection to track cost realization and project progress in real time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479792" y="3840480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14032" y="3931920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895344"/>
            <a:ext cx="4315968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79792" y="4096512"/>
            <a:ext cx="43159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Agentic workflow to predict risks and procurement value optimization opportunities by learning from historical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79792" y="4352544"/>
            <a:ext cx="4315968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114032" y="4480560"/>
            <a:ext cx="468172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26303A"/>
                </a:solidFill>
                <a:latin typeface="Calibri"/>
              </a:rPr>
              <a:t>KEY VALUE PROPOSITIONS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4032" y="4718304"/>
            <a:ext cx="4681728" cy="18288"/>
          </a:xfrm>
          <a:prstGeom prst="rect">
            <a:avLst/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114032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4032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42048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More complete than AI point tools, more AI-native than legacy suites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60" y="4846320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509760" y="4846320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37776" y="4919472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Easy to use — covering all the fundamentals, without suite complexities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114032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14032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42048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Plug and play: limited data prep or integration need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509760" y="5687568"/>
            <a:ext cx="2267712" cy="749808"/>
          </a:xfrm>
          <a:prstGeom prst="roundRect">
            <a:avLst>
              <a:gd name="adj" fmla="val 8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509760" y="5687568"/>
            <a:ext cx="64008" cy="749808"/>
          </a:xfrm>
          <a:prstGeom prst="rect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37776" y="5760720"/>
            <a:ext cx="206654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Modular, and works with other McKinsey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THE PROBLEM WE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Even the market leaders still run these workflows manually — at </a:t>
            </a:r>
            <a:r>
              <a:rPr sz="2500" b="1">
                <a:solidFill>
                  <a:srgbClr val="0A5F59"/>
                </a:solidFill>
                <a:latin typeface="Calibri"/>
              </a:rPr>
              <a:t>severe and compounding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row carries its own severity of 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49039" y="969264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59935" y="914400"/>
            <a:ext cx="8686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A454F"/>
                </a:solidFill>
                <a:latin typeface="Calibri"/>
              </a:rPr>
              <a:t>High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79" y="969264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5" y="914400"/>
            <a:ext cx="8686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A454F"/>
                </a:solidFill>
                <a:latin typeface="Calibri"/>
              </a:rPr>
              <a:t>Medium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969264"/>
            <a:ext cx="256032" cy="109728"/>
          </a:xfrm>
          <a:prstGeom prst="roundRect">
            <a:avLst>
              <a:gd name="adj" fmla="val 50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5" y="914400"/>
            <a:ext cx="8686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3A454F"/>
                </a:solidFill>
                <a:latin typeface="Calibri"/>
              </a:rPr>
              <a:t>Low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207008"/>
            <a:ext cx="1965960" cy="530352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23160" y="1207008"/>
            <a:ext cx="6583680" cy="530352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How it is done today
leaders and developing players, with the severity of each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280" y="1207008"/>
            <a:ext cx="2706624" cy="530352"/>
          </a:xfrm>
          <a:prstGeom prst="roundRect">
            <a:avLst>
              <a:gd name="adj" fmla="val 4000"/>
            </a:avLst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What Blue Currency does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58775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2048256"/>
            <a:ext cx="292608" cy="292608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97510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50592" y="186537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1865376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Core ERP with ad hoc point tools and limited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1865376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96641A"/>
                </a:solidFill>
                <a:latin typeface="Calibri"/>
              </a:rPr>
              <a:t>MEDIUM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1938528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973568" y="1938528"/>
            <a:ext cx="566928" cy="128016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223113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231136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No end-to-end tracking, only e-mails, Excels and random SharePoints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2231136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A8392C"/>
                </a:solidFill>
                <a:latin typeface="Calibri"/>
              </a:rPr>
              <a:t>HIGH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2304288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73568" y="2304288"/>
            <a:ext cx="841248" cy="128016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98280" y="186537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One governed agentic layer across every stage, smarter with each project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374136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200" y="2834640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61488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50592" y="265176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2651760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Unified BoQ exists, but not always at spec level and manually maintained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651760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A8392C"/>
                </a:solidFill>
                <a:latin typeface="Calibri"/>
              </a:rPr>
              <a:t>HIGH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73568" y="2724912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973568" y="2724912"/>
            <a:ext cx="841248" cy="128016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50592" y="3017520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3017520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Only standardization in WBS, but near-zero at BoQ level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3017520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A8392C"/>
                </a:solidFill>
                <a:latin typeface="Calibri"/>
              </a:rPr>
              <a:t>HIGH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73568" y="3090672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973568" y="3090672"/>
            <a:ext cx="841248" cy="128016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098280" y="2651760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Using the client's own historical data, an AI gatekeeper maintains the structure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4160520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57200" y="3621024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3547872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50592" y="343814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3438144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Dependent on expensive cost consultants or top-down estimation models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14032" y="3438144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5C6670"/>
                </a:solidFill>
                <a:latin typeface="Calibri"/>
              </a:rPr>
              <a:t>LOW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73568" y="3511296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73568" y="3511296"/>
            <a:ext cx="292608" cy="128016"/>
          </a:xfrm>
          <a:prstGeom prst="roundRect">
            <a:avLst>
              <a:gd name="adj" fmla="val 50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450592" y="3803904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3803904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Last cost plus inflation, with no accuracy tracking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14032" y="3803904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96641A"/>
                </a:solidFill>
                <a:latin typeface="Calibri"/>
              </a:rPr>
              <a:t>MEDIUM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73568" y="3877056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973568" y="3877056"/>
            <a:ext cx="566928" cy="128016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098280" y="3438144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Item-level bottom-up cost breakdown with live index data integration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" y="4946904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7200" y="4407408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4334256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50592" y="422452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4224528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E-tender solutions are adopted, but with limited AI use in comparison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14032" y="4224528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5C6670"/>
                </a:solidFill>
                <a:latin typeface="Calibri"/>
              </a:rPr>
              <a:t>LOW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973568" y="4297680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73568" y="4297680"/>
            <a:ext cx="292608" cy="128016"/>
          </a:xfrm>
          <a:prstGeom prst="roundRect">
            <a:avLst>
              <a:gd name="adj" fmla="val 50000"/>
            </a:avLst>
          </a:prstGeom>
          <a:solidFill>
            <a:srgbClr val="98A2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50592" y="4590288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83280" y="4590288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consolidation and comparison in random Excels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114032" y="4590288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96641A"/>
                </a:solidFill>
                <a:latin typeface="Calibri"/>
              </a:rPr>
              <a:t>MEDIUM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73568" y="4663440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73568" y="4663440"/>
            <a:ext cx="566928" cy="128016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098280" y="4224528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Comparison in seconds, with an AI-based price recommendation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84048" y="5733288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57200" y="5193792"/>
            <a:ext cx="292608" cy="292608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2960" y="5120640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50592" y="501091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83280" y="5010912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PM and ERP solutions used, mostly not integrated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14032" y="5010912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96641A"/>
                </a:solidFill>
                <a:latin typeface="Calibri"/>
              </a:rPr>
              <a:t>MEDIUM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973568" y="5084064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973568" y="5084064"/>
            <a:ext cx="566928" cy="128016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50592" y="5376672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83280" y="5376672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Manual tracking in Excels and e-mails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114032" y="5376672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96641A"/>
                </a:solidFill>
                <a:latin typeface="Calibri"/>
              </a:rPr>
              <a:t>MEDIUM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973568" y="5449824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973568" y="5449824"/>
            <a:ext cx="566928" cy="128016"/>
          </a:xfrm>
          <a:prstGeom prst="roundRect">
            <a:avLst>
              <a:gd name="adj" fmla="val 50000"/>
            </a:avLst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098280" y="5010912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Predicts future delays from historical realizations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84048" y="6519672"/>
            <a:ext cx="11420856" cy="9144"/>
          </a:xfrm>
          <a:prstGeom prst="rect">
            <a:avLst/>
          </a:prstGeom>
          <a:solidFill>
            <a:srgbClr val="E3E8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57200" y="5980176"/>
            <a:ext cx="292608" cy="292608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5907024"/>
            <a:ext cx="1536192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450592" y="579729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LEADERS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83280" y="5797296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Expert-led value engineering with limited AI use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14032" y="5797296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A8392C"/>
                </a:solidFill>
                <a:latin typeface="Calibri"/>
              </a:rPr>
              <a:t>HIGH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973568" y="5870448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7973568" y="5870448"/>
            <a:ext cx="841248" cy="128016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50592" y="6163056"/>
            <a:ext cx="914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9AA3AC"/>
                </a:solidFill>
                <a:latin typeface="Calibri"/>
              </a:rPr>
              <a:t>DEVELOPING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83280" y="6163056"/>
            <a:ext cx="370332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Most value opportunities are not recognized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114032" y="6163056"/>
            <a:ext cx="7772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>
                <a:solidFill>
                  <a:srgbClr val="A8392C"/>
                </a:solidFill>
                <a:latin typeface="Calibri"/>
              </a:rPr>
              <a:t>HIGH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973568" y="6236208"/>
            <a:ext cx="914400" cy="128016"/>
          </a:xfrm>
          <a:prstGeom prst="roundRect">
            <a:avLst>
              <a:gd name="adj" fmla="val 50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973568" y="6236208"/>
            <a:ext cx="841248" cy="128016"/>
          </a:xfrm>
          <a:prstGeom prst="roundRect">
            <a:avLst>
              <a:gd name="adj" fmla="val 50000"/>
            </a:avLst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098280" y="5797296"/>
            <a:ext cx="2706624" cy="658368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>
                <a:solidFill>
                  <a:srgbClr val="0A5F59"/>
                </a:solidFill>
                <a:latin typeface="Calibri"/>
              </a:rPr>
              <a:t>Not just savings — identifies opportunities and predicts future risks and issues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The market falls into </a:t>
            </a:r>
            <a:r>
              <a:rPr sz="2500" b="1">
                <a:solidFill>
                  <a:srgbClr val="0A5F59"/>
                </a:solidFill>
                <a:latin typeface="Calibri"/>
              </a:rPr>
              <a:t>four archetypes</a:t>
            </a:r>
            <a:r>
              <a:rPr sz="2500" b="1">
                <a:solidFill>
                  <a:srgbClr val="26303A"/>
                </a:solidFill>
                <a:latin typeface="Calibri"/>
              </a:rPr>
              <a:t> — we sit deliberately between them, not at the far corner</a:t>
            </a:r>
          </a:p>
        </p:txBody>
      </p:sp>
      <p:sp>
        <p:nvSpPr>
          <p:cNvPr id="5" name="TextBox 4"/>
          <p:cNvSpPr txBox="1"/>
          <p:nvPr/>
        </p:nvSpPr>
        <p:spPr>
          <a:xfrm rot="-5400000">
            <a:off x="73152" y="1645920"/>
            <a:ext cx="32918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B7580"/>
                </a:solidFill>
                <a:latin typeface="Calibri"/>
              </a:rPr>
              <a:t>AI-NATIVE REASONING  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" y="10058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07899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specialists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one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3350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Built on models from day one, excellent at the one step they own.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Kreo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64208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Buildots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4912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Costify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85616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Zebel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4592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ConWize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Ediphi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64208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Doxel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24912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OpenSpace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5616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ALICE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46320" y="19751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BD9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0A5F59"/>
                </a:solidFill>
                <a:latin typeface="Calibri"/>
              </a:rPr>
              <a:t>nPlan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2377440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takeoff, cost classification, tendering, site progress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2615184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Each solves a slice — </a:t>
            </a:r>
            <a:r>
              <a:rPr sz="1400" b="1">
                <a:solidFill>
                  <a:srgbClr val="C0453B"/>
                </a:solidFill>
                <a:latin typeface="Calibri"/>
              </a:rPr>
              <a:t>nothing carries across a handover.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1005840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EEF8F6"/>
          </a:solidFill>
          <a:ln w="19050">
            <a:solidFill>
              <a:srgbClr val="9CCB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2" y="107899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Agentic platforms  </a:t>
            </a:r>
            <a:r>
              <a:rPr sz="1400" b="1">
                <a:solidFill>
                  <a:srgbClr val="6B7580"/>
                </a:solidFill>
                <a:latin typeface="Calibri"/>
              </a:rPr>
              <a:t>AI-native, across the lifecycle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9632" y="1371600"/>
            <a:ext cx="51206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One platform that reasons across every stage, from BoQ through to site.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06056" y="1828800"/>
            <a:ext cx="2971800" cy="420624"/>
          </a:xfrm>
          <a:prstGeom prst="roundRect">
            <a:avLst>
              <a:gd name="adj" fmla="val 8000"/>
            </a:avLst>
          </a:prstGeom>
          <a:solidFill>
            <a:srgbClr val="DCE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0A5F59"/>
                </a:solidFill>
                <a:latin typeface="Calibri"/>
              </a:rPr>
              <a:t>NO ONE IS HERE YET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9632" y="24688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5F59"/>
                </a:solidFill>
                <a:latin typeface="Calibri"/>
              </a:rPr>
              <a:t>Where the market is heading — </a:t>
            </a:r>
            <a:r>
              <a:rPr sz="1400" b="1">
                <a:solidFill>
                  <a:srgbClr val="0A5F59"/>
                </a:solidFill>
                <a:latin typeface="Calibri"/>
              </a:rPr>
              <a:t>and what Blue Currency is built for.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3913632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4" y="3986784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Point tools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one step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424281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Built around a single task and driven entirely by the operator.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Bluebeam Revu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75688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PlanSwift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547872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CostX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0056" y="455371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Candy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Sage Estimating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75688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Causeway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47872" y="4882896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Excel templates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" y="5285232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measurement, pricing, drawing markup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" y="552297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Where most of the market still sits — </a:t>
            </a:r>
            <a:r>
              <a:rPr sz="1400" b="1">
                <a:solidFill>
                  <a:srgbClr val="C0453B"/>
                </a:solidFill>
                <a:latin typeface="Calibri"/>
              </a:rPr>
              <a:t>no automation, no memory.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3913632"/>
            <a:ext cx="5440680" cy="2084831"/>
          </a:xfrm>
          <a:prstGeom prst="roundRect">
            <a:avLst>
              <a:gd name="adj" fmla="val 8000"/>
            </a:avLst>
          </a:prstGeom>
          <a:solidFill>
            <a:srgbClr val="F7F9F9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2" y="3986784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Enterprise suites  </a:t>
            </a:r>
            <a:r>
              <a:rPr sz="1400" b="1">
                <a:solidFill>
                  <a:srgbClr val="6B7580"/>
                </a:solidFill>
                <a:latin typeface="Calibri"/>
              </a:rPr>
              <a:t>Rules-based, broad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9632" y="424281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3A454F"/>
                </a:solidFill>
                <a:latin typeface="Calibri"/>
              </a:rPr>
              <a:t>Systems of record spanning stages through modules and configuration.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Oracle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70064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Procore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40496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RIB iTWO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10928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Cleopatra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81360" y="4553712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SAP Ariba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99632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Autodesk ACC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70064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InEight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540496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Trimble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0928" y="4882896"/>
            <a:ext cx="111556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3A454F"/>
                </a:solidFill>
                <a:latin typeface="Calibri"/>
              </a:rPr>
              <a:t>Jaggaer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9632" y="5285232"/>
            <a:ext cx="51206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B7580"/>
                </a:solidFill>
                <a:latin typeface="Calibri"/>
              </a:rPr>
              <a:t>Strong in  cost control, scheduling, procurement, documents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9632" y="5522976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Breadth without intelligence — </a:t>
            </a:r>
            <a:r>
              <a:rPr sz="1400" b="1">
                <a:solidFill>
                  <a:srgbClr val="C0453B"/>
                </a:solidFill>
                <a:latin typeface="Calibri"/>
              </a:rPr>
              <a:t>more features, and harder to use.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65960" y="3017520"/>
            <a:ext cx="8183879" cy="804672"/>
          </a:xfrm>
          <a:prstGeom prst="roundRect">
            <a:avLst>
              <a:gd name="adj" fmla="val 50000"/>
            </a:avLst>
          </a:prstGeom>
          <a:solidFill>
            <a:srgbClr val="0E2A3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0">
                <a:solidFill>
                  <a:srgbClr val="26303A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21408" y="3108960"/>
            <a:ext cx="21488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Blue Currency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97680" y="3182112"/>
            <a:ext cx="13716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43984" y="3127248"/>
            <a:ext cx="553212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Deliberately in the middle.  </a:t>
            </a:r>
            <a:r>
              <a:rPr sz="1400" b="0">
                <a:solidFill>
                  <a:srgbClr val="DCEDEA"/>
                </a:solidFill>
                <a:latin typeface="Calibri"/>
              </a:rPr>
              <a:t>Broader than the AI specialists, more AI-native than the enterprise suites.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5488" y="6108192"/>
            <a:ext cx="11064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1">
                <a:solidFill>
                  <a:srgbClr val="6B7580"/>
                </a:solidFill>
                <a:latin typeface="Calibri"/>
              </a:rPr>
              <a:t>BREADTH OF LIFECYCLE COVERAGE 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201168"/>
            <a:ext cx="113385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B7F77"/>
                </a:solidFill>
                <a:latin typeface="Calibri"/>
              </a:rPr>
              <a:t>BLUE CURRENCY  |  COMPETITIVE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26303A"/>
                </a:solidFill>
                <a:latin typeface="Calibri"/>
              </a:rPr>
              <a:t>Module by module, legacy suites are feature-heavy and emerging AI tools are </a:t>
            </a:r>
            <a:r>
              <a:rPr sz="2500" b="1">
                <a:solidFill>
                  <a:srgbClr val="0A5F59"/>
                </a:solidFill>
                <a:latin typeface="Calibri"/>
              </a:rPr>
              <a:t>smart but narrow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914400"/>
            <a:ext cx="58521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Box colour = how much of the module that group already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950976"/>
            <a:ext cx="237744" cy="128016"/>
          </a:xfrm>
          <a:prstGeom prst="rect">
            <a:avLst/>
          </a:prstGeom>
          <a:solidFill>
            <a:srgbClr val="CFE8D8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9340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Covers most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950976"/>
            <a:ext cx="237744" cy="128016"/>
          </a:xfrm>
          <a:prstGeom prst="rect">
            <a:avLst/>
          </a:prstGeom>
          <a:solidFill>
            <a:srgbClr val="F5E3B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072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Partial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950976"/>
            <a:ext cx="237744" cy="128016"/>
          </a:xfrm>
          <a:prstGeom prst="rect">
            <a:avLst/>
          </a:prstGeom>
          <a:solidFill>
            <a:srgbClr val="F0D4CF"/>
          </a:solidFill>
          <a:ln w="9525">
            <a:solidFill>
              <a:srgbClr val="E3E8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8048" y="89611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3A454F"/>
                </a:solidFill>
                <a:latin typeface="Calibri"/>
              </a:rPr>
              <a:t>Barely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4048" y="1170432"/>
            <a:ext cx="2697480" cy="329184"/>
          </a:xfrm>
          <a:prstGeom prst="roundRect">
            <a:avLst>
              <a:gd name="adj" fmla="val 4000"/>
            </a:avLst>
          </a:prstGeom>
          <a:solidFill>
            <a:srgbClr val="263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Module and our opportunity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1170432"/>
            <a:ext cx="4297680" cy="329184"/>
          </a:xfrm>
          <a:prstGeom prst="roundRect">
            <a:avLst>
              <a:gd name="adj" fmla="val 4000"/>
            </a:avLst>
          </a:prstGeom>
          <a:solidFill>
            <a:srgbClr val="3A4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Legacy players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25512" y="1170432"/>
            <a:ext cx="4279392" cy="329184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Emerging AI players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1554480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1645920"/>
            <a:ext cx="256032" cy="256032"/>
          </a:xfrm>
          <a:prstGeom prst="ellipse">
            <a:avLst/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627632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End to End Agentic Orchestration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93392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B9DCD8"/>
                </a:solidFill>
                <a:latin typeface="Calibri"/>
              </a:rPr>
              <a:t>ours to take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554480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F9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54680" y="1554480"/>
            <a:ext cx="54864" cy="786384"/>
          </a:xfrm>
          <a:prstGeom prst="rect">
            <a:avLst/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82696" y="1627632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82696" y="162763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1609344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Suites link stages through integration — workflow, not a model that learns.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82696" y="2048256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iTWO   ·   Oracle   ·   InEight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25512" y="1554480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F9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25512" y="1554480"/>
            <a:ext cx="54864" cy="786384"/>
          </a:xfrm>
          <a:prstGeom prst="rect">
            <a:avLst/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53528" y="1627632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53528" y="162763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7384" y="1609344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Each tool owns a single stage; nobody governs the whole lifecycle.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53528" y="2048256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Kreo   ·   Buildots   ·   ConWize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2395728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57200" y="2487168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2468880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 Generated Unified BoQ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2834640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OPEN GAP  </a:t>
            </a:r>
            <a:r>
              <a:rPr sz="1100" b="0">
                <a:solidFill>
                  <a:srgbClr val="5D8C88"/>
                </a:solidFill>
                <a:latin typeface="Calibri"/>
              </a:rPr>
              <a:t>partly served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54680" y="2395728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54680" y="2395728"/>
            <a:ext cx="54864" cy="786384"/>
          </a:xfrm>
          <a:prstGeom prst="rect">
            <a:avLst/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82696" y="2468880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82696" y="2468880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2" y="2450592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Cost structures exist, but coding items and mapping formats stays manual.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82696" y="2889504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CostX   ·   Trimble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25512" y="2395728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25512" y="2395728"/>
            <a:ext cx="54864" cy="786384"/>
          </a:xfrm>
          <a:prstGeom prst="rect">
            <a:avLst/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653528" y="2468880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53528" y="2468880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87384" y="2450592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Good at classifying documents into data; they stop short of a live BoQ.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53528" y="2889504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Costify   ·   Zebel   ·   ConWize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4048" y="3236976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57200" y="3328416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8096" y="3310128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Dynamic Bottom Up CAPEX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3675888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5C667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well served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54680" y="3236976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E9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154680" y="3236976"/>
            <a:ext cx="54864" cy="786384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3282696" y="3310128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82696" y="3310128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16552" y="3291840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Mature estimating engines, priced off libraries rather than live markets.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730752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RIB CostX   ·   Cleopatra   ·   InEight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25512" y="3236976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E9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25512" y="3236976"/>
            <a:ext cx="54864" cy="786384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7653528" y="3310128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53528" y="3310128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87384" y="3291840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Genuinely strong AI estimating, but preconstruction only.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53528" y="3730752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Zebel   ·   Kreo   ·   Ediphi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8" y="4078224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" y="4169664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8096" y="4151376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Smart Tender Bid Evaluation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7200" y="4517136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E4F1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0A5F59"/>
                </a:solidFill>
                <a:latin typeface="Calibri"/>
              </a:rPr>
              <a:t>OPEN GAP  </a:t>
            </a:r>
            <a:r>
              <a:rPr sz="1100" b="0">
                <a:solidFill>
                  <a:srgbClr val="5D8C88"/>
                </a:solidFill>
                <a:latin typeface="Calibri"/>
              </a:rPr>
              <a:t>partly served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54680" y="4078224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54680" y="4078224"/>
            <a:ext cx="54864" cy="786384"/>
          </a:xfrm>
          <a:prstGeom prst="rect">
            <a:avLst/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282696" y="4151376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282696" y="4151376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16552" y="4133088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Sourcing workflow is solved; leveling construction BoQs is not.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82696" y="4572000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SAP Ariba   ·   Jaggaer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525512" y="4078224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E9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5512" y="4078224"/>
            <a:ext cx="54864" cy="786384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653528" y="4151376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53528" y="4151376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87384" y="4133088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Real line-by-line bid comparison exists — and it ends at the tender.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53528" y="4572000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ConWize   ·   Zebel   ·   Ediphi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84048" y="4919472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57200" y="5010912"/>
            <a:ext cx="256032" cy="256032"/>
          </a:xfrm>
          <a:prstGeom prst="ellipse">
            <a:avLst/>
          </a:prstGeom>
          <a:solidFill>
            <a:srgbClr val="0B7F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8096" y="4992624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Agentic Cost Realization Tracking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7200" y="5358384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5C6670"/>
                </a:solidFill>
                <a:latin typeface="Calibri"/>
              </a:rPr>
              <a:t>CROWDED  </a:t>
            </a:r>
            <a:r>
              <a:rPr sz="1100" b="0">
                <a:solidFill>
                  <a:srgbClr val="9AA3AC"/>
                </a:solidFill>
                <a:latin typeface="Calibri"/>
              </a:rPr>
              <a:t>well served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154680" y="4919472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E9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54680" y="4919472"/>
            <a:ext cx="54864" cy="786384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82696" y="4992624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82696" y="4992624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16552" y="4974336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Entrenched systems of record, still fed by manual site reporting.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282696" y="5413248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Procore   ·   Oracle Primavera   ·   Autodesk ACC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25512" y="4919472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E9F4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525512" y="4919472"/>
            <a:ext cx="54864" cy="786384"/>
          </a:xfrm>
          <a:prstGeom prst="rect">
            <a:avLst/>
          </a:prstGeom>
          <a:solidFill>
            <a:srgbClr val="2E9E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653528" y="4992624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CF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53528" y="4992624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1E6B3D"/>
                </a:solidFill>
                <a:latin typeface="Calibri"/>
              </a:rPr>
              <a:t>COVERS MOST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787384" y="4974336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Best-in-class AI progress capture, with no link to procurement.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53528" y="5413248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Buildots   ·   Doxel   ·   OpenSpace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84048" y="5760720"/>
            <a:ext cx="2697480" cy="786384"/>
          </a:xfrm>
          <a:prstGeom prst="roundRect">
            <a:avLst>
              <a:gd name="adj" fmla="val 4000"/>
            </a:avLst>
          </a:prstGeom>
          <a:solidFill>
            <a:srgbClr val="EDF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57200" y="5852160"/>
            <a:ext cx="256032" cy="256032"/>
          </a:xfrm>
          <a:prstGeom prst="ellipse">
            <a:avLst/>
          </a:prstGeom>
          <a:solidFill>
            <a:srgbClr val="B9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68096" y="5833872"/>
            <a:ext cx="224028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26303A"/>
                </a:solidFill>
                <a:latin typeface="Calibri"/>
              </a:rPr>
              <a:t>AI-Based Value Optimizer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6199632"/>
            <a:ext cx="2523744" cy="274320"/>
          </a:xfrm>
          <a:prstGeom prst="roundRect">
            <a:avLst>
              <a:gd name="adj" fmla="val 4000"/>
            </a:avLst>
          </a:prstGeom>
          <a:solidFill>
            <a:srgbClr val="0A5F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/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WHITE SPACE  </a:t>
            </a:r>
            <a:r>
              <a:rPr sz="1100" b="0">
                <a:solidFill>
                  <a:srgbClr val="B9DCD8"/>
                </a:solidFill>
                <a:latin typeface="Calibri"/>
              </a:rPr>
              <a:t>ours to take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154680" y="5760720"/>
            <a:ext cx="4297680" cy="786384"/>
          </a:xfrm>
          <a:prstGeom prst="roundRect">
            <a:avLst>
              <a:gd name="adj" fmla="val 4000"/>
            </a:avLst>
          </a:prstGeom>
          <a:solidFill>
            <a:srgbClr val="F9EA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154680" y="5760720"/>
            <a:ext cx="54864" cy="786384"/>
          </a:xfrm>
          <a:prstGeom prst="rect">
            <a:avLst/>
          </a:prstGeom>
          <a:solidFill>
            <a:srgbClr val="C045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3282696" y="5833872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0D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82696" y="583387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9B3328"/>
                </a:solidFill>
                <a:latin typeface="Calibri"/>
              </a:rPr>
              <a:t>BARELY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16552" y="5815584"/>
            <a:ext cx="292608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Static what-if analysis at gates; no continuous savings loop anywhere.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282696" y="6254496"/>
            <a:ext cx="4041648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Cleopatra   ·   RIB iTWO   ·   Oracle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7525512" y="5760720"/>
            <a:ext cx="4279392" cy="786384"/>
          </a:xfrm>
          <a:prstGeom prst="roundRect">
            <a:avLst>
              <a:gd name="adj" fmla="val 4000"/>
            </a:avLst>
          </a:prstGeom>
          <a:solidFill>
            <a:srgbClr val="FBF3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525512" y="5760720"/>
            <a:ext cx="54864" cy="786384"/>
          </a:xfrm>
          <a:prstGeom prst="rect">
            <a:avLst/>
          </a:prstGeom>
          <a:solidFill>
            <a:srgbClr val="D99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7653528" y="5833872"/>
            <a:ext cx="1078992" cy="219456"/>
          </a:xfrm>
          <a:prstGeom prst="roundRect">
            <a:avLst>
              <a:gd name="adj" fmla="val 4000"/>
            </a:avLst>
          </a:prstGeom>
          <a:solidFill>
            <a:srgbClr val="F5E3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653528" y="5833872"/>
            <a:ext cx="107899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1">
                <a:solidFill>
                  <a:srgbClr val="8A5B14"/>
                </a:solidFill>
                <a:latin typeface="Calibri"/>
              </a:rPr>
              <a:t>PARTIAL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787384" y="5815584"/>
            <a:ext cx="290779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26303A"/>
                </a:solidFill>
                <a:latin typeface="Calibri"/>
              </a:rPr>
              <a:t>Optimization exists for schedule; cost value is left untouched.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653528" y="6254496"/>
            <a:ext cx="402336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3A454F"/>
                </a:solidFill>
                <a:latin typeface="Calibri"/>
              </a:rPr>
              <a:t>ALICE Technologies   ·   nPlan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